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0" r:id="rId2"/>
    <p:sldId id="257" r:id="rId3"/>
    <p:sldId id="309" r:id="rId4"/>
    <p:sldId id="259" r:id="rId5"/>
    <p:sldId id="261" r:id="rId6"/>
    <p:sldId id="263" r:id="rId7"/>
    <p:sldId id="314" r:id="rId8"/>
    <p:sldId id="315" r:id="rId9"/>
    <p:sldId id="329" r:id="rId10"/>
    <p:sldId id="330" r:id="rId11"/>
    <p:sldId id="331" r:id="rId12"/>
    <p:sldId id="332" r:id="rId13"/>
    <p:sldId id="273" r:id="rId14"/>
    <p:sldId id="274" r:id="rId15"/>
    <p:sldId id="275" r:id="rId16"/>
    <p:sldId id="321" r:id="rId17"/>
    <p:sldId id="322" r:id="rId18"/>
    <p:sldId id="323" r:id="rId19"/>
    <p:sldId id="324" r:id="rId20"/>
    <p:sldId id="325" r:id="rId21"/>
    <p:sldId id="326" r:id="rId22"/>
    <p:sldId id="327" r:id="rId23"/>
    <p:sldId id="328" r:id="rId24"/>
    <p:sldId id="276" r:id="rId25"/>
    <p:sldId id="30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0070C0"/>
    <a:srgbClr val="8FAADC"/>
    <a:srgbClr val="4472C4"/>
    <a:srgbClr val="C55A11"/>
    <a:srgbClr val="FB955D"/>
    <a:srgbClr val="BFBFBF"/>
    <a:srgbClr val="616161"/>
    <a:srgbClr val="F4B183"/>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70" d="100"/>
          <a:sy n="70" d="100"/>
        </p:scale>
        <p:origin x="40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10601-DE35-4F8E-A837-3CAA390394A5}" type="datetimeFigureOut">
              <a:rPr lang="en-US" smtClean="0"/>
              <a:t>4/17/2026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46FEDC-99D0-404E-AC19-D41B80340565}" type="slidenum">
              <a:rPr lang="en-US" smtClean="0"/>
              <a:t>‹N°›</a:t>
            </a:fld>
            <a:endParaRPr lang="en-US" dirty="0"/>
          </a:p>
        </p:txBody>
      </p:sp>
    </p:spTree>
    <p:extLst>
      <p:ext uri="{BB962C8B-B14F-4D97-AF65-F5344CB8AC3E}">
        <p14:creationId xmlns:p14="http://schemas.microsoft.com/office/powerpoint/2010/main" val="3644188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46FEDC-99D0-404E-AC19-D41B80340565}" type="slidenum">
              <a:rPr lang="en-US" smtClean="0"/>
              <a:t>2</a:t>
            </a:fld>
            <a:endParaRPr lang="en-US"/>
          </a:p>
        </p:txBody>
      </p:sp>
    </p:spTree>
    <p:extLst>
      <p:ext uri="{BB962C8B-B14F-4D97-AF65-F5344CB8AC3E}">
        <p14:creationId xmlns:p14="http://schemas.microsoft.com/office/powerpoint/2010/main" val="3487294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0D80-14E3-0ECB-CE58-5D4B64F51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AB669-1DD8-0A88-48C0-670A0BFA2E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F8CEB1-C219-C893-CEE6-282EC89B14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BF4398-DB1A-03B9-3ADA-7259230D46EA}"/>
              </a:ext>
            </a:extLst>
          </p:cNvPr>
          <p:cNvSpPr>
            <a:spLocks noGrp="1"/>
          </p:cNvSpPr>
          <p:nvPr>
            <p:ph type="sldNum" sz="quarter" idx="5"/>
          </p:nvPr>
        </p:nvSpPr>
        <p:spPr/>
        <p:txBody>
          <a:bodyPr/>
          <a:lstStyle/>
          <a:p>
            <a:fld id="{A146FEDC-99D0-404E-AC19-D41B80340565}" type="slidenum">
              <a:rPr lang="en-US" smtClean="0"/>
              <a:t>3</a:t>
            </a:fld>
            <a:endParaRPr lang="en-US"/>
          </a:p>
        </p:txBody>
      </p:sp>
    </p:spTree>
    <p:extLst>
      <p:ext uri="{BB962C8B-B14F-4D97-AF65-F5344CB8AC3E}">
        <p14:creationId xmlns:p14="http://schemas.microsoft.com/office/powerpoint/2010/main" val="1873364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53221-B7BC-BC25-E852-A23AAE2A0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51D58-3820-5040-98F4-1558CCFB0CC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857701-F357-3271-C801-E3B22B91E3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55EF1B-3D30-5039-2008-8ECDE49D1EBE}"/>
              </a:ext>
            </a:extLst>
          </p:cNvPr>
          <p:cNvSpPr>
            <a:spLocks noGrp="1"/>
          </p:cNvSpPr>
          <p:nvPr>
            <p:ph type="sldNum" sz="quarter" idx="5"/>
          </p:nvPr>
        </p:nvSpPr>
        <p:spPr/>
        <p:txBody>
          <a:bodyPr/>
          <a:lstStyle/>
          <a:p>
            <a:fld id="{A146FEDC-99D0-404E-AC19-D41B80340565}" type="slidenum">
              <a:rPr lang="en-US" smtClean="0"/>
              <a:t>4</a:t>
            </a:fld>
            <a:endParaRPr lang="en-US"/>
          </a:p>
        </p:txBody>
      </p:sp>
    </p:spTree>
    <p:extLst>
      <p:ext uri="{BB962C8B-B14F-4D97-AF65-F5344CB8AC3E}">
        <p14:creationId xmlns:p14="http://schemas.microsoft.com/office/powerpoint/2010/main" val="225998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3C80F-6D12-1560-44E4-1D5ECA04C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12B77-2BE6-40E5-36FB-6C0DC0BB2C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587A65-81C0-4E94-BB10-461A29F086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2A8B6-CA48-C575-EEF7-D615CA54FDDD}"/>
              </a:ext>
            </a:extLst>
          </p:cNvPr>
          <p:cNvSpPr>
            <a:spLocks noGrp="1"/>
          </p:cNvSpPr>
          <p:nvPr>
            <p:ph type="sldNum" sz="quarter" idx="5"/>
          </p:nvPr>
        </p:nvSpPr>
        <p:spPr/>
        <p:txBody>
          <a:bodyPr/>
          <a:lstStyle/>
          <a:p>
            <a:fld id="{A146FEDC-99D0-404E-AC19-D41B80340565}" type="slidenum">
              <a:rPr lang="en-US" smtClean="0"/>
              <a:t>5</a:t>
            </a:fld>
            <a:endParaRPr lang="en-US"/>
          </a:p>
        </p:txBody>
      </p:sp>
    </p:spTree>
    <p:extLst>
      <p:ext uri="{BB962C8B-B14F-4D97-AF65-F5344CB8AC3E}">
        <p14:creationId xmlns:p14="http://schemas.microsoft.com/office/powerpoint/2010/main" val="961630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46FEDC-99D0-404E-AC19-D41B80340565}" type="slidenum">
              <a:rPr lang="en-US" smtClean="0"/>
              <a:t>6</a:t>
            </a:fld>
            <a:endParaRPr lang="en-US"/>
          </a:p>
        </p:txBody>
      </p:sp>
    </p:spTree>
    <p:extLst>
      <p:ext uri="{BB962C8B-B14F-4D97-AF65-F5344CB8AC3E}">
        <p14:creationId xmlns:p14="http://schemas.microsoft.com/office/powerpoint/2010/main" val="2573639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E16F2-6F7C-0636-D6D3-E78B7CF48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5281B-7111-A72A-B421-90556745C8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7957CC-0422-51DA-3A8A-E286961DCD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2D4200-A5F0-7435-D45A-E42061698A12}"/>
              </a:ext>
            </a:extLst>
          </p:cNvPr>
          <p:cNvSpPr>
            <a:spLocks noGrp="1"/>
          </p:cNvSpPr>
          <p:nvPr>
            <p:ph type="sldNum" sz="quarter" idx="5"/>
          </p:nvPr>
        </p:nvSpPr>
        <p:spPr/>
        <p:txBody>
          <a:bodyPr/>
          <a:lstStyle/>
          <a:p>
            <a:fld id="{A146FEDC-99D0-404E-AC19-D41B80340565}" type="slidenum">
              <a:rPr lang="en-US" smtClean="0"/>
              <a:t>7</a:t>
            </a:fld>
            <a:endParaRPr lang="en-US"/>
          </a:p>
        </p:txBody>
      </p:sp>
    </p:spTree>
    <p:extLst>
      <p:ext uri="{BB962C8B-B14F-4D97-AF65-F5344CB8AC3E}">
        <p14:creationId xmlns:p14="http://schemas.microsoft.com/office/powerpoint/2010/main" val="1281431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107BC-3A94-F451-F4CB-A0231C3AB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CC97E-B166-3DF0-16C2-8884EF63F3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E7D82C-7DA4-84D6-256B-760FADEA61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849A74-4DA2-E822-F880-6FEE76B3254C}"/>
              </a:ext>
            </a:extLst>
          </p:cNvPr>
          <p:cNvSpPr>
            <a:spLocks noGrp="1"/>
          </p:cNvSpPr>
          <p:nvPr>
            <p:ph type="sldNum" sz="quarter" idx="5"/>
          </p:nvPr>
        </p:nvSpPr>
        <p:spPr/>
        <p:txBody>
          <a:bodyPr/>
          <a:lstStyle/>
          <a:p>
            <a:fld id="{A146FEDC-99D0-404E-AC19-D41B80340565}" type="slidenum">
              <a:rPr lang="en-US" smtClean="0"/>
              <a:t>8</a:t>
            </a:fld>
            <a:endParaRPr lang="en-US"/>
          </a:p>
        </p:txBody>
      </p:sp>
    </p:spTree>
    <p:extLst>
      <p:ext uri="{BB962C8B-B14F-4D97-AF65-F5344CB8AC3E}">
        <p14:creationId xmlns:p14="http://schemas.microsoft.com/office/powerpoint/2010/main" val="2212433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46FEDC-99D0-404E-AC19-D41B80340565}" type="slidenum">
              <a:rPr lang="en-US" smtClean="0"/>
              <a:t>15</a:t>
            </a:fld>
            <a:endParaRPr lang="en-US"/>
          </a:p>
        </p:txBody>
      </p:sp>
    </p:spTree>
    <p:extLst>
      <p:ext uri="{BB962C8B-B14F-4D97-AF65-F5344CB8AC3E}">
        <p14:creationId xmlns:p14="http://schemas.microsoft.com/office/powerpoint/2010/main" val="1420994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2DBE-DA05-7DC8-A112-E78BF9B94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D793-C241-5726-F4C9-25124FDDEB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1B1B6D-E421-9E4E-1D30-7A81FE644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686ADA-0F3F-E112-7854-E53234B8F928}"/>
              </a:ext>
            </a:extLst>
          </p:cNvPr>
          <p:cNvSpPr>
            <a:spLocks noGrp="1"/>
          </p:cNvSpPr>
          <p:nvPr>
            <p:ph type="sldNum" sz="quarter" idx="5"/>
          </p:nvPr>
        </p:nvSpPr>
        <p:spPr/>
        <p:txBody>
          <a:bodyPr/>
          <a:lstStyle/>
          <a:p>
            <a:fld id="{A146FEDC-99D0-404E-AC19-D41B80340565}" type="slidenum">
              <a:rPr lang="en-US" smtClean="0"/>
              <a:t>19</a:t>
            </a:fld>
            <a:endParaRPr lang="en-US"/>
          </a:p>
        </p:txBody>
      </p:sp>
    </p:spTree>
    <p:extLst>
      <p:ext uri="{BB962C8B-B14F-4D97-AF65-F5344CB8AC3E}">
        <p14:creationId xmlns:p14="http://schemas.microsoft.com/office/powerpoint/2010/main" val="1566149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46FEDC-99D0-404E-AC19-D41B80340565}" type="slidenum">
              <a:rPr lang="en-US" smtClean="0"/>
              <a:t>23</a:t>
            </a:fld>
            <a:endParaRPr lang="en-US"/>
          </a:p>
        </p:txBody>
      </p:sp>
    </p:spTree>
    <p:extLst>
      <p:ext uri="{BB962C8B-B14F-4D97-AF65-F5344CB8AC3E}">
        <p14:creationId xmlns:p14="http://schemas.microsoft.com/office/powerpoint/2010/main" val="3812822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79064-EA23-70F2-ED89-0EB6DFCA7C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02CAD9-138E-FA35-2B03-29F9F520D6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9CB454-589F-2BF1-5CF0-3D4D989BAA2B}"/>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5" name="Footer Placeholder 4">
            <a:extLst>
              <a:ext uri="{FF2B5EF4-FFF2-40B4-BE49-F238E27FC236}">
                <a16:creationId xmlns:a16="http://schemas.microsoft.com/office/drawing/2014/main" id="{12D9BAD0-8376-B8BF-3B19-F50343943B7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BB38B7-2803-2473-1909-9C88EC0D1CD5}"/>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4131475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F643-5739-8820-C11B-3A94C6CE09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855962-E2FD-B091-B86C-F5C5F14E6A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F4D4BA-87DA-0714-9879-418FE09C87A0}"/>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5" name="Footer Placeholder 4">
            <a:extLst>
              <a:ext uri="{FF2B5EF4-FFF2-40B4-BE49-F238E27FC236}">
                <a16:creationId xmlns:a16="http://schemas.microsoft.com/office/drawing/2014/main" id="{87102280-331B-A64F-E802-2440D5A560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AD4E81A-55C2-06F3-2B74-8086E6BD4CC1}"/>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1618786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5E81-416F-A6B1-602E-957EA4E0F4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1B1250-047C-A6A0-1D1D-D36355FB0E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9FCD4-4745-8A32-8212-0FE36AF9995F}"/>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5" name="Footer Placeholder 4">
            <a:extLst>
              <a:ext uri="{FF2B5EF4-FFF2-40B4-BE49-F238E27FC236}">
                <a16:creationId xmlns:a16="http://schemas.microsoft.com/office/drawing/2014/main" id="{56C10ECF-93D8-342A-68CC-E6654906F8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10CED4-43E6-8D5D-D728-A9D828542349}"/>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2670714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B5ADC-039F-A706-3F9E-AF1C5E871F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E6E46F-832B-D313-202B-C9A65FA707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7662CB-D7B2-80AD-444F-4ED6301786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D53EE4-7E9E-2EA7-59A7-5D534EB680B9}"/>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6" name="Footer Placeholder 5">
            <a:extLst>
              <a:ext uri="{FF2B5EF4-FFF2-40B4-BE49-F238E27FC236}">
                <a16:creationId xmlns:a16="http://schemas.microsoft.com/office/drawing/2014/main" id="{54D6DA1D-90AE-5CD2-113B-093816CC19A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E60E6DD-40C4-835C-422F-A0BAEBFC1B25}"/>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1388945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72E05-C1B1-B34F-70CD-5F7A61EAF8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9BB4D7-3627-65B1-5C50-CDF2D91BAD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EA256F-8FBF-1A6B-6556-4CCA2A5A41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880B44-0DCE-4ED0-3E56-960D880440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01D388-9A32-2586-FFEB-8DE6622E6E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C23D67-65C9-5109-D2DC-D691EFD0EBB7}"/>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8" name="Footer Placeholder 7">
            <a:extLst>
              <a:ext uri="{FF2B5EF4-FFF2-40B4-BE49-F238E27FC236}">
                <a16:creationId xmlns:a16="http://schemas.microsoft.com/office/drawing/2014/main" id="{CCA5602D-9A30-2D18-FF81-2F6174F2937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A79E020-41EE-FC50-A82B-B20955C7F8DA}"/>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339305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60109-0043-F5BF-3140-B3C7C96DCF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EC404E-54B0-4BB0-6385-04D598D21DC6}"/>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4" name="Footer Placeholder 3">
            <a:extLst>
              <a:ext uri="{FF2B5EF4-FFF2-40B4-BE49-F238E27FC236}">
                <a16:creationId xmlns:a16="http://schemas.microsoft.com/office/drawing/2014/main" id="{0F8BDC72-152A-269A-1323-8A80D4BB1B7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1ACBABE-48D6-D797-76B2-FF059F22D956}"/>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13134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41DAC3-0963-A522-53E2-FA93814A1B99}"/>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3" name="Footer Placeholder 2">
            <a:extLst>
              <a:ext uri="{FF2B5EF4-FFF2-40B4-BE49-F238E27FC236}">
                <a16:creationId xmlns:a16="http://schemas.microsoft.com/office/drawing/2014/main" id="{E2D21D95-AE17-DCA5-4632-D7C099EC186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38CDD18-88CC-93DF-6D8E-79B482265344}"/>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1450635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DDF84-1006-10B7-AC33-43C71C83FF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3E8FFE-5EAD-F33B-FA0E-60BA52B285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02058D-D070-7EFC-694C-C286AF9BF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30666-42EF-DE2D-0D52-490454DFE7D9}"/>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6" name="Footer Placeholder 5">
            <a:extLst>
              <a:ext uri="{FF2B5EF4-FFF2-40B4-BE49-F238E27FC236}">
                <a16:creationId xmlns:a16="http://schemas.microsoft.com/office/drawing/2014/main" id="{0B311392-843B-FB9C-386B-FF7EDFCA0C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12575E-9A18-8138-21E8-A08E8961D084}"/>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993231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913D-A6DA-F95D-22E0-33AD1DC4C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46249-9273-521E-1E96-A993787E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531C6ED-73A4-C086-FC15-604576E803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9CD0FB-ED82-B560-F300-0CCCAA4E4FBB}"/>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6" name="Footer Placeholder 5">
            <a:extLst>
              <a:ext uri="{FF2B5EF4-FFF2-40B4-BE49-F238E27FC236}">
                <a16:creationId xmlns:a16="http://schemas.microsoft.com/office/drawing/2014/main" id="{FC6E347D-4481-6570-B32F-8333732C82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5AE9DAF-E203-D2D6-12D6-A21F8EEC0EBC}"/>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201041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5E8A9-C854-5446-0A16-F1082780A3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EE8870-D9E3-D7B8-EF25-71546EFDEF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AC2A42-74F3-368E-DDDA-9B2CED308FC6}"/>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5" name="Footer Placeholder 4">
            <a:extLst>
              <a:ext uri="{FF2B5EF4-FFF2-40B4-BE49-F238E27FC236}">
                <a16:creationId xmlns:a16="http://schemas.microsoft.com/office/drawing/2014/main" id="{B7BE88BF-223F-94AE-455B-485639B8A75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F532BFC-A60F-E3F5-8AB9-7B75ABDFF23D}"/>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39929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210B1E-9EA2-9B25-A69D-6B6FF057F7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B77148-3E96-D169-5A18-8A2E780364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AF486B-05A7-6D87-3F6C-88BF0635EB3D}"/>
              </a:ext>
            </a:extLst>
          </p:cNvPr>
          <p:cNvSpPr>
            <a:spLocks noGrp="1"/>
          </p:cNvSpPr>
          <p:nvPr>
            <p:ph type="dt" sz="half" idx="10"/>
          </p:nvPr>
        </p:nvSpPr>
        <p:spPr/>
        <p:txBody>
          <a:bodyPr/>
          <a:lstStyle/>
          <a:p>
            <a:fld id="{DE553B1F-7857-47A1-A156-95509661E6E2}" type="datetimeFigureOut">
              <a:rPr lang="en-US" smtClean="0"/>
              <a:t>4/17/2026</a:t>
            </a:fld>
            <a:endParaRPr lang="en-US" dirty="0"/>
          </a:p>
        </p:txBody>
      </p:sp>
      <p:sp>
        <p:nvSpPr>
          <p:cNvPr id="5" name="Footer Placeholder 4">
            <a:extLst>
              <a:ext uri="{FF2B5EF4-FFF2-40B4-BE49-F238E27FC236}">
                <a16:creationId xmlns:a16="http://schemas.microsoft.com/office/drawing/2014/main" id="{8488C65F-6C4E-86D6-A3F5-88FD86DB448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85CB2D-D950-9DDC-6C25-BBC65F4C191E}"/>
              </a:ext>
            </a:extLst>
          </p:cNvPr>
          <p:cNvSpPr>
            <a:spLocks noGrp="1"/>
          </p:cNvSpPr>
          <p:nvPr>
            <p:ph type="sldNum" sz="quarter" idx="12"/>
          </p:nvPr>
        </p:nvSpPr>
        <p:spPr/>
        <p:txBody>
          <a:bodyPr/>
          <a:lstStyle/>
          <a:p>
            <a:fld id="{06410314-30C8-49B5-8210-B391B49CDE71}" type="slidenum">
              <a:rPr lang="en-US" smtClean="0"/>
              <a:t>‹N°›</a:t>
            </a:fld>
            <a:endParaRPr lang="en-US" dirty="0"/>
          </a:p>
        </p:txBody>
      </p:sp>
    </p:spTree>
    <p:extLst>
      <p:ext uri="{BB962C8B-B14F-4D97-AF65-F5344CB8AC3E}">
        <p14:creationId xmlns:p14="http://schemas.microsoft.com/office/powerpoint/2010/main" val="224224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8CA43-6F14-DB2E-FABC-5C482081B3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A1BABE-9760-2EED-E5E9-9D91963A30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53ABB9-9F0E-9992-400C-04AC04A523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553B1F-7857-47A1-A156-95509661E6E2}" type="datetimeFigureOut">
              <a:rPr lang="en-US" smtClean="0"/>
              <a:t>4/17/2026</a:t>
            </a:fld>
            <a:endParaRPr lang="en-US" dirty="0"/>
          </a:p>
        </p:txBody>
      </p:sp>
      <p:sp>
        <p:nvSpPr>
          <p:cNvPr id="5" name="Footer Placeholder 4">
            <a:extLst>
              <a:ext uri="{FF2B5EF4-FFF2-40B4-BE49-F238E27FC236}">
                <a16:creationId xmlns:a16="http://schemas.microsoft.com/office/drawing/2014/main" id="{407FCB1A-AB51-60F9-45DB-310A38473C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062DEBC-49DE-0DAF-2B30-CF9097391A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410314-30C8-49B5-8210-B391B49CDE71}" type="slidenum">
              <a:rPr lang="en-US" smtClean="0"/>
              <a:t>‹N°›</a:t>
            </a:fld>
            <a:endParaRPr lang="en-US" dirty="0"/>
          </a:p>
        </p:txBody>
      </p:sp>
    </p:spTree>
    <p:extLst>
      <p:ext uri="{BB962C8B-B14F-4D97-AF65-F5344CB8AC3E}">
        <p14:creationId xmlns:p14="http://schemas.microsoft.com/office/powerpoint/2010/main" val="4072844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7.png"/><Relationship Id="rId5" Type="http://schemas.openxmlformats.org/officeDocument/2006/relationships/image" Target="../media/image12.png"/><Relationship Id="rId10" Type="http://schemas.microsoft.com/office/2007/relationships/hdphoto" Target="../media/hdphoto1.wdp"/><Relationship Id="rId4" Type="http://schemas.openxmlformats.org/officeDocument/2006/relationships/image" Target="../media/image9.png"/><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6.png"/><Relationship Id="rId10" Type="http://schemas.microsoft.com/office/2007/relationships/hdphoto" Target="../media/hdphoto2.wdp"/><Relationship Id="rId4" Type="http://schemas.openxmlformats.org/officeDocument/2006/relationships/image" Target="../media/image15.png"/><Relationship Id="rId9"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microsoft.com/office/2007/relationships/hdphoto" Target="../media/hdphoto1.wdp"/><Relationship Id="rId4" Type="http://schemas.openxmlformats.org/officeDocument/2006/relationships/image" Target="../media/image16.png"/><Relationship Id="rId9" Type="http://schemas.microsoft.com/office/2007/relationships/hdphoto" Target="../media/hdphoto2.wdp"/></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microsoft.com/office/2007/relationships/hdphoto" Target="../media/hdphoto1.wdp"/><Relationship Id="rId4" Type="http://schemas.openxmlformats.org/officeDocument/2006/relationships/image" Target="../media/image16.png"/><Relationship Id="rId9" Type="http://schemas.microsoft.com/office/2007/relationships/hdphoto" Target="../media/hdphoto2.wdp"/></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9.png"/><Relationship Id="rId7"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4.png"/><Relationship Id="rId5" Type="http://schemas.microsoft.com/office/2007/relationships/hdphoto" Target="../media/hdphoto2.wdp"/><Relationship Id="rId4" Type="http://schemas.openxmlformats.org/officeDocument/2006/relationships/image" Target="../media/image20.png"/><Relationship Id="rId9" Type="http://schemas.microsoft.com/office/2007/relationships/hdphoto" Target="../media/hdphoto3.wdp"/></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8.png"/><Relationship Id="rId7" Type="http://schemas.openxmlformats.org/officeDocument/2006/relationships/image" Target="../media/image14.png"/><Relationship Id="rId12"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22.png"/><Relationship Id="rId5" Type="http://schemas.openxmlformats.org/officeDocument/2006/relationships/image" Target="../media/image20.png"/><Relationship Id="rId10" Type="http://schemas.microsoft.com/office/2007/relationships/hdphoto" Target="../media/hdphoto3.wdp"/><Relationship Id="rId4" Type="http://schemas.openxmlformats.org/officeDocument/2006/relationships/image" Target="../media/image19.png"/><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15.png"/><Relationship Id="rId9"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4.png"/><Relationship Id="rId7"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4.png"/><Relationship Id="rId7"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3.png"/><Relationship Id="rId7" Type="http://schemas.microsoft.com/office/2007/relationships/hdphoto" Target="../media/hdphoto3.wdp"/><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7.png"/><Relationship Id="rId5" Type="http://schemas.openxmlformats.org/officeDocument/2006/relationships/image" Target="../media/image15.png"/><Relationship Id="rId10" Type="http://schemas.openxmlformats.org/officeDocument/2006/relationships/image" Target="../media/image26.png"/><Relationship Id="rId4" Type="http://schemas.openxmlformats.org/officeDocument/2006/relationships/image" Target="../media/image14.png"/><Relationship Id="rId9"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130F176C-CF62-20D0-13C9-8FCC80E60E25}"/>
              </a:ext>
            </a:extLst>
          </p:cNvPr>
          <p:cNvGrpSpPr/>
          <p:nvPr/>
        </p:nvGrpSpPr>
        <p:grpSpPr>
          <a:xfrm>
            <a:off x="-627888" y="4415892"/>
            <a:ext cx="2663952" cy="3200136"/>
            <a:chOff x="9838944" y="868680"/>
            <a:chExt cx="2663952" cy="3200136"/>
          </a:xfrm>
          <a:gradFill>
            <a:gsLst>
              <a:gs pos="0">
                <a:schemeClr val="accent1">
                  <a:lumMod val="20000"/>
                  <a:lumOff val="80000"/>
                </a:schemeClr>
              </a:gs>
              <a:gs pos="100000">
                <a:srgbClr val="0070C0"/>
              </a:gs>
            </a:gsLst>
            <a:lin ang="5400000" scaled="1"/>
          </a:gradFill>
        </p:grpSpPr>
        <p:sp>
          <p:nvSpPr>
            <p:cNvPr id="46" name="Hexagon 45">
              <a:extLst>
                <a:ext uri="{FF2B5EF4-FFF2-40B4-BE49-F238E27FC236}">
                  <a16:creationId xmlns:a16="http://schemas.microsoft.com/office/drawing/2014/main" id="{6B451D05-BAA4-3E5B-94F3-6A83B7AC563C}"/>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7" name="Hexagon 46">
              <a:extLst>
                <a:ext uri="{FF2B5EF4-FFF2-40B4-BE49-F238E27FC236}">
                  <a16:creationId xmlns:a16="http://schemas.microsoft.com/office/drawing/2014/main" id="{1955F2A8-0E73-ED12-6E59-58769449F3FD}"/>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8" name="Hexagon 47">
              <a:extLst>
                <a:ext uri="{FF2B5EF4-FFF2-40B4-BE49-F238E27FC236}">
                  <a16:creationId xmlns:a16="http://schemas.microsoft.com/office/drawing/2014/main" id="{88553B95-4023-A6A7-DB62-F600FDD019B6}"/>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9" name="Hexagon 48">
              <a:extLst>
                <a:ext uri="{FF2B5EF4-FFF2-40B4-BE49-F238E27FC236}">
                  <a16:creationId xmlns:a16="http://schemas.microsoft.com/office/drawing/2014/main" id="{3DF6974A-9CA2-5C32-E9A2-B3D8C53FB713}"/>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0" name="Hexagon 49">
              <a:extLst>
                <a:ext uri="{FF2B5EF4-FFF2-40B4-BE49-F238E27FC236}">
                  <a16:creationId xmlns:a16="http://schemas.microsoft.com/office/drawing/2014/main" id="{FD7AFD12-A13E-66F6-5029-CE2EF7CC0AC2}"/>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1" name="Hexagon 50">
              <a:extLst>
                <a:ext uri="{FF2B5EF4-FFF2-40B4-BE49-F238E27FC236}">
                  <a16:creationId xmlns:a16="http://schemas.microsoft.com/office/drawing/2014/main" id="{DF80F5D7-C5B6-A5A6-5AED-DA265AF874C5}"/>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60" name="Group 59">
            <a:extLst>
              <a:ext uri="{FF2B5EF4-FFF2-40B4-BE49-F238E27FC236}">
                <a16:creationId xmlns:a16="http://schemas.microsoft.com/office/drawing/2014/main" id="{4A978E52-B101-DF76-9BE8-917FC980BCE7}"/>
              </a:ext>
            </a:extLst>
          </p:cNvPr>
          <p:cNvGrpSpPr/>
          <p:nvPr/>
        </p:nvGrpSpPr>
        <p:grpSpPr>
          <a:xfrm>
            <a:off x="6635496" y="-550584"/>
            <a:ext cx="7635240" cy="7466544"/>
            <a:chOff x="6626352" y="-550584"/>
            <a:chExt cx="7635240" cy="7466544"/>
          </a:xfrm>
          <a:blipFill dpi="0" rotWithShape="1">
            <a:blip r:embed="rId2"/>
            <a:srcRect/>
            <a:stretch>
              <a:fillRect/>
            </a:stretch>
          </a:blipFill>
        </p:grpSpPr>
        <p:grpSp>
          <p:nvGrpSpPr>
            <p:cNvPr id="9" name="Group 8">
              <a:extLst>
                <a:ext uri="{FF2B5EF4-FFF2-40B4-BE49-F238E27FC236}">
                  <a16:creationId xmlns:a16="http://schemas.microsoft.com/office/drawing/2014/main" id="{A2570FFC-E4F9-DFEC-CA09-9B2C4F9942F3}"/>
                </a:ext>
              </a:extLst>
            </p:cNvPr>
            <p:cNvGrpSpPr/>
            <p:nvPr/>
          </p:nvGrpSpPr>
          <p:grpSpPr>
            <a:xfrm>
              <a:off x="9912096" y="868680"/>
              <a:ext cx="2663952" cy="3200136"/>
              <a:chOff x="9838944" y="868680"/>
              <a:chExt cx="2663952" cy="3200136"/>
            </a:xfrm>
            <a:grpFill/>
          </p:grpSpPr>
          <p:sp>
            <p:nvSpPr>
              <p:cNvPr id="3" name="Hexagon 2">
                <a:extLst>
                  <a:ext uri="{FF2B5EF4-FFF2-40B4-BE49-F238E27FC236}">
                    <a16:creationId xmlns:a16="http://schemas.microsoft.com/office/drawing/2014/main" id="{9FD57865-F383-0F75-5357-57F8D3E9F5E8}"/>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 name="Hexagon 3">
                <a:extLst>
                  <a:ext uri="{FF2B5EF4-FFF2-40B4-BE49-F238E27FC236}">
                    <a16:creationId xmlns:a16="http://schemas.microsoft.com/office/drawing/2014/main" id="{5EE37C68-2DA3-AF41-F5EF-D738F321355D}"/>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 name="Hexagon 4">
                <a:extLst>
                  <a:ext uri="{FF2B5EF4-FFF2-40B4-BE49-F238E27FC236}">
                    <a16:creationId xmlns:a16="http://schemas.microsoft.com/office/drawing/2014/main" id="{7D13E937-1179-4AE2-933F-7D98407DD8FD}"/>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6" name="Hexagon 5">
                <a:extLst>
                  <a:ext uri="{FF2B5EF4-FFF2-40B4-BE49-F238E27FC236}">
                    <a16:creationId xmlns:a16="http://schemas.microsoft.com/office/drawing/2014/main" id="{8FDF7AC6-E09E-5D02-CA9E-29118A76A07E}"/>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 name="Hexagon 6">
                <a:extLst>
                  <a:ext uri="{FF2B5EF4-FFF2-40B4-BE49-F238E27FC236}">
                    <a16:creationId xmlns:a16="http://schemas.microsoft.com/office/drawing/2014/main" id="{2AFD8EA0-92F1-A2F0-7593-F32B4AAF3B5D}"/>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 name="Hexagon 7">
                <a:extLst>
                  <a:ext uri="{FF2B5EF4-FFF2-40B4-BE49-F238E27FC236}">
                    <a16:creationId xmlns:a16="http://schemas.microsoft.com/office/drawing/2014/main" id="{96875150-1193-9C67-9A65-E472A73DB518}"/>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0" name="Group 9">
              <a:extLst>
                <a:ext uri="{FF2B5EF4-FFF2-40B4-BE49-F238E27FC236}">
                  <a16:creationId xmlns:a16="http://schemas.microsoft.com/office/drawing/2014/main" id="{C3426B87-97E0-6C10-684C-3C901DCC004F}"/>
                </a:ext>
              </a:extLst>
            </p:cNvPr>
            <p:cNvGrpSpPr/>
            <p:nvPr/>
          </p:nvGrpSpPr>
          <p:grpSpPr>
            <a:xfrm>
              <a:off x="9113520" y="2296824"/>
              <a:ext cx="2663952" cy="3200136"/>
              <a:chOff x="9838944" y="868680"/>
              <a:chExt cx="2663952" cy="3200136"/>
            </a:xfrm>
            <a:grpFill/>
          </p:grpSpPr>
          <p:sp>
            <p:nvSpPr>
              <p:cNvPr id="11" name="Hexagon 10">
                <a:extLst>
                  <a:ext uri="{FF2B5EF4-FFF2-40B4-BE49-F238E27FC236}">
                    <a16:creationId xmlns:a16="http://schemas.microsoft.com/office/drawing/2014/main" id="{F90FD7E6-E5EA-A3E3-A61F-0E8F43B62EA8}"/>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2" name="Hexagon 11">
                <a:extLst>
                  <a:ext uri="{FF2B5EF4-FFF2-40B4-BE49-F238E27FC236}">
                    <a16:creationId xmlns:a16="http://schemas.microsoft.com/office/drawing/2014/main" id="{0B50432F-92AC-DDFC-821B-6A69E581849F}"/>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3" name="Hexagon 12">
                <a:extLst>
                  <a:ext uri="{FF2B5EF4-FFF2-40B4-BE49-F238E27FC236}">
                    <a16:creationId xmlns:a16="http://schemas.microsoft.com/office/drawing/2014/main" id="{90535FC4-7E33-CC0D-346B-52E2E8CD7ACA}"/>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4" name="Hexagon 13">
                <a:extLst>
                  <a:ext uri="{FF2B5EF4-FFF2-40B4-BE49-F238E27FC236}">
                    <a16:creationId xmlns:a16="http://schemas.microsoft.com/office/drawing/2014/main" id="{3AE77A6A-CA24-7696-E258-D5DD40BBF142}"/>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5" name="Hexagon 14">
                <a:extLst>
                  <a:ext uri="{FF2B5EF4-FFF2-40B4-BE49-F238E27FC236}">
                    <a16:creationId xmlns:a16="http://schemas.microsoft.com/office/drawing/2014/main" id="{39067AE4-34B8-66BE-A465-5DF2EB3134D1}"/>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 name="Hexagon 15">
                <a:extLst>
                  <a:ext uri="{FF2B5EF4-FFF2-40B4-BE49-F238E27FC236}">
                    <a16:creationId xmlns:a16="http://schemas.microsoft.com/office/drawing/2014/main" id="{BB3AFA86-5201-5774-258B-CF3D129F0C0B}"/>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7" name="Group 16">
              <a:extLst>
                <a:ext uri="{FF2B5EF4-FFF2-40B4-BE49-F238E27FC236}">
                  <a16:creationId xmlns:a16="http://schemas.microsoft.com/office/drawing/2014/main" id="{0F1A1C51-B66B-A45A-B66B-B0EEFB3EF981}"/>
                </a:ext>
              </a:extLst>
            </p:cNvPr>
            <p:cNvGrpSpPr/>
            <p:nvPr/>
          </p:nvGrpSpPr>
          <p:grpSpPr>
            <a:xfrm>
              <a:off x="8293608" y="3715824"/>
              <a:ext cx="2663952" cy="3200136"/>
              <a:chOff x="9838944" y="868680"/>
              <a:chExt cx="2663952" cy="3200136"/>
            </a:xfrm>
            <a:grpFill/>
          </p:grpSpPr>
          <p:sp>
            <p:nvSpPr>
              <p:cNvPr id="18" name="Hexagon 17">
                <a:extLst>
                  <a:ext uri="{FF2B5EF4-FFF2-40B4-BE49-F238E27FC236}">
                    <a16:creationId xmlns:a16="http://schemas.microsoft.com/office/drawing/2014/main" id="{68141F71-63D9-DF28-9C25-CA085056C0CC}"/>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9" name="Hexagon 18">
                <a:extLst>
                  <a:ext uri="{FF2B5EF4-FFF2-40B4-BE49-F238E27FC236}">
                    <a16:creationId xmlns:a16="http://schemas.microsoft.com/office/drawing/2014/main" id="{91BCF904-1B96-D2A4-FA51-E20C652A1C84}"/>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0" name="Hexagon 19">
                <a:extLst>
                  <a:ext uri="{FF2B5EF4-FFF2-40B4-BE49-F238E27FC236}">
                    <a16:creationId xmlns:a16="http://schemas.microsoft.com/office/drawing/2014/main" id="{1EBD543F-B23A-3BB9-491D-CA12FF875141}"/>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1" name="Hexagon 20">
                <a:extLst>
                  <a:ext uri="{FF2B5EF4-FFF2-40B4-BE49-F238E27FC236}">
                    <a16:creationId xmlns:a16="http://schemas.microsoft.com/office/drawing/2014/main" id="{35BCE29C-AE02-F6CE-E3C5-728C2E49504F}"/>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2" name="Hexagon 21">
                <a:extLst>
                  <a:ext uri="{FF2B5EF4-FFF2-40B4-BE49-F238E27FC236}">
                    <a16:creationId xmlns:a16="http://schemas.microsoft.com/office/drawing/2014/main" id="{8BF7A993-7776-CB48-F9A5-76A3976872A8}"/>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3" name="Hexagon 22">
                <a:extLst>
                  <a:ext uri="{FF2B5EF4-FFF2-40B4-BE49-F238E27FC236}">
                    <a16:creationId xmlns:a16="http://schemas.microsoft.com/office/drawing/2014/main" id="{3633981E-C128-6424-FEEB-F0C926351484}"/>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24" name="Group 23">
              <a:extLst>
                <a:ext uri="{FF2B5EF4-FFF2-40B4-BE49-F238E27FC236}">
                  <a16:creationId xmlns:a16="http://schemas.microsoft.com/office/drawing/2014/main" id="{B04595AE-A0C0-4EA8-13FF-FC0117CB49B3}"/>
                </a:ext>
              </a:extLst>
            </p:cNvPr>
            <p:cNvGrpSpPr/>
            <p:nvPr/>
          </p:nvGrpSpPr>
          <p:grpSpPr>
            <a:xfrm>
              <a:off x="11597640" y="3627960"/>
              <a:ext cx="2663952" cy="3200136"/>
              <a:chOff x="9838944" y="868680"/>
              <a:chExt cx="2663952" cy="3200136"/>
            </a:xfrm>
            <a:grpFill/>
          </p:grpSpPr>
          <p:sp>
            <p:nvSpPr>
              <p:cNvPr id="25" name="Hexagon 24">
                <a:extLst>
                  <a:ext uri="{FF2B5EF4-FFF2-40B4-BE49-F238E27FC236}">
                    <a16:creationId xmlns:a16="http://schemas.microsoft.com/office/drawing/2014/main" id="{0DA2C244-7BE2-EDDA-E430-6CD5547AD25B}"/>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6" name="Hexagon 25">
                <a:extLst>
                  <a:ext uri="{FF2B5EF4-FFF2-40B4-BE49-F238E27FC236}">
                    <a16:creationId xmlns:a16="http://schemas.microsoft.com/office/drawing/2014/main" id="{B1AA80AE-7D64-A6E7-FAD0-22CC6E5A4ECF}"/>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7" name="Hexagon 26">
                <a:extLst>
                  <a:ext uri="{FF2B5EF4-FFF2-40B4-BE49-F238E27FC236}">
                    <a16:creationId xmlns:a16="http://schemas.microsoft.com/office/drawing/2014/main" id="{94FA374D-21B5-CF42-EAC4-7EC00B8C6CE9}"/>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8" name="Hexagon 27">
                <a:extLst>
                  <a:ext uri="{FF2B5EF4-FFF2-40B4-BE49-F238E27FC236}">
                    <a16:creationId xmlns:a16="http://schemas.microsoft.com/office/drawing/2014/main" id="{B7BFB123-7B4B-34B8-4D96-3C70B81816B6}"/>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29" name="Hexagon 28">
                <a:extLst>
                  <a:ext uri="{FF2B5EF4-FFF2-40B4-BE49-F238E27FC236}">
                    <a16:creationId xmlns:a16="http://schemas.microsoft.com/office/drawing/2014/main" id="{BDF7F61F-A223-78CA-83FE-87EECE8A45B7}"/>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0" name="Hexagon 29">
                <a:extLst>
                  <a:ext uri="{FF2B5EF4-FFF2-40B4-BE49-F238E27FC236}">
                    <a16:creationId xmlns:a16="http://schemas.microsoft.com/office/drawing/2014/main" id="{F26E778F-EC21-94D0-7259-EAE65231F50C}"/>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31" name="Group 30">
              <a:extLst>
                <a:ext uri="{FF2B5EF4-FFF2-40B4-BE49-F238E27FC236}">
                  <a16:creationId xmlns:a16="http://schemas.microsoft.com/office/drawing/2014/main" id="{B2B950AE-2F51-F632-E93D-8E35BD4271D0}"/>
                </a:ext>
              </a:extLst>
            </p:cNvPr>
            <p:cNvGrpSpPr/>
            <p:nvPr/>
          </p:nvGrpSpPr>
          <p:grpSpPr>
            <a:xfrm>
              <a:off x="7449312" y="-470448"/>
              <a:ext cx="2663952" cy="3200136"/>
              <a:chOff x="9838944" y="868680"/>
              <a:chExt cx="2663952" cy="3200136"/>
            </a:xfrm>
            <a:grpFill/>
          </p:grpSpPr>
          <p:sp>
            <p:nvSpPr>
              <p:cNvPr id="32" name="Hexagon 31">
                <a:extLst>
                  <a:ext uri="{FF2B5EF4-FFF2-40B4-BE49-F238E27FC236}">
                    <a16:creationId xmlns:a16="http://schemas.microsoft.com/office/drawing/2014/main" id="{673CA2A2-3694-9A82-BF5C-79B3A14E7252}"/>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3" name="Hexagon 32">
                <a:extLst>
                  <a:ext uri="{FF2B5EF4-FFF2-40B4-BE49-F238E27FC236}">
                    <a16:creationId xmlns:a16="http://schemas.microsoft.com/office/drawing/2014/main" id="{FB3FF4F0-8030-D4D9-513B-1077E8398586}"/>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Hexagon 33">
                <a:extLst>
                  <a:ext uri="{FF2B5EF4-FFF2-40B4-BE49-F238E27FC236}">
                    <a16:creationId xmlns:a16="http://schemas.microsoft.com/office/drawing/2014/main" id="{B1EEA21C-D4FD-D28B-72D8-43D8BE1FCF35}"/>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5" name="Hexagon 34">
                <a:extLst>
                  <a:ext uri="{FF2B5EF4-FFF2-40B4-BE49-F238E27FC236}">
                    <a16:creationId xmlns:a16="http://schemas.microsoft.com/office/drawing/2014/main" id="{8DD01147-00C8-3173-B76B-9D9AC266D17C}"/>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6" name="Hexagon 35">
                <a:extLst>
                  <a:ext uri="{FF2B5EF4-FFF2-40B4-BE49-F238E27FC236}">
                    <a16:creationId xmlns:a16="http://schemas.microsoft.com/office/drawing/2014/main" id="{81D397EC-F62C-095F-6C50-03AD16E8F01B}"/>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7" name="Hexagon 36">
                <a:extLst>
                  <a:ext uri="{FF2B5EF4-FFF2-40B4-BE49-F238E27FC236}">
                    <a16:creationId xmlns:a16="http://schemas.microsoft.com/office/drawing/2014/main" id="{45D8D042-569C-EC49-6111-E4D215A3F930}"/>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38" name="Group 37">
              <a:extLst>
                <a:ext uri="{FF2B5EF4-FFF2-40B4-BE49-F238E27FC236}">
                  <a16:creationId xmlns:a16="http://schemas.microsoft.com/office/drawing/2014/main" id="{BC1A67FB-7169-84E3-CFED-F48004BB6BEA}"/>
                </a:ext>
              </a:extLst>
            </p:cNvPr>
            <p:cNvGrpSpPr/>
            <p:nvPr/>
          </p:nvGrpSpPr>
          <p:grpSpPr>
            <a:xfrm>
              <a:off x="10716768" y="-550584"/>
              <a:ext cx="2663952" cy="3200136"/>
              <a:chOff x="9838944" y="868680"/>
              <a:chExt cx="2663952" cy="3200136"/>
            </a:xfrm>
            <a:grpFill/>
          </p:grpSpPr>
          <p:sp>
            <p:nvSpPr>
              <p:cNvPr id="39" name="Hexagon 38">
                <a:extLst>
                  <a:ext uri="{FF2B5EF4-FFF2-40B4-BE49-F238E27FC236}">
                    <a16:creationId xmlns:a16="http://schemas.microsoft.com/office/drawing/2014/main" id="{C40D1E72-0727-26A9-CAF6-5C6725E0863E}"/>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0" name="Hexagon 39">
                <a:extLst>
                  <a:ext uri="{FF2B5EF4-FFF2-40B4-BE49-F238E27FC236}">
                    <a16:creationId xmlns:a16="http://schemas.microsoft.com/office/drawing/2014/main" id="{7AE95079-7C9B-2FC7-4273-B14AA12693C2}"/>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1" name="Hexagon 40">
                <a:extLst>
                  <a:ext uri="{FF2B5EF4-FFF2-40B4-BE49-F238E27FC236}">
                    <a16:creationId xmlns:a16="http://schemas.microsoft.com/office/drawing/2014/main" id="{E1B25912-BB65-B619-D3AA-7BAA6F48C609}"/>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2" name="Hexagon 41">
                <a:extLst>
                  <a:ext uri="{FF2B5EF4-FFF2-40B4-BE49-F238E27FC236}">
                    <a16:creationId xmlns:a16="http://schemas.microsoft.com/office/drawing/2014/main" id="{928E67F4-C6B2-DFF7-6D95-8615F8AC9A6B}"/>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3" name="Hexagon 42">
                <a:extLst>
                  <a:ext uri="{FF2B5EF4-FFF2-40B4-BE49-F238E27FC236}">
                    <a16:creationId xmlns:a16="http://schemas.microsoft.com/office/drawing/2014/main" id="{78696C2B-EE54-75AA-EE0A-8FC844355C30}"/>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44" name="Hexagon 43">
                <a:extLst>
                  <a:ext uri="{FF2B5EF4-FFF2-40B4-BE49-F238E27FC236}">
                    <a16:creationId xmlns:a16="http://schemas.microsoft.com/office/drawing/2014/main" id="{656808B2-90E3-D8D2-B7C6-3A28E5AF8AA8}"/>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53" name="Group 52">
              <a:extLst>
                <a:ext uri="{FF2B5EF4-FFF2-40B4-BE49-F238E27FC236}">
                  <a16:creationId xmlns:a16="http://schemas.microsoft.com/office/drawing/2014/main" id="{AFEF569E-1F82-D8C5-AC05-18A03EF31784}"/>
                </a:ext>
              </a:extLst>
            </p:cNvPr>
            <p:cNvGrpSpPr/>
            <p:nvPr/>
          </p:nvGrpSpPr>
          <p:grpSpPr>
            <a:xfrm>
              <a:off x="6626352" y="939360"/>
              <a:ext cx="2663952" cy="3200136"/>
              <a:chOff x="9838944" y="868680"/>
              <a:chExt cx="2663952" cy="3200136"/>
            </a:xfrm>
            <a:grpFill/>
          </p:grpSpPr>
          <p:sp>
            <p:nvSpPr>
              <p:cNvPr id="54" name="Hexagon 53">
                <a:extLst>
                  <a:ext uri="{FF2B5EF4-FFF2-40B4-BE49-F238E27FC236}">
                    <a16:creationId xmlns:a16="http://schemas.microsoft.com/office/drawing/2014/main" id="{0AC4DC0F-D856-8B08-C89C-80C2C1237A77}"/>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5" name="Hexagon 54">
                <a:extLst>
                  <a:ext uri="{FF2B5EF4-FFF2-40B4-BE49-F238E27FC236}">
                    <a16:creationId xmlns:a16="http://schemas.microsoft.com/office/drawing/2014/main" id="{8805354A-0DDA-3012-1D26-5E622D5AF9DA}"/>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6" name="Hexagon 55">
                <a:extLst>
                  <a:ext uri="{FF2B5EF4-FFF2-40B4-BE49-F238E27FC236}">
                    <a16:creationId xmlns:a16="http://schemas.microsoft.com/office/drawing/2014/main" id="{7E19488B-586B-BFD1-B5AB-F365836C47FB}"/>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7" name="Hexagon 56">
                <a:extLst>
                  <a:ext uri="{FF2B5EF4-FFF2-40B4-BE49-F238E27FC236}">
                    <a16:creationId xmlns:a16="http://schemas.microsoft.com/office/drawing/2014/main" id="{19A6E5A5-2C74-DDB9-1DBE-A8D1F0169EB0}"/>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8" name="Hexagon 57">
                <a:extLst>
                  <a:ext uri="{FF2B5EF4-FFF2-40B4-BE49-F238E27FC236}">
                    <a16:creationId xmlns:a16="http://schemas.microsoft.com/office/drawing/2014/main" id="{B0735F3F-852D-A68F-B120-D62B8A7DB15A}"/>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59" name="Hexagon 58">
                <a:extLst>
                  <a:ext uri="{FF2B5EF4-FFF2-40B4-BE49-F238E27FC236}">
                    <a16:creationId xmlns:a16="http://schemas.microsoft.com/office/drawing/2014/main" id="{FE8137CB-D5A7-A8FF-927B-66C75FEFDDE6}"/>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sp>
        <p:nvSpPr>
          <p:cNvPr id="118" name="TextBox 117">
            <a:extLst>
              <a:ext uri="{FF2B5EF4-FFF2-40B4-BE49-F238E27FC236}">
                <a16:creationId xmlns:a16="http://schemas.microsoft.com/office/drawing/2014/main" id="{01440C76-2D17-4ED0-77CC-32F544A5CD59}"/>
              </a:ext>
            </a:extLst>
          </p:cNvPr>
          <p:cNvSpPr txBox="1"/>
          <p:nvPr/>
        </p:nvSpPr>
        <p:spPr>
          <a:xfrm>
            <a:off x="385467" y="2394323"/>
            <a:ext cx="6699319" cy="2554545"/>
          </a:xfrm>
          <a:prstGeom prst="rect">
            <a:avLst/>
          </a:prstGeom>
          <a:noFill/>
        </p:spPr>
        <p:txBody>
          <a:bodyPr wrap="square">
            <a:spAutoFit/>
          </a:bodyPr>
          <a:lstStyle/>
          <a:p>
            <a:pPr algn="ctr"/>
            <a:r>
              <a:rPr lang="fr-FR" sz="4000" noProof="0" dirty="0">
                <a:latin typeface="Cooper Black" panose="0208090404030B020404" pitchFamily="18" charset="0"/>
                <a:ea typeface="IBM Plex Sans Medium" pitchFamily="34" charset="-122"/>
                <a:cs typeface="IBM Plex Sans Medium" pitchFamily="34" charset="-120"/>
              </a:rPr>
              <a:t>Agadir Tsunami-</a:t>
            </a:r>
            <a:r>
              <a:rPr lang="fr-FR" sz="4000" noProof="0" dirty="0" err="1">
                <a:latin typeface="Cooper Black" panose="0208090404030B020404" pitchFamily="18" charset="0"/>
                <a:ea typeface="IBM Plex Sans Medium" pitchFamily="34" charset="-122"/>
                <a:cs typeface="IBM Plex Sans Medium" pitchFamily="34" charset="-120"/>
              </a:rPr>
              <a:t>Ready</a:t>
            </a:r>
            <a:endParaRPr lang="fr-FR" sz="4000" noProof="0" dirty="0">
              <a:latin typeface="Cooper Black" panose="0208090404030B020404" pitchFamily="18" charset="0"/>
              <a:ea typeface="IBM Plex Sans Medium" pitchFamily="34" charset="-122"/>
              <a:cs typeface="IBM Plex Sans Medium" pitchFamily="34" charset="-120"/>
            </a:endParaRPr>
          </a:p>
          <a:p>
            <a:pPr algn="ctr"/>
            <a:r>
              <a:rPr lang="fr-FR" sz="4000" noProof="0" dirty="0">
                <a:latin typeface="Cooper Black" panose="0208090404030B020404" pitchFamily="18" charset="0"/>
                <a:ea typeface="IBM Plex Sans Medium" pitchFamily="34" charset="-122"/>
                <a:cs typeface="IBM Plex Sans Medium" pitchFamily="34" charset="-120"/>
              </a:rPr>
              <a:t>(Gestion des routes d’évacuation et des sirènes d’alerte)</a:t>
            </a:r>
          </a:p>
        </p:txBody>
      </p:sp>
      <p:sp>
        <p:nvSpPr>
          <p:cNvPr id="119" name="TextBox 118">
            <a:extLst>
              <a:ext uri="{FF2B5EF4-FFF2-40B4-BE49-F238E27FC236}">
                <a16:creationId xmlns:a16="http://schemas.microsoft.com/office/drawing/2014/main" id="{178926CC-1AAA-4D1C-281C-8381FFCFABDF}"/>
              </a:ext>
            </a:extLst>
          </p:cNvPr>
          <p:cNvSpPr txBox="1"/>
          <p:nvPr/>
        </p:nvSpPr>
        <p:spPr>
          <a:xfrm>
            <a:off x="7032373" y="5751834"/>
            <a:ext cx="3056142" cy="1015663"/>
          </a:xfrm>
          <a:prstGeom prst="rect">
            <a:avLst/>
          </a:prstGeom>
          <a:noFill/>
        </p:spPr>
        <p:txBody>
          <a:bodyPr wrap="square" rtlCol="0">
            <a:spAutoFit/>
          </a:bodyPr>
          <a:lstStyle/>
          <a:p>
            <a:r>
              <a:rPr lang="fr-FR" sz="2000" b="1" noProof="0" dirty="0">
                <a:latin typeface="Aptos" panose="020B0004020202020204" pitchFamily="34" charset="0"/>
              </a:rPr>
              <a:t>Réaliser par:</a:t>
            </a:r>
          </a:p>
          <a:p>
            <a:r>
              <a:rPr lang="fr-FR" sz="2000" b="1" noProof="0" dirty="0"/>
              <a:t>IKRAM MOURABIT</a:t>
            </a:r>
            <a:endParaRPr lang="fr-FR" sz="2000" b="1" noProof="0" dirty="0">
              <a:latin typeface="Aptos" panose="020B0004020202020204" pitchFamily="34" charset="0"/>
            </a:endParaRPr>
          </a:p>
          <a:p>
            <a:r>
              <a:rPr lang="fr-FR" sz="2000" b="1" noProof="0" dirty="0"/>
              <a:t>ABELLAH M’RAK</a:t>
            </a:r>
          </a:p>
        </p:txBody>
      </p:sp>
      <p:pic>
        <p:nvPicPr>
          <p:cNvPr id="176" name="Picture 175">
            <a:extLst>
              <a:ext uri="{FF2B5EF4-FFF2-40B4-BE49-F238E27FC236}">
                <a16:creationId xmlns:a16="http://schemas.microsoft.com/office/drawing/2014/main" id="{A389E13E-0921-B67A-8A2B-0DC2AD81EEAE}"/>
              </a:ext>
            </a:extLst>
          </p:cNvPr>
          <p:cNvPicPr>
            <a:picLocks noChangeAspect="1"/>
          </p:cNvPicPr>
          <p:nvPr/>
        </p:nvPicPr>
        <p:blipFill>
          <a:blip r:embed="rId3"/>
          <a:stretch>
            <a:fillRect/>
          </a:stretch>
        </p:blipFill>
        <p:spPr>
          <a:xfrm rot="2680998">
            <a:off x="14174309" y="2221232"/>
            <a:ext cx="944401" cy="944401"/>
          </a:xfrm>
          <a:prstGeom prst="rect">
            <a:avLst/>
          </a:prstGeom>
          <a:noFill/>
          <a:ln>
            <a:noFill/>
          </a:ln>
        </p:spPr>
      </p:pic>
      <p:sp>
        <p:nvSpPr>
          <p:cNvPr id="175" name="TextBox 174">
            <a:extLst>
              <a:ext uri="{FF2B5EF4-FFF2-40B4-BE49-F238E27FC236}">
                <a16:creationId xmlns:a16="http://schemas.microsoft.com/office/drawing/2014/main" id="{6071D5D7-3987-EDBA-E0A2-14F23B36E60E}"/>
              </a:ext>
            </a:extLst>
          </p:cNvPr>
          <p:cNvSpPr txBox="1"/>
          <p:nvPr/>
        </p:nvSpPr>
        <p:spPr>
          <a:xfrm>
            <a:off x="-4782022" y="2775537"/>
            <a:ext cx="4191000" cy="1446550"/>
          </a:xfrm>
          <a:prstGeom prst="rect">
            <a:avLst/>
          </a:prstGeom>
          <a:noFill/>
        </p:spPr>
        <p:txBody>
          <a:bodyPr wrap="square" rtlCol="0">
            <a:spAutoFit/>
          </a:bodyPr>
          <a:lstStyle/>
          <a:p>
            <a:r>
              <a:rPr lang="fr-FR" sz="8800" noProof="0" dirty="0">
                <a:latin typeface="Cooper Black" panose="0208090404030B020404" pitchFamily="18" charset="0"/>
              </a:rPr>
              <a:t>PLAN :</a:t>
            </a:r>
          </a:p>
        </p:txBody>
      </p:sp>
      <p:grpSp>
        <p:nvGrpSpPr>
          <p:cNvPr id="68" name="Group 67">
            <a:extLst>
              <a:ext uri="{FF2B5EF4-FFF2-40B4-BE49-F238E27FC236}">
                <a16:creationId xmlns:a16="http://schemas.microsoft.com/office/drawing/2014/main" id="{ADF51874-B68B-4C2C-7A09-9986BDB9F14A}"/>
              </a:ext>
            </a:extLst>
          </p:cNvPr>
          <p:cNvGrpSpPr/>
          <p:nvPr/>
        </p:nvGrpSpPr>
        <p:grpSpPr>
          <a:xfrm>
            <a:off x="-3882065" y="0"/>
            <a:ext cx="2870295" cy="6858000"/>
            <a:chOff x="10101723" y="0"/>
            <a:chExt cx="2870295" cy="6858000"/>
          </a:xfrm>
        </p:grpSpPr>
        <p:grpSp>
          <p:nvGrpSpPr>
            <p:cNvPr id="69" name="Group 68">
              <a:extLst>
                <a:ext uri="{FF2B5EF4-FFF2-40B4-BE49-F238E27FC236}">
                  <a16:creationId xmlns:a16="http://schemas.microsoft.com/office/drawing/2014/main" id="{CF274A15-4D5B-4FDA-D81D-2A4B520D0664}"/>
                </a:ext>
              </a:extLst>
            </p:cNvPr>
            <p:cNvGrpSpPr/>
            <p:nvPr/>
          </p:nvGrpSpPr>
          <p:grpSpPr>
            <a:xfrm>
              <a:off x="10259999" y="0"/>
              <a:ext cx="2712019" cy="6858000"/>
              <a:chOff x="10259999" y="0"/>
              <a:chExt cx="2712019" cy="6858000"/>
            </a:xfrm>
            <a:solidFill>
              <a:schemeClr val="accent1">
                <a:lumMod val="50000"/>
              </a:schemeClr>
            </a:solidFill>
          </p:grpSpPr>
          <p:sp>
            <p:nvSpPr>
              <p:cNvPr id="75" name="Rectangle 74">
                <a:extLst>
                  <a:ext uri="{FF2B5EF4-FFF2-40B4-BE49-F238E27FC236}">
                    <a16:creationId xmlns:a16="http://schemas.microsoft.com/office/drawing/2014/main" id="{B6638470-3ACF-7509-E055-23E243E49C13}"/>
                  </a:ext>
                </a:extLst>
              </p:cNvPr>
              <p:cNvSpPr/>
              <p:nvPr/>
            </p:nvSpPr>
            <p:spPr>
              <a:xfrm>
                <a:off x="10259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6" name="Isosceles Triangle 75">
                <a:extLst>
                  <a:ext uri="{FF2B5EF4-FFF2-40B4-BE49-F238E27FC236}">
                    <a16:creationId xmlns:a16="http://schemas.microsoft.com/office/drawing/2014/main" id="{BFE51D4A-BDF7-0060-C105-EF7F6C55C6DA}"/>
                  </a:ext>
                </a:extLst>
              </p:cNvPr>
              <p:cNvSpPr/>
              <p:nvPr/>
            </p:nvSpPr>
            <p:spPr>
              <a:xfrm rot="5400000">
                <a:off x="11881380" y="573162"/>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70" name="TextBox 69">
              <a:extLst>
                <a:ext uri="{FF2B5EF4-FFF2-40B4-BE49-F238E27FC236}">
                  <a16:creationId xmlns:a16="http://schemas.microsoft.com/office/drawing/2014/main" id="{ACA2FF27-A458-790B-B321-754E509FAD2E}"/>
                </a:ext>
              </a:extLst>
            </p:cNvPr>
            <p:cNvSpPr txBox="1"/>
            <p:nvPr/>
          </p:nvSpPr>
          <p:spPr>
            <a:xfrm>
              <a:off x="11106468" y="487666"/>
              <a:ext cx="509540" cy="830997"/>
            </a:xfrm>
            <a:prstGeom prst="rect">
              <a:avLst/>
            </a:prstGeom>
            <a:noFill/>
          </p:spPr>
          <p:txBody>
            <a:bodyPr wrap="square" rtlCol="0">
              <a:spAutoFit/>
            </a:bodyPr>
            <a:lstStyle/>
            <a:p>
              <a:r>
                <a:rPr lang="fr-FR" sz="4800" b="1" noProof="0" dirty="0">
                  <a:solidFill>
                    <a:schemeClr val="bg1"/>
                  </a:solidFill>
                  <a:latin typeface="Aptos" panose="020B0004020202020204" pitchFamily="34" charset="0"/>
                </a:rPr>
                <a:t>6</a:t>
              </a:r>
              <a:endParaRPr lang="fr-FR" sz="4000" b="1" noProof="0" dirty="0">
                <a:solidFill>
                  <a:schemeClr val="bg1"/>
                </a:solidFill>
                <a:latin typeface="Aptos" panose="020B0004020202020204" pitchFamily="34" charset="0"/>
              </a:endParaRPr>
            </a:p>
          </p:txBody>
        </p:sp>
        <p:sp>
          <p:nvSpPr>
            <p:cNvPr id="71" name="Rectangle 70">
              <a:extLst>
                <a:ext uri="{FF2B5EF4-FFF2-40B4-BE49-F238E27FC236}">
                  <a16:creationId xmlns:a16="http://schemas.microsoft.com/office/drawing/2014/main" id="{E6C551D9-7EB9-FCAC-65F5-59104FC429D4}"/>
                </a:ext>
              </a:extLst>
            </p:cNvPr>
            <p:cNvSpPr/>
            <p:nvPr/>
          </p:nvSpPr>
          <p:spPr>
            <a:xfrm>
              <a:off x="1037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2" name="TextBox 71">
              <a:extLst>
                <a:ext uri="{FF2B5EF4-FFF2-40B4-BE49-F238E27FC236}">
                  <a16:creationId xmlns:a16="http://schemas.microsoft.com/office/drawing/2014/main" id="{E242F6F0-D638-8B5A-1B97-980B6BCB411D}"/>
                </a:ext>
              </a:extLst>
            </p:cNvPr>
            <p:cNvSpPr txBox="1"/>
            <p:nvPr/>
          </p:nvSpPr>
          <p:spPr>
            <a:xfrm>
              <a:off x="10101723" y="2252859"/>
              <a:ext cx="2295145" cy="400110"/>
            </a:xfrm>
            <a:prstGeom prst="rect">
              <a:avLst/>
            </a:prstGeom>
            <a:noFill/>
          </p:spPr>
          <p:txBody>
            <a:bodyPr wrap="square" rtlCol="0">
              <a:spAutoFit/>
            </a:bodyPr>
            <a:lstStyle/>
            <a:p>
              <a:pPr algn="ctr"/>
              <a:r>
                <a:rPr lang="fr-FR" sz="2000" noProof="0" dirty="0">
                  <a:solidFill>
                    <a:schemeClr val="bg1"/>
                  </a:solidFill>
                  <a:latin typeface="Bahnschrift SemiBold" panose="020B0502040204020203" pitchFamily="34" charset="0"/>
                </a:rPr>
                <a:t>CONCLUSION</a:t>
              </a:r>
              <a:endParaRPr lang="fr-FR" sz="3600" noProof="0" dirty="0">
                <a:solidFill>
                  <a:schemeClr val="bg1"/>
                </a:solidFill>
                <a:latin typeface="Bahnschrift SemiBold" panose="020B0502040204020203" pitchFamily="34" charset="0"/>
              </a:endParaRPr>
            </a:p>
          </p:txBody>
        </p:sp>
        <p:sp>
          <p:nvSpPr>
            <p:cNvPr id="73" name="TextBox 72">
              <a:extLst>
                <a:ext uri="{FF2B5EF4-FFF2-40B4-BE49-F238E27FC236}">
                  <a16:creationId xmlns:a16="http://schemas.microsoft.com/office/drawing/2014/main" id="{51094775-721A-B485-1641-302F6B63C174}"/>
                </a:ext>
              </a:extLst>
            </p:cNvPr>
            <p:cNvSpPr txBox="1"/>
            <p:nvPr/>
          </p:nvSpPr>
          <p:spPr>
            <a:xfrm>
              <a:off x="10305847" y="4307263"/>
              <a:ext cx="2121378" cy="1169551"/>
            </a:xfrm>
            <a:prstGeom prst="rect">
              <a:avLst/>
            </a:prstGeom>
            <a:noFill/>
          </p:spPr>
          <p:txBody>
            <a:bodyPr wrap="square" rtlCol="0">
              <a:spAutoFit/>
            </a:bodyPr>
            <a:lstStyle/>
            <a:p>
              <a:r>
                <a:rPr lang="fr-FR" sz="1400" b="1" noProof="0" dirty="0">
                  <a:solidFill>
                    <a:schemeClr val="bg1"/>
                  </a:solidFill>
                  <a:latin typeface="Aptos" panose="020B0004020202020204" pitchFamily="34" charset="0"/>
                </a:rPr>
                <a:t>construire un site web plus sécurisé garantissant la confidentialité des utilisateurs</a:t>
              </a:r>
              <a:endParaRPr lang="fr-FR" sz="1600" b="1" noProof="0" dirty="0">
                <a:solidFill>
                  <a:schemeClr val="bg1"/>
                </a:solidFill>
                <a:latin typeface="Aptos" panose="020B0004020202020204" pitchFamily="34" charset="0"/>
              </a:endParaRPr>
            </a:p>
          </p:txBody>
        </p:sp>
        <p:sp>
          <p:nvSpPr>
            <p:cNvPr id="74" name="Rectangle 73">
              <a:extLst>
                <a:ext uri="{FF2B5EF4-FFF2-40B4-BE49-F238E27FC236}">
                  <a16:creationId xmlns:a16="http://schemas.microsoft.com/office/drawing/2014/main" id="{20F51754-E68C-ECA6-09EC-AF680BA31978}"/>
                </a:ext>
              </a:extLst>
            </p:cNvPr>
            <p:cNvSpPr/>
            <p:nvPr/>
          </p:nvSpPr>
          <p:spPr>
            <a:xfrm>
              <a:off x="10398898"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77" name="Group 76">
            <a:extLst>
              <a:ext uri="{FF2B5EF4-FFF2-40B4-BE49-F238E27FC236}">
                <a16:creationId xmlns:a16="http://schemas.microsoft.com/office/drawing/2014/main" id="{C604765C-87FF-164B-31B9-191A7E217151}"/>
              </a:ext>
            </a:extLst>
          </p:cNvPr>
          <p:cNvGrpSpPr/>
          <p:nvPr/>
        </p:nvGrpSpPr>
        <p:grpSpPr>
          <a:xfrm>
            <a:off x="-3908542" y="0"/>
            <a:ext cx="2833594" cy="6858000"/>
            <a:chOff x="8086426" y="0"/>
            <a:chExt cx="2833594" cy="6858000"/>
          </a:xfrm>
        </p:grpSpPr>
        <p:sp>
          <p:nvSpPr>
            <p:cNvPr id="78" name="Rectangle 77">
              <a:extLst>
                <a:ext uri="{FF2B5EF4-FFF2-40B4-BE49-F238E27FC236}">
                  <a16:creationId xmlns:a16="http://schemas.microsoft.com/office/drawing/2014/main" id="{70475BB3-84E6-7767-0879-F7A5EF723483}"/>
                </a:ext>
              </a:extLst>
            </p:cNvPr>
            <p:cNvSpPr/>
            <p:nvPr/>
          </p:nvSpPr>
          <p:spPr>
            <a:xfrm>
              <a:off x="8207999" y="0"/>
              <a:ext cx="205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79" name="Isosceles Triangle 78">
              <a:extLst>
                <a:ext uri="{FF2B5EF4-FFF2-40B4-BE49-F238E27FC236}">
                  <a16:creationId xmlns:a16="http://schemas.microsoft.com/office/drawing/2014/main" id="{FF1554A1-8B1A-F475-381C-30DF9D50FABF}"/>
                </a:ext>
              </a:extLst>
            </p:cNvPr>
            <p:cNvSpPr/>
            <p:nvPr/>
          </p:nvSpPr>
          <p:spPr>
            <a:xfrm rot="5400000">
              <a:off x="9829382" y="573161"/>
              <a:ext cx="1521257" cy="660018"/>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0" name="TextBox 79">
              <a:extLst>
                <a:ext uri="{FF2B5EF4-FFF2-40B4-BE49-F238E27FC236}">
                  <a16:creationId xmlns:a16="http://schemas.microsoft.com/office/drawing/2014/main" id="{0922552E-D54B-7B5B-E8B6-DA00F7887638}"/>
                </a:ext>
              </a:extLst>
            </p:cNvPr>
            <p:cNvSpPr txBox="1"/>
            <p:nvPr/>
          </p:nvSpPr>
          <p:spPr>
            <a:xfrm>
              <a:off x="9054468" y="487666"/>
              <a:ext cx="509540" cy="830997"/>
            </a:xfrm>
            <a:prstGeom prst="rect">
              <a:avLst/>
            </a:prstGeom>
            <a:noFill/>
          </p:spPr>
          <p:txBody>
            <a:bodyPr wrap="square" rtlCol="0">
              <a:spAutoFit/>
            </a:bodyPr>
            <a:lstStyle/>
            <a:p>
              <a:r>
                <a:rPr lang="fr-FR" sz="4800" b="1" noProof="0" dirty="0">
                  <a:solidFill>
                    <a:schemeClr val="bg1"/>
                  </a:solidFill>
                  <a:latin typeface="Aptos" panose="020B0004020202020204" pitchFamily="34" charset="0"/>
                </a:rPr>
                <a:t>5</a:t>
              </a:r>
              <a:endParaRPr lang="fr-FR" sz="4000" b="1" noProof="0" dirty="0">
                <a:solidFill>
                  <a:schemeClr val="bg1"/>
                </a:solidFill>
                <a:latin typeface="Aptos" panose="020B0004020202020204" pitchFamily="34" charset="0"/>
              </a:endParaRPr>
            </a:p>
          </p:txBody>
        </p:sp>
        <p:sp>
          <p:nvSpPr>
            <p:cNvPr id="81" name="Rectangle 80">
              <a:extLst>
                <a:ext uri="{FF2B5EF4-FFF2-40B4-BE49-F238E27FC236}">
                  <a16:creationId xmlns:a16="http://schemas.microsoft.com/office/drawing/2014/main" id="{07B15B7A-9041-A4C8-B156-E3976B70A8EC}"/>
                </a:ext>
              </a:extLst>
            </p:cNvPr>
            <p:cNvSpPr/>
            <p:nvPr/>
          </p:nvSpPr>
          <p:spPr>
            <a:xfrm>
              <a:off x="8339583"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2" name="TextBox 81">
              <a:extLst>
                <a:ext uri="{FF2B5EF4-FFF2-40B4-BE49-F238E27FC236}">
                  <a16:creationId xmlns:a16="http://schemas.microsoft.com/office/drawing/2014/main" id="{55DA53C3-DFB2-B046-9AB0-E5940C7A18CA}"/>
                </a:ext>
              </a:extLst>
            </p:cNvPr>
            <p:cNvSpPr txBox="1"/>
            <p:nvPr/>
          </p:nvSpPr>
          <p:spPr>
            <a:xfrm>
              <a:off x="8086426" y="1921105"/>
              <a:ext cx="2295145" cy="1015663"/>
            </a:xfrm>
            <a:prstGeom prst="rect">
              <a:avLst/>
            </a:prstGeom>
            <a:noFill/>
          </p:spPr>
          <p:txBody>
            <a:bodyPr wrap="square" rtlCol="0">
              <a:spAutoFit/>
            </a:bodyPr>
            <a:lstStyle/>
            <a:p>
              <a:pPr algn="ctr"/>
              <a:r>
                <a:rPr lang="fr-FR" sz="2000" noProof="0" dirty="0">
                  <a:solidFill>
                    <a:schemeClr val="bg1"/>
                  </a:solidFill>
                  <a:latin typeface="Bahnschrift SemiBold" panose="020B0502040204020203" pitchFamily="34" charset="0"/>
                </a:rPr>
                <a:t>CHIFFREMENT DES DONNÉES SENSIBLES </a:t>
              </a:r>
              <a:endParaRPr lang="fr-FR" sz="3200" noProof="0" dirty="0">
                <a:solidFill>
                  <a:schemeClr val="bg1"/>
                </a:solidFill>
                <a:latin typeface="Bahnschrift SemiBold" panose="020B0502040204020203" pitchFamily="34" charset="0"/>
              </a:endParaRPr>
            </a:p>
          </p:txBody>
        </p:sp>
        <p:sp>
          <p:nvSpPr>
            <p:cNvPr id="83" name="TextBox 82">
              <a:extLst>
                <a:ext uri="{FF2B5EF4-FFF2-40B4-BE49-F238E27FC236}">
                  <a16:creationId xmlns:a16="http://schemas.microsoft.com/office/drawing/2014/main" id="{7F8E2709-FA1C-625D-5902-F7A225B515CC}"/>
                </a:ext>
              </a:extLst>
            </p:cNvPr>
            <p:cNvSpPr txBox="1"/>
            <p:nvPr/>
          </p:nvSpPr>
          <p:spPr>
            <a:xfrm>
              <a:off x="8196284" y="3877056"/>
              <a:ext cx="1994334" cy="2031325"/>
            </a:xfrm>
            <a:prstGeom prst="rect">
              <a:avLst/>
            </a:prstGeom>
            <a:noFill/>
          </p:spPr>
          <p:txBody>
            <a:bodyPr wrap="square" rtlCol="0">
              <a:spAutoFit/>
            </a:bodyPr>
            <a:lstStyle/>
            <a:p>
              <a:r>
                <a:rPr lang="fr-FR" sz="1400" b="1" noProof="0" dirty="0">
                  <a:solidFill>
                    <a:schemeClr val="bg1"/>
                  </a:solidFill>
                  <a:latin typeface="Aptos" panose="020B0004020202020204" pitchFamily="34" charset="0"/>
                </a:rPr>
                <a:t>Chiffrement au niveau base de données</a:t>
              </a: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Variables d'environnement (gestion des secrets) </a:t>
              </a:r>
            </a:p>
          </p:txBody>
        </p:sp>
        <p:sp>
          <p:nvSpPr>
            <p:cNvPr id="84" name="Rectangle 83">
              <a:extLst>
                <a:ext uri="{FF2B5EF4-FFF2-40B4-BE49-F238E27FC236}">
                  <a16:creationId xmlns:a16="http://schemas.microsoft.com/office/drawing/2014/main" id="{FAECA7D8-D35A-59A1-83EF-FE48005991B5}"/>
                </a:ext>
              </a:extLst>
            </p:cNvPr>
            <p:cNvSpPr/>
            <p:nvPr/>
          </p:nvSpPr>
          <p:spPr>
            <a:xfrm>
              <a:off x="8319560"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85" name="Group 84">
            <a:extLst>
              <a:ext uri="{FF2B5EF4-FFF2-40B4-BE49-F238E27FC236}">
                <a16:creationId xmlns:a16="http://schemas.microsoft.com/office/drawing/2014/main" id="{2787D038-6996-0841-394E-12927571BF6B}"/>
              </a:ext>
            </a:extLst>
          </p:cNvPr>
          <p:cNvGrpSpPr/>
          <p:nvPr/>
        </p:nvGrpSpPr>
        <p:grpSpPr>
          <a:xfrm>
            <a:off x="-4000086" y="0"/>
            <a:ext cx="2861956" cy="6921643"/>
            <a:chOff x="6006062" y="0"/>
            <a:chExt cx="2861956" cy="6921643"/>
          </a:xfrm>
        </p:grpSpPr>
        <p:grpSp>
          <p:nvGrpSpPr>
            <p:cNvPr id="86" name="Group 85">
              <a:extLst>
                <a:ext uri="{FF2B5EF4-FFF2-40B4-BE49-F238E27FC236}">
                  <a16:creationId xmlns:a16="http://schemas.microsoft.com/office/drawing/2014/main" id="{BB85D109-49F6-FE67-36A6-647AA95BD7A5}"/>
                </a:ext>
              </a:extLst>
            </p:cNvPr>
            <p:cNvGrpSpPr/>
            <p:nvPr/>
          </p:nvGrpSpPr>
          <p:grpSpPr>
            <a:xfrm>
              <a:off x="6155999" y="0"/>
              <a:ext cx="2712019" cy="6858000"/>
              <a:chOff x="6155999" y="0"/>
              <a:chExt cx="2712019" cy="6858000"/>
            </a:xfrm>
            <a:solidFill>
              <a:srgbClr val="4472C4"/>
            </a:solidFill>
          </p:grpSpPr>
          <p:sp>
            <p:nvSpPr>
              <p:cNvPr id="92" name="Rectangle 91">
                <a:extLst>
                  <a:ext uri="{FF2B5EF4-FFF2-40B4-BE49-F238E27FC236}">
                    <a16:creationId xmlns:a16="http://schemas.microsoft.com/office/drawing/2014/main" id="{6962FC7F-7930-475D-F1A8-6DFABB5176BF}"/>
                  </a:ext>
                </a:extLst>
              </p:cNvPr>
              <p:cNvSpPr/>
              <p:nvPr/>
            </p:nvSpPr>
            <p:spPr>
              <a:xfrm>
                <a:off x="6155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93" name="Isosceles Triangle 92">
                <a:extLst>
                  <a:ext uri="{FF2B5EF4-FFF2-40B4-BE49-F238E27FC236}">
                    <a16:creationId xmlns:a16="http://schemas.microsoft.com/office/drawing/2014/main" id="{6FBD3882-507D-82F3-8532-1D7683D03D66}"/>
                  </a:ext>
                </a:extLst>
              </p:cNvPr>
              <p:cNvSpPr/>
              <p:nvPr/>
            </p:nvSpPr>
            <p:spPr>
              <a:xfrm rot="5400000">
                <a:off x="7777380" y="573160"/>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87" name="TextBox 86">
              <a:extLst>
                <a:ext uri="{FF2B5EF4-FFF2-40B4-BE49-F238E27FC236}">
                  <a16:creationId xmlns:a16="http://schemas.microsoft.com/office/drawing/2014/main" id="{4485CFBB-F255-AC99-CE95-607452AE1B10}"/>
                </a:ext>
              </a:extLst>
            </p:cNvPr>
            <p:cNvSpPr txBox="1"/>
            <p:nvPr/>
          </p:nvSpPr>
          <p:spPr>
            <a:xfrm>
              <a:off x="7002469" y="487666"/>
              <a:ext cx="509540" cy="830997"/>
            </a:xfrm>
            <a:prstGeom prst="rect">
              <a:avLst/>
            </a:prstGeom>
            <a:noFill/>
          </p:spPr>
          <p:txBody>
            <a:bodyPr wrap="square" rtlCol="0">
              <a:spAutoFit/>
            </a:bodyPr>
            <a:lstStyle/>
            <a:p>
              <a:r>
                <a:rPr lang="fr-FR" sz="4800" b="1" noProof="0" dirty="0">
                  <a:solidFill>
                    <a:schemeClr val="bg1"/>
                  </a:solidFill>
                  <a:latin typeface="Aptos" panose="020B0004020202020204" pitchFamily="34" charset="0"/>
                </a:rPr>
                <a:t>4</a:t>
              </a:r>
              <a:endParaRPr lang="fr-FR" sz="4000" b="1" noProof="0" dirty="0">
                <a:solidFill>
                  <a:schemeClr val="bg1"/>
                </a:solidFill>
                <a:latin typeface="Aptos" panose="020B0004020202020204" pitchFamily="34" charset="0"/>
              </a:endParaRPr>
            </a:p>
          </p:txBody>
        </p:sp>
        <p:sp>
          <p:nvSpPr>
            <p:cNvPr id="88" name="Rectangle 87">
              <a:extLst>
                <a:ext uri="{FF2B5EF4-FFF2-40B4-BE49-F238E27FC236}">
                  <a16:creationId xmlns:a16="http://schemas.microsoft.com/office/drawing/2014/main" id="{BE6986AF-30E0-A0F1-8508-170814208605}"/>
                </a:ext>
              </a:extLst>
            </p:cNvPr>
            <p:cNvSpPr/>
            <p:nvPr/>
          </p:nvSpPr>
          <p:spPr>
            <a:xfrm>
              <a:off x="6287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9" name="TextBox 88">
              <a:extLst>
                <a:ext uri="{FF2B5EF4-FFF2-40B4-BE49-F238E27FC236}">
                  <a16:creationId xmlns:a16="http://schemas.microsoft.com/office/drawing/2014/main" id="{4B341A3E-2D92-4625-2145-CDB5BE1CBD19}"/>
                </a:ext>
              </a:extLst>
            </p:cNvPr>
            <p:cNvSpPr txBox="1"/>
            <p:nvPr/>
          </p:nvSpPr>
          <p:spPr>
            <a:xfrm>
              <a:off x="6006062" y="1948346"/>
              <a:ext cx="2295145" cy="1015663"/>
            </a:xfrm>
            <a:prstGeom prst="rect">
              <a:avLst/>
            </a:prstGeom>
            <a:noFill/>
          </p:spPr>
          <p:txBody>
            <a:bodyPr wrap="square" rtlCol="0">
              <a:spAutoFit/>
            </a:bodyPr>
            <a:lstStyle/>
            <a:p>
              <a:pPr algn="ctr"/>
              <a:r>
                <a:rPr lang="fr-FR" sz="2000" noProof="0" dirty="0">
                  <a:solidFill>
                    <a:schemeClr val="bg1"/>
                  </a:solidFill>
                  <a:latin typeface="Bahnschrift SemiBold" panose="020B0502040204020203" pitchFamily="34" charset="0"/>
                </a:rPr>
                <a:t>ARCHITECTURE SÉCURISÉE PROPOSÉE </a:t>
              </a:r>
              <a:endParaRPr lang="fr-FR" sz="2800" noProof="0" dirty="0">
                <a:solidFill>
                  <a:schemeClr val="bg1"/>
                </a:solidFill>
                <a:latin typeface="Bahnschrift SemiBold" panose="020B0502040204020203" pitchFamily="34" charset="0"/>
              </a:endParaRPr>
            </a:p>
          </p:txBody>
        </p:sp>
        <p:sp>
          <p:nvSpPr>
            <p:cNvPr id="90" name="TextBox 89">
              <a:extLst>
                <a:ext uri="{FF2B5EF4-FFF2-40B4-BE49-F238E27FC236}">
                  <a16:creationId xmlns:a16="http://schemas.microsoft.com/office/drawing/2014/main" id="{C3095CD8-6FF8-A2CC-FFC8-3B706412BE1F}"/>
                </a:ext>
              </a:extLst>
            </p:cNvPr>
            <p:cNvSpPr txBox="1"/>
            <p:nvPr/>
          </p:nvSpPr>
          <p:spPr>
            <a:xfrm>
              <a:off x="6145044" y="3135991"/>
              <a:ext cx="2085813" cy="3785652"/>
            </a:xfrm>
            <a:prstGeom prst="rect">
              <a:avLst/>
            </a:prstGeom>
            <a:noFill/>
          </p:spPr>
          <p:txBody>
            <a:bodyPr wrap="square" rtlCol="0">
              <a:spAutoFit/>
            </a:bodyPr>
            <a:lstStyle/>
            <a:p>
              <a:r>
                <a:rPr lang="fr-FR" sz="1200" b="1" noProof="0" dirty="0">
                  <a:solidFill>
                    <a:schemeClr val="bg1"/>
                  </a:solidFill>
                  <a:latin typeface="Aptos" panose="020B0004020202020204" pitchFamily="34" charset="0"/>
                </a:rPr>
                <a:t>Architecture Globale Sécurisée </a:t>
              </a:r>
            </a:p>
            <a:p>
              <a:endParaRPr lang="fr-FR" sz="1200" b="1" noProof="0" dirty="0">
                <a:solidFill>
                  <a:schemeClr val="bg1"/>
                </a:solidFill>
                <a:latin typeface="Aptos" panose="020B0004020202020204" pitchFamily="34" charset="0"/>
              </a:endParaRPr>
            </a:p>
            <a:p>
              <a:r>
                <a:rPr lang="fr-FR" sz="1200" b="1" noProof="0" dirty="0">
                  <a:solidFill>
                    <a:schemeClr val="bg1"/>
                  </a:solidFill>
                  <a:latin typeface="Aptos" panose="020B0004020202020204" pitchFamily="34" charset="0"/>
                </a:rPr>
                <a:t>Implémentation RBAC Complète </a:t>
              </a:r>
            </a:p>
            <a:p>
              <a:endParaRPr lang="fr-FR" sz="1200" b="1" noProof="0" dirty="0">
                <a:solidFill>
                  <a:schemeClr val="bg1"/>
                </a:solidFill>
                <a:latin typeface="Aptos" panose="020B0004020202020204" pitchFamily="34" charset="0"/>
              </a:endParaRPr>
            </a:p>
            <a:p>
              <a:r>
                <a:rPr lang="fr-FR" sz="1200" b="1" noProof="0" dirty="0">
                  <a:solidFill>
                    <a:schemeClr val="bg1"/>
                  </a:solidFill>
                  <a:latin typeface="Aptos" panose="020B0004020202020204" pitchFamily="34" charset="0"/>
                </a:rPr>
                <a:t>Protection Anti-SQL Injection </a:t>
              </a:r>
            </a:p>
            <a:p>
              <a:endParaRPr lang="fr-FR" sz="1200" b="1" noProof="0" dirty="0">
                <a:solidFill>
                  <a:schemeClr val="bg1"/>
                </a:solidFill>
                <a:latin typeface="Aptos" panose="020B0004020202020204" pitchFamily="34" charset="0"/>
              </a:endParaRPr>
            </a:p>
            <a:p>
              <a:r>
                <a:rPr lang="fr-FR" sz="1200" b="1" noProof="0" dirty="0">
                  <a:solidFill>
                    <a:schemeClr val="bg1"/>
                  </a:solidFill>
                  <a:latin typeface="Aptos" panose="020B0004020202020204" pitchFamily="34" charset="0"/>
                </a:rPr>
                <a:t>Sécurisation des Communications (HTTPS/TLS)</a:t>
              </a:r>
            </a:p>
            <a:p>
              <a:endParaRPr lang="fr-FR" sz="1200" b="1" noProof="0" dirty="0">
                <a:solidFill>
                  <a:schemeClr val="bg1"/>
                </a:solidFill>
                <a:latin typeface="Aptos" panose="020B0004020202020204" pitchFamily="34" charset="0"/>
              </a:endParaRPr>
            </a:p>
            <a:p>
              <a:r>
                <a:rPr lang="fr-FR" sz="1200" b="1" noProof="0" dirty="0">
                  <a:solidFill>
                    <a:schemeClr val="bg1"/>
                  </a:solidFill>
                  <a:latin typeface="Aptos" panose="020B0004020202020204" pitchFamily="34" charset="0"/>
                </a:rPr>
                <a:t>Signature HMAC des Signaux d'Alerte </a:t>
              </a:r>
            </a:p>
            <a:p>
              <a:endParaRPr lang="fr-FR" sz="1200" b="1" noProof="0" dirty="0">
                <a:solidFill>
                  <a:schemeClr val="bg1"/>
                </a:solidFill>
                <a:latin typeface="Aptos" panose="020B0004020202020204" pitchFamily="34" charset="0"/>
              </a:endParaRPr>
            </a:p>
            <a:p>
              <a:r>
                <a:rPr lang="fr-FR" sz="1200" b="1" noProof="0" dirty="0">
                  <a:solidFill>
                    <a:schemeClr val="bg1"/>
                  </a:solidFill>
                  <a:latin typeface="Aptos" panose="020B0004020202020204" pitchFamily="34" charset="0"/>
                </a:rPr>
                <a:t>Déclenchement Sécurisé des Sirènes </a:t>
              </a:r>
            </a:p>
            <a:p>
              <a:endParaRPr lang="fr-FR" sz="1200" b="1" noProof="0" dirty="0">
                <a:solidFill>
                  <a:schemeClr val="bg1"/>
                </a:solidFill>
                <a:latin typeface="Aptos" panose="020B0004020202020204" pitchFamily="34" charset="0"/>
              </a:endParaRPr>
            </a:p>
            <a:p>
              <a:r>
                <a:rPr lang="fr-FR" sz="1200" b="1" noProof="0" dirty="0">
                  <a:solidFill>
                    <a:schemeClr val="bg1"/>
                  </a:solidFill>
                  <a:latin typeface="Aptos" panose="020B0004020202020204" pitchFamily="34" charset="0"/>
                </a:rPr>
                <a:t>Protection Firewall (UFW)</a:t>
              </a:r>
            </a:p>
          </p:txBody>
        </p:sp>
        <p:sp>
          <p:nvSpPr>
            <p:cNvPr id="91" name="Rectangle 90">
              <a:extLst>
                <a:ext uri="{FF2B5EF4-FFF2-40B4-BE49-F238E27FC236}">
                  <a16:creationId xmlns:a16="http://schemas.microsoft.com/office/drawing/2014/main" id="{5949BD10-D43C-45DB-6EA6-F255767BA7FB}"/>
                </a:ext>
              </a:extLst>
            </p:cNvPr>
            <p:cNvSpPr/>
            <p:nvPr/>
          </p:nvSpPr>
          <p:spPr>
            <a:xfrm>
              <a:off x="6284019"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94" name="Group 93">
            <a:extLst>
              <a:ext uri="{FF2B5EF4-FFF2-40B4-BE49-F238E27FC236}">
                <a16:creationId xmlns:a16="http://schemas.microsoft.com/office/drawing/2014/main" id="{4701CBCD-4ED0-CF98-9F0D-145E250B8D82}"/>
              </a:ext>
            </a:extLst>
          </p:cNvPr>
          <p:cNvGrpSpPr/>
          <p:nvPr/>
        </p:nvGrpSpPr>
        <p:grpSpPr>
          <a:xfrm>
            <a:off x="-4049003" y="0"/>
            <a:ext cx="2836266" cy="6858000"/>
            <a:chOff x="3979755" y="0"/>
            <a:chExt cx="2836266" cy="6858000"/>
          </a:xfrm>
        </p:grpSpPr>
        <p:grpSp>
          <p:nvGrpSpPr>
            <p:cNvPr id="95" name="Group 94">
              <a:extLst>
                <a:ext uri="{FF2B5EF4-FFF2-40B4-BE49-F238E27FC236}">
                  <a16:creationId xmlns:a16="http://schemas.microsoft.com/office/drawing/2014/main" id="{E7FC185F-50A4-2B47-8912-37CF8E689227}"/>
                </a:ext>
              </a:extLst>
            </p:cNvPr>
            <p:cNvGrpSpPr/>
            <p:nvPr/>
          </p:nvGrpSpPr>
          <p:grpSpPr>
            <a:xfrm>
              <a:off x="4103999" y="0"/>
              <a:ext cx="2712022" cy="6858000"/>
              <a:chOff x="4103999" y="0"/>
              <a:chExt cx="2712022" cy="6858000"/>
            </a:xfrm>
            <a:solidFill>
              <a:srgbClr val="00B0F0"/>
            </a:solidFill>
          </p:grpSpPr>
          <p:sp>
            <p:nvSpPr>
              <p:cNvPr id="101" name="Rectangle 100">
                <a:extLst>
                  <a:ext uri="{FF2B5EF4-FFF2-40B4-BE49-F238E27FC236}">
                    <a16:creationId xmlns:a16="http://schemas.microsoft.com/office/drawing/2014/main" id="{93F3FB6E-6D1D-AF98-FD02-B861FC5FE872}"/>
                  </a:ext>
                </a:extLst>
              </p:cNvPr>
              <p:cNvSpPr/>
              <p:nvPr/>
            </p:nvSpPr>
            <p:spPr>
              <a:xfrm>
                <a:off x="4103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2" name="Isosceles Triangle 101">
                <a:extLst>
                  <a:ext uri="{FF2B5EF4-FFF2-40B4-BE49-F238E27FC236}">
                    <a16:creationId xmlns:a16="http://schemas.microsoft.com/office/drawing/2014/main" id="{6DC457F4-E977-8052-F039-D6CE98C9BBA9}"/>
                  </a:ext>
                </a:extLst>
              </p:cNvPr>
              <p:cNvSpPr/>
              <p:nvPr/>
            </p:nvSpPr>
            <p:spPr>
              <a:xfrm rot="5400000">
                <a:off x="5725383" y="573159"/>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96" name="TextBox 95">
              <a:extLst>
                <a:ext uri="{FF2B5EF4-FFF2-40B4-BE49-F238E27FC236}">
                  <a16:creationId xmlns:a16="http://schemas.microsoft.com/office/drawing/2014/main" id="{1D95DDB1-AAFF-F600-5B41-1512EFEFA4BA}"/>
                </a:ext>
              </a:extLst>
            </p:cNvPr>
            <p:cNvSpPr txBox="1"/>
            <p:nvPr/>
          </p:nvSpPr>
          <p:spPr>
            <a:xfrm>
              <a:off x="4950468" y="487666"/>
              <a:ext cx="509540" cy="830997"/>
            </a:xfrm>
            <a:prstGeom prst="rect">
              <a:avLst/>
            </a:prstGeom>
            <a:noFill/>
          </p:spPr>
          <p:txBody>
            <a:bodyPr wrap="square" rtlCol="0">
              <a:spAutoFit/>
            </a:bodyPr>
            <a:lstStyle/>
            <a:p>
              <a:r>
                <a:rPr lang="fr-FR" sz="4800" b="1" noProof="0" dirty="0">
                  <a:solidFill>
                    <a:schemeClr val="bg1"/>
                  </a:solidFill>
                  <a:latin typeface="Aptos" panose="020B0004020202020204" pitchFamily="34" charset="0"/>
                </a:rPr>
                <a:t>3</a:t>
              </a:r>
              <a:endParaRPr lang="fr-FR" sz="4000" b="1" noProof="0" dirty="0">
                <a:solidFill>
                  <a:schemeClr val="bg1"/>
                </a:solidFill>
                <a:latin typeface="Aptos" panose="020B0004020202020204" pitchFamily="34" charset="0"/>
              </a:endParaRPr>
            </a:p>
          </p:txBody>
        </p:sp>
        <p:sp>
          <p:nvSpPr>
            <p:cNvPr id="97" name="Rectangle 96">
              <a:extLst>
                <a:ext uri="{FF2B5EF4-FFF2-40B4-BE49-F238E27FC236}">
                  <a16:creationId xmlns:a16="http://schemas.microsoft.com/office/drawing/2014/main" id="{FC98D321-581F-EB09-9EFD-7786D93E7D19}"/>
                </a:ext>
              </a:extLst>
            </p:cNvPr>
            <p:cNvSpPr/>
            <p:nvPr/>
          </p:nvSpPr>
          <p:spPr>
            <a:xfrm>
              <a:off x="4235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98" name="TextBox 97">
              <a:extLst>
                <a:ext uri="{FF2B5EF4-FFF2-40B4-BE49-F238E27FC236}">
                  <a16:creationId xmlns:a16="http://schemas.microsoft.com/office/drawing/2014/main" id="{306652A1-FA8F-FFCC-FBA6-F1B0D0FA781F}"/>
                </a:ext>
              </a:extLst>
            </p:cNvPr>
            <p:cNvSpPr txBox="1"/>
            <p:nvPr/>
          </p:nvSpPr>
          <p:spPr>
            <a:xfrm>
              <a:off x="3979755" y="2063859"/>
              <a:ext cx="2295145" cy="707886"/>
            </a:xfrm>
            <a:prstGeom prst="rect">
              <a:avLst/>
            </a:prstGeom>
            <a:noFill/>
          </p:spPr>
          <p:txBody>
            <a:bodyPr wrap="square" rtlCol="0">
              <a:spAutoFit/>
            </a:bodyPr>
            <a:lstStyle/>
            <a:p>
              <a:pPr algn="ctr"/>
              <a:r>
                <a:rPr lang="fr-FR" sz="2000" noProof="0" dirty="0">
                  <a:solidFill>
                    <a:schemeClr val="bg1"/>
                  </a:solidFill>
                  <a:latin typeface="Bahnschrift SemiBold" panose="020B0502040204020203" pitchFamily="34" charset="0"/>
                </a:rPr>
                <a:t>VULNÉRABILITÉS DÉTECTÉES</a:t>
              </a:r>
            </a:p>
          </p:txBody>
        </p:sp>
        <p:sp>
          <p:nvSpPr>
            <p:cNvPr id="99" name="TextBox 98">
              <a:extLst>
                <a:ext uri="{FF2B5EF4-FFF2-40B4-BE49-F238E27FC236}">
                  <a16:creationId xmlns:a16="http://schemas.microsoft.com/office/drawing/2014/main" id="{83D659ED-48D0-EB4D-9EC7-6623EDD2D835}"/>
                </a:ext>
              </a:extLst>
            </p:cNvPr>
            <p:cNvSpPr txBox="1"/>
            <p:nvPr/>
          </p:nvSpPr>
          <p:spPr>
            <a:xfrm>
              <a:off x="4085755" y="3573018"/>
              <a:ext cx="2150768" cy="3108543"/>
            </a:xfrm>
            <a:prstGeom prst="rect">
              <a:avLst/>
            </a:prstGeom>
            <a:noFill/>
          </p:spPr>
          <p:txBody>
            <a:bodyPr wrap="square" rtlCol="0">
              <a:spAutoFit/>
            </a:bodyPr>
            <a:lstStyle/>
            <a:p>
              <a:r>
                <a:rPr lang="fr-FR" sz="1400" b="1" noProof="0" dirty="0">
                  <a:solidFill>
                    <a:schemeClr val="bg1"/>
                  </a:solidFill>
                  <a:latin typeface="Aptos" panose="020B0004020202020204" pitchFamily="34" charset="0"/>
                </a:rPr>
                <a:t>SQL Injection</a:t>
              </a: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Man-in-the-Middle </a:t>
              </a: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Absence de Contrôle d'Accès</a:t>
              </a: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Déni de Service  </a:t>
              </a: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Falsification des Signaux d'Alerte </a:t>
              </a: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Données Capteurs Aberrantes </a:t>
              </a:r>
            </a:p>
          </p:txBody>
        </p:sp>
        <p:sp>
          <p:nvSpPr>
            <p:cNvPr id="100" name="Rectangle 99">
              <a:extLst>
                <a:ext uri="{FF2B5EF4-FFF2-40B4-BE49-F238E27FC236}">
                  <a16:creationId xmlns:a16="http://schemas.microsoft.com/office/drawing/2014/main" id="{6297B6A2-CDBF-5A1E-7A2F-A621570AB0BB}"/>
                </a:ext>
              </a:extLst>
            </p:cNvPr>
            <p:cNvSpPr/>
            <p:nvPr/>
          </p:nvSpPr>
          <p:spPr>
            <a:xfrm>
              <a:off x="4235586"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03" name="Group 102">
            <a:extLst>
              <a:ext uri="{FF2B5EF4-FFF2-40B4-BE49-F238E27FC236}">
                <a16:creationId xmlns:a16="http://schemas.microsoft.com/office/drawing/2014/main" id="{B8C4BD46-63CF-B860-4E2F-D02DBBCD9514}"/>
              </a:ext>
            </a:extLst>
          </p:cNvPr>
          <p:cNvGrpSpPr/>
          <p:nvPr/>
        </p:nvGrpSpPr>
        <p:grpSpPr>
          <a:xfrm>
            <a:off x="-4095247" y="0"/>
            <a:ext cx="2853618" cy="6858000"/>
            <a:chOff x="1910401" y="0"/>
            <a:chExt cx="2853618" cy="6858000"/>
          </a:xfrm>
        </p:grpSpPr>
        <p:grpSp>
          <p:nvGrpSpPr>
            <p:cNvPr id="104" name="Group 103">
              <a:extLst>
                <a:ext uri="{FF2B5EF4-FFF2-40B4-BE49-F238E27FC236}">
                  <a16:creationId xmlns:a16="http://schemas.microsoft.com/office/drawing/2014/main" id="{B0B9005C-23EF-9342-A98F-0D607837CEBB}"/>
                </a:ext>
              </a:extLst>
            </p:cNvPr>
            <p:cNvGrpSpPr/>
            <p:nvPr/>
          </p:nvGrpSpPr>
          <p:grpSpPr>
            <a:xfrm>
              <a:off x="2051999" y="0"/>
              <a:ext cx="2712020" cy="6858000"/>
              <a:chOff x="2051999" y="0"/>
              <a:chExt cx="2712020" cy="6858000"/>
            </a:xfrm>
            <a:solidFill>
              <a:schemeClr val="accent1">
                <a:lumMod val="60000"/>
                <a:lumOff val="40000"/>
              </a:schemeClr>
            </a:solidFill>
          </p:grpSpPr>
          <p:sp>
            <p:nvSpPr>
              <p:cNvPr id="110" name="Rectangle 109">
                <a:extLst>
                  <a:ext uri="{FF2B5EF4-FFF2-40B4-BE49-F238E27FC236}">
                    <a16:creationId xmlns:a16="http://schemas.microsoft.com/office/drawing/2014/main" id="{2740E328-2238-735E-0ABD-9D21538A72E9}"/>
                  </a:ext>
                </a:extLst>
              </p:cNvPr>
              <p:cNvSpPr/>
              <p:nvPr/>
            </p:nvSpPr>
            <p:spPr>
              <a:xfrm>
                <a:off x="2051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1" name="Isosceles Triangle 110">
                <a:extLst>
                  <a:ext uri="{FF2B5EF4-FFF2-40B4-BE49-F238E27FC236}">
                    <a16:creationId xmlns:a16="http://schemas.microsoft.com/office/drawing/2014/main" id="{E5EA74E3-518A-7B28-CBDF-242610FC188E}"/>
                  </a:ext>
                </a:extLst>
              </p:cNvPr>
              <p:cNvSpPr/>
              <p:nvPr/>
            </p:nvSpPr>
            <p:spPr>
              <a:xfrm rot="5400000">
                <a:off x="3673381" y="573158"/>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105" name="TextBox 104">
              <a:extLst>
                <a:ext uri="{FF2B5EF4-FFF2-40B4-BE49-F238E27FC236}">
                  <a16:creationId xmlns:a16="http://schemas.microsoft.com/office/drawing/2014/main" id="{5798E6FF-ABD3-BB6E-E3D6-E9E1E8286C2F}"/>
                </a:ext>
              </a:extLst>
            </p:cNvPr>
            <p:cNvSpPr txBox="1"/>
            <p:nvPr/>
          </p:nvSpPr>
          <p:spPr>
            <a:xfrm>
              <a:off x="2898466" y="487666"/>
              <a:ext cx="509540" cy="830997"/>
            </a:xfrm>
            <a:prstGeom prst="rect">
              <a:avLst/>
            </a:prstGeom>
            <a:noFill/>
          </p:spPr>
          <p:txBody>
            <a:bodyPr wrap="square" rtlCol="0">
              <a:spAutoFit/>
            </a:bodyPr>
            <a:lstStyle/>
            <a:p>
              <a:r>
                <a:rPr lang="fr-FR" sz="4800" b="1" noProof="0" dirty="0">
                  <a:solidFill>
                    <a:schemeClr val="bg1"/>
                  </a:solidFill>
                  <a:latin typeface="Aptos" panose="020B0004020202020204" pitchFamily="34" charset="0"/>
                </a:rPr>
                <a:t>2</a:t>
              </a:r>
              <a:endParaRPr lang="fr-FR" sz="4000" b="1" noProof="0" dirty="0">
                <a:solidFill>
                  <a:schemeClr val="bg1"/>
                </a:solidFill>
                <a:latin typeface="Aptos" panose="020B0004020202020204" pitchFamily="34" charset="0"/>
              </a:endParaRPr>
            </a:p>
          </p:txBody>
        </p:sp>
        <p:sp>
          <p:nvSpPr>
            <p:cNvPr id="106" name="Rectangle 105">
              <a:extLst>
                <a:ext uri="{FF2B5EF4-FFF2-40B4-BE49-F238E27FC236}">
                  <a16:creationId xmlns:a16="http://schemas.microsoft.com/office/drawing/2014/main" id="{B1ADBC4C-A203-7DFC-FD25-A947A1FED4ED}"/>
                </a:ext>
              </a:extLst>
            </p:cNvPr>
            <p:cNvSpPr/>
            <p:nvPr/>
          </p:nvSpPr>
          <p:spPr>
            <a:xfrm>
              <a:off x="2186977"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07" name="TextBox 106">
              <a:extLst>
                <a:ext uri="{FF2B5EF4-FFF2-40B4-BE49-F238E27FC236}">
                  <a16:creationId xmlns:a16="http://schemas.microsoft.com/office/drawing/2014/main" id="{1E3726C5-CC2B-055D-3C25-04E7F5082661}"/>
                </a:ext>
              </a:extLst>
            </p:cNvPr>
            <p:cNvSpPr txBox="1"/>
            <p:nvPr/>
          </p:nvSpPr>
          <p:spPr>
            <a:xfrm>
              <a:off x="1910401" y="2055958"/>
              <a:ext cx="2295145" cy="707886"/>
            </a:xfrm>
            <a:prstGeom prst="rect">
              <a:avLst/>
            </a:prstGeom>
            <a:noFill/>
          </p:spPr>
          <p:txBody>
            <a:bodyPr wrap="square" rtlCol="0">
              <a:spAutoFit/>
            </a:bodyPr>
            <a:lstStyle/>
            <a:p>
              <a:pPr algn="ctr"/>
              <a:r>
                <a:rPr lang="fr-FR" sz="2000" noProof="0" dirty="0">
                  <a:solidFill>
                    <a:schemeClr val="bg1"/>
                  </a:solidFill>
                  <a:latin typeface="Bahnschrift SemiBold" panose="020B0502040204020203" pitchFamily="34" charset="0"/>
                </a:rPr>
                <a:t>ANALYSE DES RISQUES </a:t>
              </a:r>
            </a:p>
          </p:txBody>
        </p:sp>
        <p:sp>
          <p:nvSpPr>
            <p:cNvPr id="108" name="TextBox 107">
              <a:extLst>
                <a:ext uri="{FF2B5EF4-FFF2-40B4-BE49-F238E27FC236}">
                  <a16:creationId xmlns:a16="http://schemas.microsoft.com/office/drawing/2014/main" id="{716DE561-ADC9-A9EB-975B-FFA7F2228C5F}"/>
                </a:ext>
              </a:extLst>
            </p:cNvPr>
            <p:cNvSpPr txBox="1"/>
            <p:nvPr/>
          </p:nvSpPr>
          <p:spPr>
            <a:xfrm>
              <a:off x="2065004" y="3989219"/>
              <a:ext cx="2094775" cy="2246769"/>
            </a:xfrm>
            <a:prstGeom prst="rect">
              <a:avLst/>
            </a:prstGeom>
            <a:noFill/>
          </p:spPr>
          <p:txBody>
            <a:bodyPr wrap="square" rtlCol="0">
              <a:spAutoFit/>
            </a:bodyPr>
            <a:lstStyle/>
            <a:p>
              <a:r>
                <a:rPr lang="fr-FR" sz="1400" b="1" noProof="0" dirty="0">
                  <a:solidFill>
                    <a:schemeClr val="bg1"/>
                  </a:solidFill>
                  <a:latin typeface="Aptos" panose="020B0004020202020204" pitchFamily="34" charset="0"/>
                </a:rPr>
                <a:t>Modèle de Menaces </a:t>
              </a: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Surface d’Attaque </a:t>
              </a: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Analyse des Risques (Méthode DREAD) </a:t>
              </a:r>
            </a:p>
          </p:txBody>
        </p:sp>
        <p:sp>
          <p:nvSpPr>
            <p:cNvPr id="109" name="Rectangle 108">
              <a:extLst>
                <a:ext uri="{FF2B5EF4-FFF2-40B4-BE49-F238E27FC236}">
                  <a16:creationId xmlns:a16="http://schemas.microsoft.com/office/drawing/2014/main" id="{6510C0E4-1808-B47C-5D67-9898617E163E}"/>
                </a:ext>
              </a:extLst>
            </p:cNvPr>
            <p:cNvSpPr/>
            <p:nvPr/>
          </p:nvSpPr>
          <p:spPr>
            <a:xfrm>
              <a:off x="2186977" y="3041445"/>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grpSp>
        <p:nvGrpSpPr>
          <p:cNvPr id="112" name="Group 111">
            <a:extLst>
              <a:ext uri="{FF2B5EF4-FFF2-40B4-BE49-F238E27FC236}">
                <a16:creationId xmlns:a16="http://schemas.microsoft.com/office/drawing/2014/main" id="{B8692805-9E80-6C9A-6712-C0E18CB7A6C8}"/>
              </a:ext>
            </a:extLst>
          </p:cNvPr>
          <p:cNvGrpSpPr/>
          <p:nvPr/>
        </p:nvGrpSpPr>
        <p:grpSpPr>
          <a:xfrm>
            <a:off x="-4136426" y="0"/>
            <a:ext cx="2820185" cy="6858000"/>
            <a:chOff x="-108168" y="0"/>
            <a:chExt cx="2820185" cy="6858000"/>
          </a:xfrm>
        </p:grpSpPr>
        <p:grpSp>
          <p:nvGrpSpPr>
            <p:cNvPr id="113" name="Group 112">
              <a:extLst>
                <a:ext uri="{FF2B5EF4-FFF2-40B4-BE49-F238E27FC236}">
                  <a16:creationId xmlns:a16="http://schemas.microsoft.com/office/drawing/2014/main" id="{11998D11-AD0D-CECC-A96C-A87064C5AC42}"/>
                </a:ext>
              </a:extLst>
            </p:cNvPr>
            <p:cNvGrpSpPr/>
            <p:nvPr/>
          </p:nvGrpSpPr>
          <p:grpSpPr>
            <a:xfrm>
              <a:off x="-1" y="0"/>
              <a:ext cx="2712018" cy="6858000"/>
              <a:chOff x="-1" y="0"/>
              <a:chExt cx="2712018" cy="6858000"/>
            </a:xfrm>
            <a:solidFill>
              <a:schemeClr val="accent1">
                <a:lumMod val="40000"/>
                <a:lumOff val="60000"/>
              </a:schemeClr>
            </a:solidFill>
          </p:grpSpPr>
          <p:sp>
            <p:nvSpPr>
              <p:cNvPr id="166" name="Rectangle 165">
                <a:extLst>
                  <a:ext uri="{FF2B5EF4-FFF2-40B4-BE49-F238E27FC236}">
                    <a16:creationId xmlns:a16="http://schemas.microsoft.com/office/drawing/2014/main" id="{38E9B00A-11EE-7522-CB06-931293F173AE}"/>
                  </a:ext>
                </a:extLst>
              </p:cNvPr>
              <p:cNvSpPr/>
              <p:nvPr/>
            </p:nvSpPr>
            <p:spPr>
              <a:xfrm>
                <a:off x="-1"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67" name="Isosceles Triangle 166">
                <a:extLst>
                  <a:ext uri="{FF2B5EF4-FFF2-40B4-BE49-F238E27FC236}">
                    <a16:creationId xmlns:a16="http://schemas.microsoft.com/office/drawing/2014/main" id="{EF172E50-A36A-4EFE-192F-2ADA9CA70430}"/>
                  </a:ext>
                </a:extLst>
              </p:cNvPr>
              <p:cNvSpPr/>
              <p:nvPr/>
            </p:nvSpPr>
            <p:spPr>
              <a:xfrm rot="5400000">
                <a:off x="1621379" y="573157"/>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
          <p:nvSpPr>
            <p:cNvPr id="114" name="TextBox 113">
              <a:extLst>
                <a:ext uri="{FF2B5EF4-FFF2-40B4-BE49-F238E27FC236}">
                  <a16:creationId xmlns:a16="http://schemas.microsoft.com/office/drawing/2014/main" id="{063C7EA1-F62B-24FB-8904-E6D00CED5A1C}"/>
                </a:ext>
              </a:extLst>
            </p:cNvPr>
            <p:cNvSpPr txBox="1"/>
            <p:nvPr/>
          </p:nvSpPr>
          <p:spPr>
            <a:xfrm>
              <a:off x="771229" y="487666"/>
              <a:ext cx="509540" cy="830997"/>
            </a:xfrm>
            <a:prstGeom prst="rect">
              <a:avLst/>
            </a:prstGeom>
            <a:noFill/>
          </p:spPr>
          <p:txBody>
            <a:bodyPr wrap="square" rtlCol="0">
              <a:spAutoFit/>
            </a:bodyPr>
            <a:lstStyle/>
            <a:p>
              <a:r>
                <a:rPr lang="fr-FR" sz="4800" b="1" noProof="0" dirty="0">
                  <a:solidFill>
                    <a:schemeClr val="bg1"/>
                  </a:solidFill>
                  <a:latin typeface="Aptos" panose="020B0004020202020204" pitchFamily="34" charset="0"/>
                </a:rPr>
                <a:t>1</a:t>
              </a:r>
              <a:endParaRPr lang="fr-FR" sz="4000" b="1" noProof="0" dirty="0">
                <a:solidFill>
                  <a:schemeClr val="bg1"/>
                </a:solidFill>
                <a:latin typeface="Aptos" panose="020B0004020202020204" pitchFamily="34" charset="0"/>
              </a:endParaRPr>
            </a:p>
          </p:txBody>
        </p:sp>
        <p:sp>
          <p:nvSpPr>
            <p:cNvPr id="115" name="Rectangle 114">
              <a:extLst>
                <a:ext uri="{FF2B5EF4-FFF2-40B4-BE49-F238E27FC236}">
                  <a16:creationId xmlns:a16="http://schemas.microsoft.com/office/drawing/2014/main" id="{E6F3D155-15D8-A004-2333-E3F861E5F358}"/>
                </a:ext>
              </a:extLst>
            </p:cNvPr>
            <p:cNvSpPr/>
            <p:nvPr/>
          </p:nvSpPr>
          <p:spPr>
            <a:xfrm>
              <a:off x="11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116" name="TextBox 115">
              <a:extLst>
                <a:ext uri="{FF2B5EF4-FFF2-40B4-BE49-F238E27FC236}">
                  <a16:creationId xmlns:a16="http://schemas.microsoft.com/office/drawing/2014/main" id="{02046957-9099-7511-22CD-E3F20678484D}"/>
                </a:ext>
              </a:extLst>
            </p:cNvPr>
            <p:cNvSpPr txBox="1"/>
            <p:nvPr/>
          </p:nvSpPr>
          <p:spPr>
            <a:xfrm>
              <a:off x="-108168" y="2174117"/>
              <a:ext cx="2295145" cy="400110"/>
            </a:xfrm>
            <a:prstGeom prst="rect">
              <a:avLst/>
            </a:prstGeom>
            <a:noFill/>
          </p:spPr>
          <p:txBody>
            <a:bodyPr wrap="square" rtlCol="0">
              <a:spAutoFit/>
            </a:bodyPr>
            <a:lstStyle/>
            <a:p>
              <a:pPr algn="ctr"/>
              <a:r>
                <a:rPr lang="fr-FR" sz="2000" noProof="0" dirty="0">
                  <a:solidFill>
                    <a:schemeClr val="bg1"/>
                  </a:solidFill>
                  <a:latin typeface="Bahnschrift SemiBold" panose="020B0502040204020203" pitchFamily="34" charset="0"/>
                </a:rPr>
                <a:t>INTRODUCTION </a:t>
              </a:r>
            </a:p>
          </p:txBody>
        </p:sp>
        <p:sp>
          <p:nvSpPr>
            <p:cNvPr id="117" name="TextBox 116">
              <a:extLst>
                <a:ext uri="{FF2B5EF4-FFF2-40B4-BE49-F238E27FC236}">
                  <a16:creationId xmlns:a16="http://schemas.microsoft.com/office/drawing/2014/main" id="{58EB3B62-E9FC-878C-6214-363AE9CDC3D1}"/>
                </a:ext>
              </a:extLst>
            </p:cNvPr>
            <p:cNvSpPr txBox="1"/>
            <p:nvPr/>
          </p:nvSpPr>
          <p:spPr>
            <a:xfrm>
              <a:off x="68693" y="4499846"/>
              <a:ext cx="2295145" cy="1384995"/>
            </a:xfrm>
            <a:prstGeom prst="rect">
              <a:avLst/>
            </a:prstGeom>
            <a:noFill/>
          </p:spPr>
          <p:txBody>
            <a:bodyPr wrap="square" rtlCol="0">
              <a:spAutoFit/>
            </a:bodyPr>
            <a:lstStyle/>
            <a:p>
              <a:r>
                <a:rPr lang="fr-FR" sz="1400" b="1" noProof="0" dirty="0">
                  <a:solidFill>
                    <a:schemeClr val="bg1"/>
                  </a:solidFill>
                  <a:latin typeface="Aptos" panose="020B0004020202020204" pitchFamily="34" charset="0"/>
                </a:rPr>
                <a:t>Objectif de projet</a:t>
              </a: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endParaRPr lang="fr-FR" sz="1400" b="1" noProof="0" dirty="0">
                <a:solidFill>
                  <a:schemeClr val="bg1"/>
                </a:solidFill>
                <a:latin typeface="Aptos" panose="020B0004020202020204" pitchFamily="34" charset="0"/>
              </a:endParaRPr>
            </a:p>
            <a:p>
              <a:r>
                <a:rPr lang="fr-FR" sz="1400" b="1" noProof="0" dirty="0">
                  <a:solidFill>
                    <a:schemeClr val="bg1"/>
                  </a:solidFill>
                  <a:latin typeface="Aptos" panose="020B0004020202020204" pitchFamily="34" charset="0"/>
                </a:rPr>
                <a:t>Structure de projet</a:t>
              </a:r>
            </a:p>
          </p:txBody>
        </p:sp>
        <p:sp>
          <p:nvSpPr>
            <p:cNvPr id="165" name="Rectangle 164">
              <a:extLst>
                <a:ext uri="{FF2B5EF4-FFF2-40B4-BE49-F238E27FC236}">
                  <a16:creationId xmlns:a16="http://schemas.microsoft.com/office/drawing/2014/main" id="{CE00F6AB-78FE-C7D9-B67E-29F40C5CDA3C}"/>
                </a:ext>
              </a:extLst>
            </p:cNvPr>
            <p:cNvSpPr/>
            <p:nvPr/>
          </p:nvSpPr>
          <p:spPr>
            <a:xfrm>
              <a:off x="134285" y="3041446"/>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grpSp>
    </p:spTree>
    <p:extLst>
      <p:ext uri="{BB962C8B-B14F-4D97-AF65-F5344CB8AC3E}">
        <p14:creationId xmlns:p14="http://schemas.microsoft.com/office/powerpoint/2010/main" val="861639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77">
            <a:extLst>
              <a:ext uri="{FF2B5EF4-FFF2-40B4-BE49-F238E27FC236}">
                <a16:creationId xmlns:a16="http://schemas.microsoft.com/office/drawing/2014/main" id="{7AEFDD93-E32F-30D9-8125-9D51FE76DE95}"/>
              </a:ext>
            </a:extLst>
          </p:cNvPr>
          <p:cNvSpPr txBox="1"/>
          <p:nvPr/>
        </p:nvSpPr>
        <p:spPr>
          <a:xfrm>
            <a:off x="4000500" y="2775537"/>
            <a:ext cx="4191000" cy="1446550"/>
          </a:xfrm>
          <a:prstGeom prst="rect">
            <a:avLst/>
          </a:prstGeom>
          <a:noFill/>
        </p:spPr>
        <p:txBody>
          <a:bodyPr wrap="square" rtlCol="0">
            <a:spAutoFit/>
          </a:bodyPr>
          <a:lstStyle/>
          <a:p>
            <a:r>
              <a:rPr lang="en-US" sz="8800" dirty="0">
                <a:latin typeface="Cooper Black" panose="0208090404030B020404" pitchFamily="18" charset="0"/>
              </a:rPr>
              <a:t>PLAN :</a:t>
            </a:r>
          </a:p>
        </p:txBody>
      </p:sp>
      <p:pic>
        <p:nvPicPr>
          <p:cNvPr id="197" name="Picture 196">
            <a:extLst>
              <a:ext uri="{FF2B5EF4-FFF2-40B4-BE49-F238E27FC236}">
                <a16:creationId xmlns:a16="http://schemas.microsoft.com/office/drawing/2014/main" id="{0A15D753-8923-B902-D135-716D6395E1F5}"/>
              </a:ext>
            </a:extLst>
          </p:cNvPr>
          <p:cNvPicPr>
            <a:picLocks noChangeAspect="1"/>
          </p:cNvPicPr>
          <p:nvPr/>
        </p:nvPicPr>
        <p:blipFill>
          <a:blip r:embed="rId3"/>
          <a:stretch>
            <a:fillRect/>
          </a:stretch>
        </p:blipFill>
        <p:spPr>
          <a:xfrm rot="20164509">
            <a:off x="3477919" y="2221232"/>
            <a:ext cx="944401" cy="944401"/>
          </a:xfrm>
          <a:prstGeom prst="rect">
            <a:avLst/>
          </a:prstGeom>
          <a:noFill/>
          <a:ln>
            <a:noFill/>
          </a:ln>
        </p:spPr>
      </p:pic>
      <p:sp>
        <p:nvSpPr>
          <p:cNvPr id="11" name="TextBox 10">
            <a:extLst>
              <a:ext uri="{FF2B5EF4-FFF2-40B4-BE49-F238E27FC236}">
                <a16:creationId xmlns:a16="http://schemas.microsoft.com/office/drawing/2014/main" id="{AE3DFF20-6A00-2895-C360-2C91CECC77AB}"/>
              </a:ext>
            </a:extLst>
          </p:cNvPr>
          <p:cNvSpPr txBox="1"/>
          <p:nvPr/>
        </p:nvSpPr>
        <p:spPr>
          <a:xfrm>
            <a:off x="-2763137" y="5751834"/>
            <a:ext cx="3056142" cy="1015663"/>
          </a:xfrm>
          <a:prstGeom prst="rect">
            <a:avLst/>
          </a:prstGeom>
          <a:noFill/>
        </p:spPr>
        <p:txBody>
          <a:bodyPr wrap="square" rtlCol="0">
            <a:spAutoFit/>
          </a:bodyPr>
          <a:lstStyle/>
          <a:p>
            <a:r>
              <a:rPr lang="fr-FR" sz="2000" b="1" dirty="0">
                <a:latin typeface="Aptos" panose="020B0004020202020204" pitchFamily="34" charset="0"/>
              </a:rPr>
              <a:t>Réaliser par:</a:t>
            </a:r>
          </a:p>
          <a:p>
            <a:r>
              <a:rPr lang="en-US" sz="2000" b="1" dirty="0"/>
              <a:t>ABELLAH M’RAK</a:t>
            </a:r>
          </a:p>
          <a:p>
            <a:r>
              <a:rPr lang="en-US" sz="2000" b="1" dirty="0"/>
              <a:t>IKRAM MOURABIT</a:t>
            </a:r>
          </a:p>
        </p:txBody>
      </p:sp>
      <p:sp>
        <p:nvSpPr>
          <p:cNvPr id="12" name="TextBox 11">
            <a:extLst>
              <a:ext uri="{FF2B5EF4-FFF2-40B4-BE49-F238E27FC236}">
                <a16:creationId xmlns:a16="http://schemas.microsoft.com/office/drawing/2014/main" id="{98B0C3B8-46E2-D66F-4FAE-CBAD4C626E3E}"/>
              </a:ext>
            </a:extLst>
          </p:cNvPr>
          <p:cNvSpPr txBox="1"/>
          <p:nvPr/>
        </p:nvSpPr>
        <p:spPr>
          <a:xfrm>
            <a:off x="13369947" y="2394323"/>
            <a:ext cx="6699319" cy="2554545"/>
          </a:xfrm>
          <a:prstGeom prst="rect">
            <a:avLst/>
          </a:prstGeom>
          <a:noFill/>
        </p:spPr>
        <p:txBody>
          <a:bodyPr wrap="square">
            <a:spAutoFit/>
          </a:bodyPr>
          <a:lstStyle/>
          <a:p>
            <a:pPr algn="ctr"/>
            <a:r>
              <a:rPr lang="fr-FR" sz="4000" dirty="0">
                <a:latin typeface="Cooper Black" panose="0208090404030B020404" pitchFamily="18" charset="0"/>
                <a:ea typeface="IBM Plex Sans Medium" pitchFamily="34" charset="-122"/>
                <a:cs typeface="IBM Plex Sans Medium" pitchFamily="34" charset="-120"/>
              </a:rPr>
              <a:t>Agadir Tsunami-</a:t>
            </a:r>
            <a:r>
              <a:rPr lang="fr-FR" sz="4000" dirty="0" err="1">
                <a:latin typeface="Cooper Black" panose="0208090404030B020404" pitchFamily="18" charset="0"/>
                <a:ea typeface="IBM Plex Sans Medium" pitchFamily="34" charset="-122"/>
                <a:cs typeface="IBM Plex Sans Medium" pitchFamily="34" charset="-120"/>
              </a:rPr>
              <a:t>Ready</a:t>
            </a:r>
            <a:endParaRPr lang="fr-FR" sz="4000" dirty="0">
              <a:latin typeface="Cooper Black" panose="0208090404030B020404" pitchFamily="18" charset="0"/>
              <a:ea typeface="IBM Plex Sans Medium" pitchFamily="34" charset="-122"/>
              <a:cs typeface="IBM Plex Sans Medium" pitchFamily="34" charset="-120"/>
            </a:endParaRPr>
          </a:p>
          <a:p>
            <a:pPr algn="ctr"/>
            <a:r>
              <a:rPr lang="fr-FR" sz="4000" dirty="0">
                <a:latin typeface="Cooper Black" panose="0208090404030B020404" pitchFamily="18" charset="0"/>
                <a:ea typeface="IBM Plex Sans Medium" pitchFamily="34" charset="-122"/>
                <a:cs typeface="IBM Plex Sans Medium" pitchFamily="34" charset="-120"/>
              </a:rPr>
              <a:t>(Gestion des routes d’évacuation et des sirènes d’alerte)</a:t>
            </a:r>
          </a:p>
        </p:txBody>
      </p:sp>
      <p:grpSp>
        <p:nvGrpSpPr>
          <p:cNvPr id="13" name="Group 12">
            <a:extLst>
              <a:ext uri="{FF2B5EF4-FFF2-40B4-BE49-F238E27FC236}">
                <a16:creationId xmlns:a16="http://schemas.microsoft.com/office/drawing/2014/main" id="{5022B0AD-646B-D6DB-B9CD-0F6B88B5F1B4}"/>
              </a:ext>
            </a:extLst>
          </p:cNvPr>
          <p:cNvGrpSpPr/>
          <p:nvPr/>
        </p:nvGrpSpPr>
        <p:grpSpPr>
          <a:xfrm>
            <a:off x="6635496" y="7976196"/>
            <a:ext cx="7635240" cy="7466544"/>
            <a:chOff x="6626352" y="-550584"/>
            <a:chExt cx="7635240" cy="7466544"/>
          </a:xfrm>
          <a:blipFill dpi="0" rotWithShape="1">
            <a:blip r:embed="rId4"/>
            <a:srcRect/>
            <a:stretch>
              <a:fillRect/>
            </a:stretch>
          </a:blipFill>
        </p:grpSpPr>
        <p:grpSp>
          <p:nvGrpSpPr>
            <p:cNvPr id="14" name="Group 13">
              <a:extLst>
                <a:ext uri="{FF2B5EF4-FFF2-40B4-BE49-F238E27FC236}">
                  <a16:creationId xmlns:a16="http://schemas.microsoft.com/office/drawing/2014/main" id="{937DF004-7B03-85AC-0EA3-6C85E3F58530}"/>
                </a:ext>
              </a:extLst>
            </p:cNvPr>
            <p:cNvGrpSpPr/>
            <p:nvPr/>
          </p:nvGrpSpPr>
          <p:grpSpPr>
            <a:xfrm>
              <a:off x="9912096" y="868680"/>
              <a:ext cx="2663952" cy="3200136"/>
              <a:chOff x="9838944" y="868680"/>
              <a:chExt cx="2663952" cy="3200136"/>
            </a:xfrm>
            <a:grpFill/>
          </p:grpSpPr>
          <p:sp>
            <p:nvSpPr>
              <p:cNvPr id="57" name="Hexagon 56">
                <a:extLst>
                  <a:ext uri="{FF2B5EF4-FFF2-40B4-BE49-F238E27FC236}">
                    <a16:creationId xmlns:a16="http://schemas.microsoft.com/office/drawing/2014/main" id="{548ADEA7-36B5-E567-9C76-5931618050DB}"/>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a:extLst>
                  <a:ext uri="{FF2B5EF4-FFF2-40B4-BE49-F238E27FC236}">
                    <a16:creationId xmlns:a16="http://schemas.microsoft.com/office/drawing/2014/main" id="{CCE93D2E-EAE7-47FB-9746-722F0C1A3D39}"/>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a:extLst>
                  <a:ext uri="{FF2B5EF4-FFF2-40B4-BE49-F238E27FC236}">
                    <a16:creationId xmlns:a16="http://schemas.microsoft.com/office/drawing/2014/main" id="{589A3B06-8199-1360-E53B-66A594645406}"/>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a:extLst>
                  <a:ext uri="{FF2B5EF4-FFF2-40B4-BE49-F238E27FC236}">
                    <a16:creationId xmlns:a16="http://schemas.microsoft.com/office/drawing/2014/main" id="{8D8EAD08-D414-F569-57D3-8DB42D1A5983}"/>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a:extLst>
                  <a:ext uri="{FF2B5EF4-FFF2-40B4-BE49-F238E27FC236}">
                    <a16:creationId xmlns:a16="http://schemas.microsoft.com/office/drawing/2014/main" id="{8E0AA686-7C6A-2D18-A734-8CC1E61329F7}"/>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a:extLst>
                  <a:ext uri="{FF2B5EF4-FFF2-40B4-BE49-F238E27FC236}">
                    <a16:creationId xmlns:a16="http://schemas.microsoft.com/office/drawing/2014/main" id="{37C418E4-BC90-B3B8-2B3A-F5FE0DF471EC}"/>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DE29CE4E-28E3-2554-4C11-35870966DCCC}"/>
                </a:ext>
              </a:extLst>
            </p:cNvPr>
            <p:cNvGrpSpPr/>
            <p:nvPr/>
          </p:nvGrpSpPr>
          <p:grpSpPr>
            <a:xfrm>
              <a:off x="9113520" y="2296824"/>
              <a:ext cx="2663952" cy="3200136"/>
              <a:chOff x="9838944" y="868680"/>
              <a:chExt cx="2663952" cy="3200136"/>
            </a:xfrm>
            <a:grpFill/>
          </p:grpSpPr>
          <p:sp>
            <p:nvSpPr>
              <p:cNvPr id="51" name="Hexagon 50">
                <a:extLst>
                  <a:ext uri="{FF2B5EF4-FFF2-40B4-BE49-F238E27FC236}">
                    <a16:creationId xmlns:a16="http://schemas.microsoft.com/office/drawing/2014/main" id="{60015B50-AF4D-C931-F206-98C59614C80A}"/>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a:extLst>
                  <a:ext uri="{FF2B5EF4-FFF2-40B4-BE49-F238E27FC236}">
                    <a16:creationId xmlns:a16="http://schemas.microsoft.com/office/drawing/2014/main" id="{D6DAEDF5-B51D-DFEA-C3F1-E73334C7782B}"/>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a:extLst>
                  <a:ext uri="{FF2B5EF4-FFF2-40B4-BE49-F238E27FC236}">
                    <a16:creationId xmlns:a16="http://schemas.microsoft.com/office/drawing/2014/main" id="{A1DC7F0F-3682-1DA0-23E3-D4F36ECA9592}"/>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a:extLst>
                  <a:ext uri="{FF2B5EF4-FFF2-40B4-BE49-F238E27FC236}">
                    <a16:creationId xmlns:a16="http://schemas.microsoft.com/office/drawing/2014/main" id="{DB8D2DCE-3E8F-AC1D-32F7-F284889ECB8C}"/>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a:extLst>
                  <a:ext uri="{FF2B5EF4-FFF2-40B4-BE49-F238E27FC236}">
                    <a16:creationId xmlns:a16="http://schemas.microsoft.com/office/drawing/2014/main" id="{4DBDC1DE-68CC-DD2F-9C0B-AB905173613B}"/>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a:extLst>
                  <a:ext uri="{FF2B5EF4-FFF2-40B4-BE49-F238E27FC236}">
                    <a16:creationId xmlns:a16="http://schemas.microsoft.com/office/drawing/2014/main" id="{AAA0B789-FBA4-17C1-5A24-F09B441EC28C}"/>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9364FF3-9C4E-4CC9-5551-42CCF6DCC07B}"/>
                </a:ext>
              </a:extLst>
            </p:cNvPr>
            <p:cNvGrpSpPr/>
            <p:nvPr/>
          </p:nvGrpSpPr>
          <p:grpSpPr>
            <a:xfrm>
              <a:off x="8293608" y="3715824"/>
              <a:ext cx="2663952" cy="3200136"/>
              <a:chOff x="9838944" y="868680"/>
              <a:chExt cx="2663952" cy="3200136"/>
            </a:xfrm>
            <a:grpFill/>
          </p:grpSpPr>
          <p:sp>
            <p:nvSpPr>
              <p:cNvPr id="45" name="Hexagon 44">
                <a:extLst>
                  <a:ext uri="{FF2B5EF4-FFF2-40B4-BE49-F238E27FC236}">
                    <a16:creationId xmlns:a16="http://schemas.microsoft.com/office/drawing/2014/main" id="{04E97F9C-8BBE-C884-E253-70B178F44DA7}"/>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Hexagon 45">
                <a:extLst>
                  <a:ext uri="{FF2B5EF4-FFF2-40B4-BE49-F238E27FC236}">
                    <a16:creationId xmlns:a16="http://schemas.microsoft.com/office/drawing/2014/main" id="{EB1B19B4-2A11-2ABF-386C-4CCC0E914904}"/>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Hexagon 46">
                <a:extLst>
                  <a:ext uri="{FF2B5EF4-FFF2-40B4-BE49-F238E27FC236}">
                    <a16:creationId xmlns:a16="http://schemas.microsoft.com/office/drawing/2014/main" id="{947F1DB4-6FCD-8E8D-0950-AA8F653C9A09}"/>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Hexagon 47">
                <a:extLst>
                  <a:ext uri="{FF2B5EF4-FFF2-40B4-BE49-F238E27FC236}">
                    <a16:creationId xmlns:a16="http://schemas.microsoft.com/office/drawing/2014/main" id="{52B8627D-3905-98D0-795A-9AFEA01E0076}"/>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Hexagon 48">
                <a:extLst>
                  <a:ext uri="{FF2B5EF4-FFF2-40B4-BE49-F238E27FC236}">
                    <a16:creationId xmlns:a16="http://schemas.microsoft.com/office/drawing/2014/main" id="{DA81CE2A-386E-BA38-5E56-1D8AF6D2B263}"/>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Hexagon 49">
                <a:extLst>
                  <a:ext uri="{FF2B5EF4-FFF2-40B4-BE49-F238E27FC236}">
                    <a16:creationId xmlns:a16="http://schemas.microsoft.com/office/drawing/2014/main" id="{B0160814-A3CA-115A-F6D0-5B7EBA9D3A20}"/>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881681D-315F-43C1-74B6-3B7B3C9DC9D9}"/>
                </a:ext>
              </a:extLst>
            </p:cNvPr>
            <p:cNvGrpSpPr/>
            <p:nvPr/>
          </p:nvGrpSpPr>
          <p:grpSpPr>
            <a:xfrm>
              <a:off x="11597640" y="3627960"/>
              <a:ext cx="2663952" cy="3200136"/>
              <a:chOff x="9838944" y="868680"/>
              <a:chExt cx="2663952" cy="3200136"/>
            </a:xfrm>
            <a:grpFill/>
          </p:grpSpPr>
          <p:sp>
            <p:nvSpPr>
              <p:cNvPr id="39" name="Hexagon 38">
                <a:extLst>
                  <a:ext uri="{FF2B5EF4-FFF2-40B4-BE49-F238E27FC236}">
                    <a16:creationId xmlns:a16="http://schemas.microsoft.com/office/drawing/2014/main" id="{0371E80E-B1DD-C320-65DB-17DFA1F799B8}"/>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Hexagon 39">
                <a:extLst>
                  <a:ext uri="{FF2B5EF4-FFF2-40B4-BE49-F238E27FC236}">
                    <a16:creationId xmlns:a16="http://schemas.microsoft.com/office/drawing/2014/main" id="{81FAEBC0-C87D-E6CE-9116-86BD5637D39F}"/>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Hexagon 40">
                <a:extLst>
                  <a:ext uri="{FF2B5EF4-FFF2-40B4-BE49-F238E27FC236}">
                    <a16:creationId xmlns:a16="http://schemas.microsoft.com/office/drawing/2014/main" id="{3167A128-A563-9A1B-F7CD-16BB76A46DC6}"/>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Hexagon 41">
                <a:extLst>
                  <a:ext uri="{FF2B5EF4-FFF2-40B4-BE49-F238E27FC236}">
                    <a16:creationId xmlns:a16="http://schemas.microsoft.com/office/drawing/2014/main" id="{213D981D-CFC9-26AE-2A08-52477917B704}"/>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Hexagon 42">
                <a:extLst>
                  <a:ext uri="{FF2B5EF4-FFF2-40B4-BE49-F238E27FC236}">
                    <a16:creationId xmlns:a16="http://schemas.microsoft.com/office/drawing/2014/main" id="{DBB8494C-A471-FD7D-61A0-30FFB38A7A5F}"/>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Hexagon 43">
                <a:extLst>
                  <a:ext uri="{FF2B5EF4-FFF2-40B4-BE49-F238E27FC236}">
                    <a16:creationId xmlns:a16="http://schemas.microsoft.com/office/drawing/2014/main" id="{3FC9EE23-0351-A322-7587-C4F4C926226D}"/>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7933D25-AC37-05C9-F307-E88E3BAB7440}"/>
                </a:ext>
              </a:extLst>
            </p:cNvPr>
            <p:cNvGrpSpPr/>
            <p:nvPr/>
          </p:nvGrpSpPr>
          <p:grpSpPr>
            <a:xfrm>
              <a:off x="7449312" y="-470448"/>
              <a:ext cx="2663952" cy="3200136"/>
              <a:chOff x="9838944" y="868680"/>
              <a:chExt cx="2663952" cy="3200136"/>
            </a:xfrm>
            <a:grpFill/>
          </p:grpSpPr>
          <p:sp>
            <p:nvSpPr>
              <p:cNvPr id="33" name="Hexagon 32">
                <a:extLst>
                  <a:ext uri="{FF2B5EF4-FFF2-40B4-BE49-F238E27FC236}">
                    <a16:creationId xmlns:a16="http://schemas.microsoft.com/office/drawing/2014/main" id="{898B84BE-E466-BBD8-AB32-0E8648B83CBB}"/>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Hexagon 33">
                <a:extLst>
                  <a:ext uri="{FF2B5EF4-FFF2-40B4-BE49-F238E27FC236}">
                    <a16:creationId xmlns:a16="http://schemas.microsoft.com/office/drawing/2014/main" id="{ACB32708-3AAC-0479-A9CA-92A0440B66CB}"/>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Hexagon 34">
                <a:extLst>
                  <a:ext uri="{FF2B5EF4-FFF2-40B4-BE49-F238E27FC236}">
                    <a16:creationId xmlns:a16="http://schemas.microsoft.com/office/drawing/2014/main" id="{269234B0-7038-B90C-3895-9AAB8598D50D}"/>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Hexagon 35">
                <a:extLst>
                  <a:ext uri="{FF2B5EF4-FFF2-40B4-BE49-F238E27FC236}">
                    <a16:creationId xmlns:a16="http://schemas.microsoft.com/office/drawing/2014/main" id="{03FEC167-0708-3FB1-CB4B-BD95AB71B9C6}"/>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Hexagon 36">
                <a:extLst>
                  <a:ext uri="{FF2B5EF4-FFF2-40B4-BE49-F238E27FC236}">
                    <a16:creationId xmlns:a16="http://schemas.microsoft.com/office/drawing/2014/main" id="{1CB75791-8777-B976-C8ED-682D814DB434}"/>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Hexagon 37">
                <a:extLst>
                  <a:ext uri="{FF2B5EF4-FFF2-40B4-BE49-F238E27FC236}">
                    <a16:creationId xmlns:a16="http://schemas.microsoft.com/office/drawing/2014/main" id="{591D48E5-8588-3122-ECA8-FCBFF5000509}"/>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2F8B1862-48BF-2DF0-2966-4F1A56523030}"/>
                </a:ext>
              </a:extLst>
            </p:cNvPr>
            <p:cNvGrpSpPr/>
            <p:nvPr/>
          </p:nvGrpSpPr>
          <p:grpSpPr>
            <a:xfrm>
              <a:off x="10716768" y="-550584"/>
              <a:ext cx="2663952" cy="3200136"/>
              <a:chOff x="9838944" y="868680"/>
              <a:chExt cx="2663952" cy="3200136"/>
            </a:xfrm>
            <a:grpFill/>
          </p:grpSpPr>
          <p:sp>
            <p:nvSpPr>
              <p:cNvPr id="27" name="Hexagon 26">
                <a:extLst>
                  <a:ext uri="{FF2B5EF4-FFF2-40B4-BE49-F238E27FC236}">
                    <a16:creationId xmlns:a16="http://schemas.microsoft.com/office/drawing/2014/main" id="{53B84449-CA2C-CE92-E02A-86D784700DF3}"/>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Hexagon 27">
                <a:extLst>
                  <a:ext uri="{FF2B5EF4-FFF2-40B4-BE49-F238E27FC236}">
                    <a16:creationId xmlns:a16="http://schemas.microsoft.com/office/drawing/2014/main" id="{4285C427-61DB-CB48-3B29-4D5ADAA50C38}"/>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Hexagon 28">
                <a:extLst>
                  <a:ext uri="{FF2B5EF4-FFF2-40B4-BE49-F238E27FC236}">
                    <a16:creationId xmlns:a16="http://schemas.microsoft.com/office/drawing/2014/main" id="{7EDC8139-1D99-E7DE-0E32-B920856A6AE7}"/>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Hexagon 29">
                <a:extLst>
                  <a:ext uri="{FF2B5EF4-FFF2-40B4-BE49-F238E27FC236}">
                    <a16:creationId xmlns:a16="http://schemas.microsoft.com/office/drawing/2014/main" id="{58E68788-9C37-0FBB-11BD-580BF0FFD0A7}"/>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Hexagon 30">
                <a:extLst>
                  <a:ext uri="{FF2B5EF4-FFF2-40B4-BE49-F238E27FC236}">
                    <a16:creationId xmlns:a16="http://schemas.microsoft.com/office/drawing/2014/main" id="{AA6C35CE-3595-FD35-DF78-BFDB3BD2B521}"/>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Hexagon 31">
                <a:extLst>
                  <a:ext uri="{FF2B5EF4-FFF2-40B4-BE49-F238E27FC236}">
                    <a16:creationId xmlns:a16="http://schemas.microsoft.com/office/drawing/2014/main" id="{FC4CEC89-7BE8-15D8-D20D-08F612C7F066}"/>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8840464-A743-40D0-507A-408B22C9FB82}"/>
                </a:ext>
              </a:extLst>
            </p:cNvPr>
            <p:cNvGrpSpPr/>
            <p:nvPr/>
          </p:nvGrpSpPr>
          <p:grpSpPr>
            <a:xfrm>
              <a:off x="6626352" y="939360"/>
              <a:ext cx="2663952" cy="3200136"/>
              <a:chOff x="9838944" y="868680"/>
              <a:chExt cx="2663952" cy="3200136"/>
            </a:xfrm>
            <a:grpFill/>
          </p:grpSpPr>
          <p:sp>
            <p:nvSpPr>
              <p:cNvPr id="21" name="Hexagon 20">
                <a:extLst>
                  <a:ext uri="{FF2B5EF4-FFF2-40B4-BE49-F238E27FC236}">
                    <a16:creationId xmlns:a16="http://schemas.microsoft.com/office/drawing/2014/main" id="{4C85C947-8F4C-53DC-52CC-1FBADAE2F1C9}"/>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251BF904-A5A4-0E5B-9D8F-65A486B239D1}"/>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Hexagon 22">
                <a:extLst>
                  <a:ext uri="{FF2B5EF4-FFF2-40B4-BE49-F238E27FC236}">
                    <a16:creationId xmlns:a16="http://schemas.microsoft.com/office/drawing/2014/main" id="{06D11989-E6EE-020A-7C03-C7036646F651}"/>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44F3CD57-0994-7B7E-EA4F-55C2E4D878E4}"/>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6D7D1DD4-AB12-2C0D-6956-FBBB9A3A2C8F}"/>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7959FAFC-00DA-24F7-8E2A-20FB0FD0CF32}"/>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 name="Group 62">
            <a:extLst>
              <a:ext uri="{FF2B5EF4-FFF2-40B4-BE49-F238E27FC236}">
                <a16:creationId xmlns:a16="http://schemas.microsoft.com/office/drawing/2014/main" id="{FB30335E-4B91-A3E2-E783-DAFA829F3E0A}"/>
              </a:ext>
            </a:extLst>
          </p:cNvPr>
          <p:cNvGrpSpPr/>
          <p:nvPr/>
        </p:nvGrpSpPr>
        <p:grpSpPr>
          <a:xfrm>
            <a:off x="-627888" y="-3619398"/>
            <a:ext cx="2663952" cy="3200136"/>
            <a:chOff x="9838944" y="868680"/>
            <a:chExt cx="2663952" cy="3200136"/>
          </a:xfrm>
          <a:gradFill>
            <a:gsLst>
              <a:gs pos="0">
                <a:schemeClr val="accent1">
                  <a:lumMod val="20000"/>
                  <a:lumOff val="80000"/>
                </a:schemeClr>
              </a:gs>
              <a:gs pos="100000">
                <a:srgbClr val="0070C0"/>
              </a:gs>
            </a:gsLst>
            <a:lin ang="5400000" scaled="1"/>
          </a:gradFill>
        </p:grpSpPr>
        <p:sp>
          <p:nvSpPr>
            <p:cNvPr id="64" name="Hexagon 63">
              <a:extLst>
                <a:ext uri="{FF2B5EF4-FFF2-40B4-BE49-F238E27FC236}">
                  <a16:creationId xmlns:a16="http://schemas.microsoft.com/office/drawing/2014/main" id="{ACBA8C36-85BF-C4BA-BA4F-C4B9CE3F6349}"/>
                </a:ext>
              </a:extLst>
            </p:cNvPr>
            <p:cNvSpPr/>
            <p:nvPr/>
          </p:nvSpPr>
          <p:spPr>
            <a:xfrm>
              <a:off x="9838944" y="86868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a:extLst>
                <a:ext uri="{FF2B5EF4-FFF2-40B4-BE49-F238E27FC236}">
                  <a16:creationId xmlns:a16="http://schemas.microsoft.com/office/drawing/2014/main" id="{C5DFAF33-259F-88BB-F7A3-D16F7A10E257}"/>
                </a:ext>
              </a:extLst>
            </p:cNvPr>
            <p:cNvSpPr/>
            <p:nvPr/>
          </p:nvSpPr>
          <p:spPr>
            <a:xfrm>
              <a:off x="10668000" y="130953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a:extLst>
                <a:ext uri="{FF2B5EF4-FFF2-40B4-BE49-F238E27FC236}">
                  <a16:creationId xmlns:a16="http://schemas.microsoft.com/office/drawing/2014/main" id="{D8795E5F-F216-E5A6-8A9E-0D8E63233307}"/>
                </a:ext>
              </a:extLst>
            </p:cNvPr>
            <p:cNvSpPr/>
            <p:nvPr/>
          </p:nvSpPr>
          <p:spPr>
            <a:xfrm>
              <a:off x="9857232" y="17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a:extLst>
                <a:ext uri="{FF2B5EF4-FFF2-40B4-BE49-F238E27FC236}">
                  <a16:creationId xmlns:a16="http://schemas.microsoft.com/office/drawing/2014/main" id="{A9485777-3FBE-24F0-FB45-0F37B8428786}"/>
                </a:ext>
              </a:extLst>
            </p:cNvPr>
            <p:cNvSpPr/>
            <p:nvPr/>
          </p:nvSpPr>
          <p:spPr>
            <a:xfrm>
              <a:off x="10668000" y="2248320"/>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a:extLst>
                <a:ext uri="{FF2B5EF4-FFF2-40B4-BE49-F238E27FC236}">
                  <a16:creationId xmlns:a16="http://schemas.microsoft.com/office/drawing/2014/main" id="{5BA839F6-5C82-92C8-D2C8-86A6B6706E9E}"/>
                </a:ext>
              </a:extLst>
            </p:cNvPr>
            <p:cNvSpPr/>
            <p:nvPr/>
          </p:nvSpPr>
          <p:spPr>
            <a:xfrm>
              <a:off x="11497056" y="268917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a:extLst>
                <a:ext uri="{FF2B5EF4-FFF2-40B4-BE49-F238E27FC236}">
                  <a16:creationId xmlns:a16="http://schemas.microsoft.com/office/drawing/2014/main" id="{48ECC1B0-7349-53C3-1521-5EDA34B5071B}"/>
                </a:ext>
              </a:extLst>
            </p:cNvPr>
            <p:cNvSpPr/>
            <p:nvPr/>
          </p:nvSpPr>
          <p:spPr>
            <a:xfrm>
              <a:off x="10686288" y="3168816"/>
              <a:ext cx="1005840" cy="900000"/>
            </a:xfrm>
            <a:prstGeom prst="hexagon">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ECF173B7-247A-DA9E-AC26-412790422C19}"/>
              </a:ext>
            </a:extLst>
          </p:cNvPr>
          <p:cNvGrpSpPr/>
          <p:nvPr/>
        </p:nvGrpSpPr>
        <p:grpSpPr>
          <a:xfrm>
            <a:off x="-1808337" y="0"/>
            <a:ext cx="2870295" cy="6858000"/>
            <a:chOff x="10101723" y="0"/>
            <a:chExt cx="2870295" cy="6858000"/>
          </a:xfrm>
        </p:grpSpPr>
        <p:grpSp>
          <p:nvGrpSpPr>
            <p:cNvPr id="71" name="Group 70">
              <a:extLst>
                <a:ext uri="{FF2B5EF4-FFF2-40B4-BE49-F238E27FC236}">
                  <a16:creationId xmlns:a16="http://schemas.microsoft.com/office/drawing/2014/main" id="{2B059EF1-D2D6-7762-1D55-A3A956F966A9}"/>
                </a:ext>
              </a:extLst>
            </p:cNvPr>
            <p:cNvGrpSpPr/>
            <p:nvPr/>
          </p:nvGrpSpPr>
          <p:grpSpPr>
            <a:xfrm>
              <a:off x="10259999" y="0"/>
              <a:ext cx="2712019" cy="6858000"/>
              <a:chOff x="10259999" y="0"/>
              <a:chExt cx="2712019" cy="6858000"/>
            </a:xfrm>
            <a:solidFill>
              <a:schemeClr val="accent1">
                <a:lumMod val="50000"/>
              </a:schemeClr>
            </a:solidFill>
          </p:grpSpPr>
          <p:sp>
            <p:nvSpPr>
              <p:cNvPr id="77" name="Rectangle 76">
                <a:extLst>
                  <a:ext uri="{FF2B5EF4-FFF2-40B4-BE49-F238E27FC236}">
                    <a16:creationId xmlns:a16="http://schemas.microsoft.com/office/drawing/2014/main" id="{39C6356F-2530-BFF8-C941-EE77FB3F8A1F}"/>
                  </a:ext>
                </a:extLst>
              </p:cNvPr>
              <p:cNvSpPr/>
              <p:nvPr/>
            </p:nvSpPr>
            <p:spPr>
              <a:xfrm>
                <a:off x="10259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Isosceles Triangle 135">
                <a:extLst>
                  <a:ext uri="{FF2B5EF4-FFF2-40B4-BE49-F238E27FC236}">
                    <a16:creationId xmlns:a16="http://schemas.microsoft.com/office/drawing/2014/main" id="{2ACD948E-A84E-3862-760C-AD74C6C65D74}"/>
                  </a:ext>
                </a:extLst>
              </p:cNvPr>
              <p:cNvSpPr/>
              <p:nvPr/>
            </p:nvSpPr>
            <p:spPr>
              <a:xfrm rot="5400000">
                <a:off x="11881380" y="573162"/>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2" name="TextBox 71">
              <a:extLst>
                <a:ext uri="{FF2B5EF4-FFF2-40B4-BE49-F238E27FC236}">
                  <a16:creationId xmlns:a16="http://schemas.microsoft.com/office/drawing/2014/main" id="{C0DEB5B7-E660-671F-8978-56C5FC08970F}"/>
                </a:ext>
              </a:extLst>
            </p:cNvPr>
            <p:cNvSpPr txBox="1"/>
            <p:nvPr/>
          </p:nvSpPr>
          <p:spPr>
            <a:xfrm>
              <a:off x="11106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6</a:t>
              </a:r>
              <a:endParaRPr lang="en-US" sz="4000" b="1" dirty="0">
                <a:solidFill>
                  <a:schemeClr val="bg1"/>
                </a:solidFill>
                <a:latin typeface="Aptos" panose="020B0004020202020204" pitchFamily="34" charset="0"/>
              </a:endParaRPr>
            </a:p>
          </p:txBody>
        </p:sp>
        <p:sp>
          <p:nvSpPr>
            <p:cNvPr id="73" name="Rectangle 72">
              <a:extLst>
                <a:ext uri="{FF2B5EF4-FFF2-40B4-BE49-F238E27FC236}">
                  <a16:creationId xmlns:a16="http://schemas.microsoft.com/office/drawing/2014/main" id="{0EE9FD97-5123-05FD-52D2-30A4E2C9116D}"/>
                </a:ext>
              </a:extLst>
            </p:cNvPr>
            <p:cNvSpPr/>
            <p:nvPr/>
          </p:nvSpPr>
          <p:spPr>
            <a:xfrm>
              <a:off x="1037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436F82DF-7859-DCEE-E89F-CE69B599AC3B}"/>
                </a:ext>
              </a:extLst>
            </p:cNvPr>
            <p:cNvSpPr txBox="1"/>
            <p:nvPr/>
          </p:nvSpPr>
          <p:spPr>
            <a:xfrm>
              <a:off x="10101723" y="2252859"/>
              <a:ext cx="2295145" cy="400110"/>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CONCLUSION</a:t>
              </a:r>
              <a:endParaRPr lang="en-US" sz="3600" dirty="0">
                <a:solidFill>
                  <a:schemeClr val="bg1"/>
                </a:solidFill>
                <a:latin typeface="Bahnschrift SemiBold" panose="020B0502040204020203" pitchFamily="34" charset="0"/>
              </a:endParaRPr>
            </a:p>
          </p:txBody>
        </p:sp>
        <p:sp>
          <p:nvSpPr>
            <p:cNvPr id="75" name="TextBox 74">
              <a:extLst>
                <a:ext uri="{FF2B5EF4-FFF2-40B4-BE49-F238E27FC236}">
                  <a16:creationId xmlns:a16="http://schemas.microsoft.com/office/drawing/2014/main" id="{92EF432E-244F-F092-7FD8-8483368BAC00}"/>
                </a:ext>
              </a:extLst>
            </p:cNvPr>
            <p:cNvSpPr txBox="1"/>
            <p:nvPr/>
          </p:nvSpPr>
          <p:spPr>
            <a:xfrm>
              <a:off x="10305847" y="4307263"/>
              <a:ext cx="2121378" cy="1169551"/>
            </a:xfrm>
            <a:prstGeom prst="rect">
              <a:avLst/>
            </a:prstGeom>
            <a:noFill/>
          </p:spPr>
          <p:txBody>
            <a:bodyPr wrap="square" rtlCol="0">
              <a:spAutoFit/>
            </a:bodyPr>
            <a:lstStyle/>
            <a:p>
              <a:r>
                <a:rPr lang="fr-FR" sz="1400" b="1" dirty="0">
                  <a:solidFill>
                    <a:schemeClr val="bg1"/>
                  </a:solidFill>
                  <a:latin typeface="Aptos" panose="020B0004020202020204" pitchFamily="34" charset="0"/>
                </a:rPr>
                <a:t>construire un site web plus sécurisé garantissant la confidentialité des utilisateurs</a:t>
              </a:r>
              <a:endParaRPr lang="en-US" sz="1600" b="1" dirty="0">
                <a:solidFill>
                  <a:schemeClr val="bg1"/>
                </a:solidFill>
                <a:latin typeface="Aptos" panose="020B0004020202020204" pitchFamily="34" charset="0"/>
              </a:endParaRPr>
            </a:p>
          </p:txBody>
        </p:sp>
        <p:sp>
          <p:nvSpPr>
            <p:cNvPr id="76" name="Rectangle 75">
              <a:extLst>
                <a:ext uri="{FF2B5EF4-FFF2-40B4-BE49-F238E27FC236}">
                  <a16:creationId xmlns:a16="http://schemas.microsoft.com/office/drawing/2014/main" id="{175FC306-D9B0-094B-75E7-59754A2BD1EA}"/>
                </a:ext>
              </a:extLst>
            </p:cNvPr>
            <p:cNvSpPr/>
            <p:nvPr/>
          </p:nvSpPr>
          <p:spPr>
            <a:xfrm>
              <a:off x="10398898"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C29C237B-D404-9262-5941-B62EDDB594BE}"/>
              </a:ext>
            </a:extLst>
          </p:cNvPr>
          <p:cNvGrpSpPr/>
          <p:nvPr/>
        </p:nvGrpSpPr>
        <p:grpSpPr>
          <a:xfrm>
            <a:off x="-1834814" y="0"/>
            <a:ext cx="2833594" cy="6858000"/>
            <a:chOff x="8086426" y="0"/>
            <a:chExt cx="2833594" cy="6858000"/>
          </a:xfrm>
        </p:grpSpPr>
        <p:sp>
          <p:nvSpPr>
            <p:cNvPr id="138" name="Rectangle 137">
              <a:extLst>
                <a:ext uri="{FF2B5EF4-FFF2-40B4-BE49-F238E27FC236}">
                  <a16:creationId xmlns:a16="http://schemas.microsoft.com/office/drawing/2014/main" id="{BFAA6628-C1FA-1329-32B4-555A44F696FC}"/>
                </a:ext>
              </a:extLst>
            </p:cNvPr>
            <p:cNvSpPr/>
            <p:nvPr/>
          </p:nvSpPr>
          <p:spPr>
            <a:xfrm>
              <a:off x="8207999" y="0"/>
              <a:ext cx="205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Isosceles Triangle 138">
              <a:extLst>
                <a:ext uri="{FF2B5EF4-FFF2-40B4-BE49-F238E27FC236}">
                  <a16:creationId xmlns:a16="http://schemas.microsoft.com/office/drawing/2014/main" id="{6016805A-342E-F93D-3E38-1D222BF62E3F}"/>
                </a:ext>
              </a:extLst>
            </p:cNvPr>
            <p:cNvSpPr/>
            <p:nvPr/>
          </p:nvSpPr>
          <p:spPr>
            <a:xfrm rot="5400000">
              <a:off x="9829382" y="573161"/>
              <a:ext cx="1521257" cy="660018"/>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TextBox 186">
              <a:extLst>
                <a:ext uri="{FF2B5EF4-FFF2-40B4-BE49-F238E27FC236}">
                  <a16:creationId xmlns:a16="http://schemas.microsoft.com/office/drawing/2014/main" id="{467059CA-BCF7-4EC9-FA3F-A3900343A52C}"/>
                </a:ext>
              </a:extLst>
            </p:cNvPr>
            <p:cNvSpPr txBox="1"/>
            <p:nvPr/>
          </p:nvSpPr>
          <p:spPr>
            <a:xfrm>
              <a:off x="9054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5</a:t>
              </a:r>
              <a:endParaRPr lang="en-US" sz="4000" b="1" dirty="0">
                <a:solidFill>
                  <a:schemeClr val="bg1"/>
                </a:solidFill>
                <a:latin typeface="Aptos" panose="020B0004020202020204" pitchFamily="34" charset="0"/>
              </a:endParaRPr>
            </a:p>
          </p:txBody>
        </p:sp>
        <p:sp>
          <p:nvSpPr>
            <p:cNvPr id="188" name="Rectangle 187">
              <a:extLst>
                <a:ext uri="{FF2B5EF4-FFF2-40B4-BE49-F238E27FC236}">
                  <a16:creationId xmlns:a16="http://schemas.microsoft.com/office/drawing/2014/main" id="{0D2A7674-6F59-5632-3B91-E4AA37D190D2}"/>
                </a:ext>
              </a:extLst>
            </p:cNvPr>
            <p:cNvSpPr/>
            <p:nvPr/>
          </p:nvSpPr>
          <p:spPr>
            <a:xfrm>
              <a:off x="8339583"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a:extLst>
                <a:ext uri="{FF2B5EF4-FFF2-40B4-BE49-F238E27FC236}">
                  <a16:creationId xmlns:a16="http://schemas.microsoft.com/office/drawing/2014/main" id="{705C9037-D453-02D2-7937-08A2DF15F811}"/>
                </a:ext>
              </a:extLst>
            </p:cNvPr>
            <p:cNvSpPr txBox="1"/>
            <p:nvPr/>
          </p:nvSpPr>
          <p:spPr>
            <a:xfrm>
              <a:off x="8086426" y="1921105"/>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CHIFFREMENT DES DONNÉES SENSIBLES </a:t>
              </a:r>
              <a:endParaRPr lang="en-US" sz="3200" dirty="0">
                <a:solidFill>
                  <a:schemeClr val="bg1"/>
                </a:solidFill>
                <a:latin typeface="Bahnschrift SemiBold" panose="020B0502040204020203" pitchFamily="34" charset="0"/>
              </a:endParaRPr>
            </a:p>
          </p:txBody>
        </p:sp>
        <p:sp>
          <p:nvSpPr>
            <p:cNvPr id="190" name="TextBox 189">
              <a:extLst>
                <a:ext uri="{FF2B5EF4-FFF2-40B4-BE49-F238E27FC236}">
                  <a16:creationId xmlns:a16="http://schemas.microsoft.com/office/drawing/2014/main" id="{50025510-553E-7294-73A6-4C5876147711}"/>
                </a:ext>
              </a:extLst>
            </p:cNvPr>
            <p:cNvSpPr txBox="1"/>
            <p:nvPr/>
          </p:nvSpPr>
          <p:spPr>
            <a:xfrm>
              <a:off x="8196284" y="3877056"/>
              <a:ext cx="1994334" cy="2031325"/>
            </a:xfrm>
            <a:prstGeom prst="rect">
              <a:avLst/>
            </a:prstGeom>
            <a:noFill/>
          </p:spPr>
          <p:txBody>
            <a:bodyPr wrap="square" rtlCol="0">
              <a:spAutoFit/>
            </a:bodyPr>
            <a:lstStyle/>
            <a:p>
              <a:r>
                <a:rPr lang="fr-FR" sz="1400" b="1" dirty="0">
                  <a:solidFill>
                    <a:schemeClr val="bg1"/>
                  </a:solidFill>
                  <a:latin typeface="Aptos" panose="020B0004020202020204" pitchFamily="34" charset="0"/>
                </a:rPr>
                <a:t>Chiffrement au niveau base de données</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Variables d'environnement (gestion des secrets) </a:t>
              </a:r>
              <a:endParaRPr lang="en-US" sz="1400" b="1" dirty="0">
                <a:solidFill>
                  <a:schemeClr val="bg1"/>
                </a:solidFill>
                <a:latin typeface="Aptos" panose="020B0004020202020204" pitchFamily="34" charset="0"/>
              </a:endParaRPr>
            </a:p>
          </p:txBody>
        </p:sp>
        <p:sp>
          <p:nvSpPr>
            <p:cNvPr id="191" name="Rectangle 190">
              <a:extLst>
                <a:ext uri="{FF2B5EF4-FFF2-40B4-BE49-F238E27FC236}">
                  <a16:creationId xmlns:a16="http://schemas.microsoft.com/office/drawing/2014/main" id="{5E8EBC71-A1A7-5C40-A02D-288D25D3C66C}"/>
                </a:ext>
              </a:extLst>
            </p:cNvPr>
            <p:cNvSpPr/>
            <p:nvPr/>
          </p:nvSpPr>
          <p:spPr>
            <a:xfrm>
              <a:off x="8319560"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2" name="Group 191">
            <a:extLst>
              <a:ext uri="{FF2B5EF4-FFF2-40B4-BE49-F238E27FC236}">
                <a16:creationId xmlns:a16="http://schemas.microsoft.com/office/drawing/2014/main" id="{7DC66CF0-0247-C004-C9B8-BA3145CFEA35}"/>
              </a:ext>
            </a:extLst>
          </p:cNvPr>
          <p:cNvGrpSpPr/>
          <p:nvPr/>
        </p:nvGrpSpPr>
        <p:grpSpPr>
          <a:xfrm>
            <a:off x="-1926358" y="0"/>
            <a:ext cx="2861956" cy="6921643"/>
            <a:chOff x="6006062" y="0"/>
            <a:chExt cx="2861956" cy="6921643"/>
          </a:xfrm>
        </p:grpSpPr>
        <p:grpSp>
          <p:nvGrpSpPr>
            <p:cNvPr id="193" name="Group 192">
              <a:extLst>
                <a:ext uri="{FF2B5EF4-FFF2-40B4-BE49-F238E27FC236}">
                  <a16:creationId xmlns:a16="http://schemas.microsoft.com/office/drawing/2014/main" id="{3822CE0F-0E75-3E4E-2CF0-0E86A8154BD2}"/>
                </a:ext>
              </a:extLst>
            </p:cNvPr>
            <p:cNvGrpSpPr/>
            <p:nvPr/>
          </p:nvGrpSpPr>
          <p:grpSpPr>
            <a:xfrm>
              <a:off x="6155999" y="0"/>
              <a:ext cx="2712019" cy="6858000"/>
              <a:chOff x="6155999" y="0"/>
              <a:chExt cx="2712019" cy="6858000"/>
            </a:xfrm>
            <a:solidFill>
              <a:srgbClr val="4472C4"/>
            </a:solidFill>
          </p:grpSpPr>
          <p:sp>
            <p:nvSpPr>
              <p:cNvPr id="200" name="Rectangle 199">
                <a:extLst>
                  <a:ext uri="{FF2B5EF4-FFF2-40B4-BE49-F238E27FC236}">
                    <a16:creationId xmlns:a16="http://schemas.microsoft.com/office/drawing/2014/main" id="{62E15D1B-431E-A090-6771-6FBD5D709ED2}"/>
                  </a:ext>
                </a:extLst>
              </p:cNvPr>
              <p:cNvSpPr/>
              <p:nvPr/>
            </p:nvSpPr>
            <p:spPr>
              <a:xfrm>
                <a:off x="6155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Isosceles Triangle 200">
                <a:extLst>
                  <a:ext uri="{FF2B5EF4-FFF2-40B4-BE49-F238E27FC236}">
                    <a16:creationId xmlns:a16="http://schemas.microsoft.com/office/drawing/2014/main" id="{C10A3D52-E209-DA1F-4543-C1585FB58F8C}"/>
                  </a:ext>
                </a:extLst>
              </p:cNvPr>
              <p:cNvSpPr/>
              <p:nvPr/>
            </p:nvSpPr>
            <p:spPr>
              <a:xfrm rot="5400000">
                <a:off x="7777380" y="573160"/>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4" name="TextBox 193">
              <a:extLst>
                <a:ext uri="{FF2B5EF4-FFF2-40B4-BE49-F238E27FC236}">
                  <a16:creationId xmlns:a16="http://schemas.microsoft.com/office/drawing/2014/main" id="{557DBCB9-B42E-F328-A527-2949758668A9}"/>
                </a:ext>
              </a:extLst>
            </p:cNvPr>
            <p:cNvSpPr txBox="1"/>
            <p:nvPr/>
          </p:nvSpPr>
          <p:spPr>
            <a:xfrm>
              <a:off x="700246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4</a:t>
              </a:r>
              <a:endParaRPr lang="en-US" sz="4000" b="1" dirty="0">
                <a:solidFill>
                  <a:schemeClr val="bg1"/>
                </a:solidFill>
                <a:latin typeface="Aptos" panose="020B0004020202020204" pitchFamily="34" charset="0"/>
              </a:endParaRPr>
            </a:p>
          </p:txBody>
        </p:sp>
        <p:sp>
          <p:nvSpPr>
            <p:cNvPr id="195" name="Rectangle 194">
              <a:extLst>
                <a:ext uri="{FF2B5EF4-FFF2-40B4-BE49-F238E27FC236}">
                  <a16:creationId xmlns:a16="http://schemas.microsoft.com/office/drawing/2014/main" id="{E698A0F1-7797-85AE-3266-D6A68EF19475}"/>
                </a:ext>
              </a:extLst>
            </p:cNvPr>
            <p:cNvSpPr/>
            <p:nvPr/>
          </p:nvSpPr>
          <p:spPr>
            <a:xfrm>
              <a:off x="6287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TextBox 195">
              <a:extLst>
                <a:ext uri="{FF2B5EF4-FFF2-40B4-BE49-F238E27FC236}">
                  <a16:creationId xmlns:a16="http://schemas.microsoft.com/office/drawing/2014/main" id="{08DCB208-0589-D376-F4BA-2CFCB9825099}"/>
                </a:ext>
              </a:extLst>
            </p:cNvPr>
            <p:cNvSpPr txBox="1"/>
            <p:nvPr/>
          </p:nvSpPr>
          <p:spPr>
            <a:xfrm>
              <a:off x="6006062" y="1948346"/>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ARCHITECTURE SÉCURISÉE PROPOSÉE </a:t>
              </a:r>
              <a:endParaRPr lang="en-US" sz="2800" dirty="0">
                <a:solidFill>
                  <a:schemeClr val="bg1"/>
                </a:solidFill>
                <a:latin typeface="Bahnschrift SemiBold" panose="020B0502040204020203" pitchFamily="34" charset="0"/>
              </a:endParaRPr>
            </a:p>
          </p:txBody>
        </p:sp>
        <p:sp>
          <p:nvSpPr>
            <p:cNvPr id="198" name="TextBox 197">
              <a:extLst>
                <a:ext uri="{FF2B5EF4-FFF2-40B4-BE49-F238E27FC236}">
                  <a16:creationId xmlns:a16="http://schemas.microsoft.com/office/drawing/2014/main" id="{421D70F3-A861-44CA-F61F-872A68B3D4EB}"/>
                </a:ext>
              </a:extLst>
            </p:cNvPr>
            <p:cNvSpPr txBox="1"/>
            <p:nvPr/>
          </p:nvSpPr>
          <p:spPr>
            <a:xfrm>
              <a:off x="6145044" y="3135991"/>
              <a:ext cx="2085813" cy="3785652"/>
            </a:xfrm>
            <a:prstGeom prst="rect">
              <a:avLst/>
            </a:prstGeom>
            <a:noFill/>
          </p:spPr>
          <p:txBody>
            <a:bodyPr wrap="square" rtlCol="0">
              <a:spAutoFit/>
            </a:bodyPr>
            <a:lstStyle/>
            <a:p>
              <a:r>
                <a:rPr lang="fr-FR" sz="1200" b="1" dirty="0">
                  <a:solidFill>
                    <a:schemeClr val="bg1"/>
                  </a:solidFill>
                  <a:latin typeface="Aptos" panose="020B0004020202020204" pitchFamily="34" charset="0"/>
                </a:rPr>
                <a:t>Architecture Globale Sécurisée </a:t>
              </a:r>
            </a:p>
            <a:p>
              <a:endParaRPr lang="en-US"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Implémentation RBAC Complète </a:t>
              </a:r>
            </a:p>
            <a:p>
              <a:endParaRPr lang="en-US"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Protection Anti-SQL Injection </a:t>
              </a:r>
            </a:p>
            <a:p>
              <a:endParaRPr lang="en-US"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Sécurisation des Communications (HTTPS/TLS)</a:t>
              </a:r>
            </a:p>
            <a:p>
              <a:endParaRPr lang="fr-FR"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Signature HMAC des Signaux d'Alerte </a:t>
              </a:r>
            </a:p>
            <a:p>
              <a:endParaRPr lang="fr-FR"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Déclenchement Sécurisé des Sirènes </a:t>
              </a:r>
            </a:p>
            <a:p>
              <a:endParaRPr lang="fr-FR"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Protection Firewall (UFW)</a:t>
              </a:r>
            </a:p>
          </p:txBody>
        </p:sp>
        <p:sp>
          <p:nvSpPr>
            <p:cNvPr id="199" name="Rectangle 198">
              <a:extLst>
                <a:ext uri="{FF2B5EF4-FFF2-40B4-BE49-F238E27FC236}">
                  <a16:creationId xmlns:a16="http://schemas.microsoft.com/office/drawing/2014/main" id="{D8A901A0-8A72-87DF-A692-1ADF84B00C8B}"/>
                </a:ext>
              </a:extLst>
            </p:cNvPr>
            <p:cNvSpPr/>
            <p:nvPr/>
          </p:nvSpPr>
          <p:spPr>
            <a:xfrm>
              <a:off x="6284019"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 name="Group 201">
            <a:extLst>
              <a:ext uri="{FF2B5EF4-FFF2-40B4-BE49-F238E27FC236}">
                <a16:creationId xmlns:a16="http://schemas.microsoft.com/office/drawing/2014/main" id="{D42FBF59-D9F0-8B4F-A50F-54308A4A1DFB}"/>
              </a:ext>
            </a:extLst>
          </p:cNvPr>
          <p:cNvGrpSpPr/>
          <p:nvPr/>
        </p:nvGrpSpPr>
        <p:grpSpPr>
          <a:xfrm>
            <a:off x="-1975275" y="0"/>
            <a:ext cx="2836266" cy="6858000"/>
            <a:chOff x="3979755" y="0"/>
            <a:chExt cx="2836266" cy="6858000"/>
          </a:xfrm>
        </p:grpSpPr>
        <p:grpSp>
          <p:nvGrpSpPr>
            <p:cNvPr id="203" name="Group 202">
              <a:extLst>
                <a:ext uri="{FF2B5EF4-FFF2-40B4-BE49-F238E27FC236}">
                  <a16:creationId xmlns:a16="http://schemas.microsoft.com/office/drawing/2014/main" id="{251F5B29-C3D5-8033-0143-E536E9B5985A}"/>
                </a:ext>
              </a:extLst>
            </p:cNvPr>
            <p:cNvGrpSpPr/>
            <p:nvPr/>
          </p:nvGrpSpPr>
          <p:grpSpPr>
            <a:xfrm>
              <a:off x="4103999" y="0"/>
              <a:ext cx="2712022" cy="6858000"/>
              <a:chOff x="4103999" y="0"/>
              <a:chExt cx="2712022" cy="6858000"/>
            </a:xfrm>
            <a:solidFill>
              <a:srgbClr val="00B0F0"/>
            </a:solidFill>
          </p:grpSpPr>
          <p:sp>
            <p:nvSpPr>
              <p:cNvPr id="209" name="Rectangle 208">
                <a:extLst>
                  <a:ext uri="{FF2B5EF4-FFF2-40B4-BE49-F238E27FC236}">
                    <a16:creationId xmlns:a16="http://schemas.microsoft.com/office/drawing/2014/main" id="{DCF69CA5-1E0C-6A10-795B-B0F83223FD3E}"/>
                  </a:ext>
                </a:extLst>
              </p:cNvPr>
              <p:cNvSpPr/>
              <p:nvPr/>
            </p:nvSpPr>
            <p:spPr>
              <a:xfrm>
                <a:off x="4103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Isosceles Triangle 209">
                <a:extLst>
                  <a:ext uri="{FF2B5EF4-FFF2-40B4-BE49-F238E27FC236}">
                    <a16:creationId xmlns:a16="http://schemas.microsoft.com/office/drawing/2014/main" id="{4E7F8DF2-C8DB-AB0D-60B3-2E9E51816338}"/>
                  </a:ext>
                </a:extLst>
              </p:cNvPr>
              <p:cNvSpPr/>
              <p:nvPr/>
            </p:nvSpPr>
            <p:spPr>
              <a:xfrm rot="5400000">
                <a:off x="5725383" y="573159"/>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4" name="TextBox 203">
              <a:extLst>
                <a:ext uri="{FF2B5EF4-FFF2-40B4-BE49-F238E27FC236}">
                  <a16:creationId xmlns:a16="http://schemas.microsoft.com/office/drawing/2014/main" id="{A417A59F-635C-89DA-D813-649816C68B59}"/>
                </a:ext>
              </a:extLst>
            </p:cNvPr>
            <p:cNvSpPr txBox="1"/>
            <p:nvPr/>
          </p:nvSpPr>
          <p:spPr>
            <a:xfrm>
              <a:off x="4950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3</a:t>
              </a:r>
              <a:endParaRPr lang="en-US" sz="4000" b="1" dirty="0">
                <a:solidFill>
                  <a:schemeClr val="bg1"/>
                </a:solidFill>
                <a:latin typeface="Aptos" panose="020B0004020202020204" pitchFamily="34" charset="0"/>
              </a:endParaRPr>
            </a:p>
          </p:txBody>
        </p:sp>
        <p:sp>
          <p:nvSpPr>
            <p:cNvPr id="205" name="Rectangle 204">
              <a:extLst>
                <a:ext uri="{FF2B5EF4-FFF2-40B4-BE49-F238E27FC236}">
                  <a16:creationId xmlns:a16="http://schemas.microsoft.com/office/drawing/2014/main" id="{34D77FDF-6D47-8ABE-F186-A611AEF2CABE}"/>
                </a:ext>
              </a:extLst>
            </p:cNvPr>
            <p:cNvSpPr/>
            <p:nvPr/>
          </p:nvSpPr>
          <p:spPr>
            <a:xfrm>
              <a:off x="4235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TextBox 205">
              <a:extLst>
                <a:ext uri="{FF2B5EF4-FFF2-40B4-BE49-F238E27FC236}">
                  <a16:creationId xmlns:a16="http://schemas.microsoft.com/office/drawing/2014/main" id="{A03FBEFB-41EE-4F3C-639E-7BA73E3B63EE}"/>
                </a:ext>
              </a:extLst>
            </p:cNvPr>
            <p:cNvSpPr txBox="1"/>
            <p:nvPr/>
          </p:nvSpPr>
          <p:spPr>
            <a:xfrm>
              <a:off x="3979755" y="2063859"/>
              <a:ext cx="2295145" cy="707886"/>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VULNÉRABILITÉS DÉTECTÉES</a:t>
              </a:r>
              <a:endParaRPr lang="en-US" sz="2000" dirty="0">
                <a:solidFill>
                  <a:schemeClr val="bg1"/>
                </a:solidFill>
                <a:latin typeface="Bahnschrift SemiBold" panose="020B0502040204020203" pitchFamily="34" charset="0"/>
              </a:endParaRPr>
            </a:p>
          </p:txBody>
        </p:sp>
        <p:sp>
          <p:nvSpPr>
            <p:cNvPr id="207" name="TextBox 206">
              <a:extLst>
                <a:ext uri="{FF2B5EF4-FFF2-40B4-BE49-F238E27FC236}">
                  <a16:creationId xmlns:a16="http://schemas.microsoft.com/office/drawing/2014/main" id="{E79D7473-D89D-20AC-C165-D641A46B5BAC}"/>
                </a:ext>
              </a:extLst>
            </p:cNvPr>
            <p:cNvSpPr txBox="1"/>
            <p:nvPr/>
          </p:nvSpPr>
          <p:spPr>
            <a:xfrm>
              <a:off x="4085755" y="3573018"/>
              <a:ext cx="2150768" cy="3108543"/>
            </a:xfrm>
            <a:prstGeom prst="rect">
              <a:avLst/>
            </a:prstGeom>
            <a:noFill/>
          </p:spPr>
          <p:txBody>
            <a:bodyPr wrap="square" rtlCol="0">
              <a:spAutoFit/>
            </a:bodyPr>
            <a:lstStyle/>
            <a:p>
              <a:r>
                <a:rPr lang="fr-FR" sz="1400" b="1" dirty="0">
                  <a:solidFill>
                    <a:schemeClr val="bg1"/>
                  </a:solidFill>
                  <a:latin typeface="Aptos" panose="020B0004020202020204" pitchFamily="34" charset="0"/>
                </a:rPr>
                <a:t>SQL Injection</a:t>
              </a:r>
            </a:p>
            <a:p>
              <a:endParaRPr lang="fr-FR"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Man-in-the-Middle </a:t>
              </a:r>
            </a:p>
            <a:p>
              <a:endParaRPr lang="en-US"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Absence de Contrôle d'Accès</a:t>
              </a:r>
            </a:p>
            <a:p>
              <a:endParaRPr lang="fr-FR"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Déni de Service  </a:t>
              </a:r>
            </a:p>
            <a:p>
              <a:endParaRPr lang="en-US"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Falsification des Signaux d'Alerte </a:t>
              </a:r>
            </a:p>
            <a:p>
              <a:endParaRPr lang="en-US"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Données Capteurs Aberrantes </a:t>
              </a:r>
            </a:p>
          </p:txBody>
        </p:sp>
        <p:sp>
          <p:nvSpPr>
            <p:cNvPr id="208" name="Rectangle 207">
              <a:extLst>
                <a:ext uri="{FF2B5EF4-FFF2-40B4-BE49-F238E27FC236}">
                  <a16:creationId xmlns:a16="http://schemas.microsoft.com/office/drawing/2014/main" id="{8B50BF41-9A61-7AA7-A12A-CF89ACE34887}"/>
                </a:ext>
              </a:extLst>
            </p:cNvPr>
            <p:cNvSpPr/>
            <p:nvPr/>
          </p:nvSpPr>
          <p:spPr>
            <a:xfrm>
              <a:off x="4235586"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1" name="Group 210">
            <a:extLst>
              <a:ext uri="{FF2B5EF4-FFF2-40B4-BE49-F238E27FC236}">
                <a16:creationId xmlns:a16="http://schemas.microsoft.com/office/drawing/2014/main" id="{97A9432A-8CA6-4624-F087-147F8C1950AF}"/>
              </a:ext>
            </a:extLst>
          </p:cNvPr>
          <p:cNvGrpSpPr/>
          <p:nvPr/>
        </p:nvGrpSpPr>
        <p:grpSpPr>
          <a:xfrm>
            <a:off x="-2021519" y="0"/>
            <a:ext cx="2853618" cy="6858000"/>
            <a:chOff x="1910401" y="0"/>
            <a:chExt cx="2853618" cy="6858000"/>
          </a:xfrm>
        </p:grpSpPr>
        <p:grpSp>
          <p:nvGrpSpPr>
            <p:cNvPr id="212" name="Group 211">
              <a:extLst>
                <a:ext uri="{FF2B5EF4-FFF2-40B4-BE49-F238E27FC236}">
                  <a16:creationId xmlns:a16="http://schemas.microsoft.com/office/drawing/2014/main" id="{CAF395EA-87BA-8F15-E4D2-7AF99B41A305}"/>
                </a:ext>
              </a:extLst>
            </p:cNvPr>
            <p:cNvGrpSpPr/>
            <p:nvPr/>
          </p:nvGrpSpPr>
          <p:grpSpPr>
            <a:xfrm>
              <a:off x="2051999" y="0"/>
              <a:ext cx="2712020" cy="6858000"/>
              <a:chOff x="2051999" y="0"/>
              <a:chExt cx="2712020" cy="6858000"/>
            </a:xfrm>
            <a:solidFill>
              <a:schemeClr val="accent1">
                <a:lumMod val="60000"/>
                <a:lumOff val="40000"/>
              </a:schemeClr>
            </a:solidFill>
          </p:grpSpPr>
          <p:sp>
            <p:nvSpPr>
              <p:cNvPr id="218" name="Rectangle 217">
                <a:extLst>
                  <a:ext uri="{FF2B5EF4-FFF2-40B4-BE49-F238E27FC236}">
                    <a16:creationId xmlns:a16="http://schemas.microsoft.com/office/drawing/2014/main" id="{114C8702-96E2-9D2D-9D78-C97DB50C7F92}"/>
                  </a:ext>
                </a:extLst>
              </p:cNvPr>
              <p:cNvSpPr/>
              <p:nvPr/>
            </p:nvSpPr>
            <p:spPr>
              <a:xfrm>
                <a:off x="2051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Isosceles Triangle 218">
                <a:extLst>
                  <a:ext uri="{FF2B5EF4-FFF2-40B4-BE49-F238E27FC236}">
                    <a16:creationId xmlns:a16="http://schemas.microsoft.com/office/drawing/2014/main" id="{E60DE94C-AB8C-4D11-A07A-F8C3381EFF20}"/>
                  </a:ext>
                </a:extLst>
              </p:cNvPr>
              <p:cNvSpPr/>
              <p:nvPr/>
            </p:nvSpPr>
            <p:spPr>
              <a:xfrm rot="5400000">
                <a:off x="3673381" y="573158"/>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3" name="TextBox 212">
              <a:extLst>
                <a:ext uri="{FF2B5EF4-FFF2-40B4-BE49-F238E27FC236}">
                  <a16:creationId xmlns:a16="http://schemas.microsoft.com/office/drawing/2014/main" id="{FC0AC41C-EAA3-A8F1-6FA9-5F41275CC630}"/>
                </a:ext>
              </a:extLst>
            </p:cNvPr>
            <p:cNvSpPr txBox="1"/>
            <p:nvPr/>
          </p:nvSpPr>
          <p:spPr>
            <a:xfrm>
              <a:off x="2898466"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2</a:t>
              </a:r>
              <a:endParaRPr lang="en-US" sz="4000" b="1" dirty="0">
                <a:solidFill>
                  <a:schemeClr val="bg1"/>
                </a:solidFill>
                <a:latin typeface="Aptos" panose="020B0004020202020204" pitchFamily="34" charset="0"/>
              </a:endParaRPr>
            </a:p>
          </p:txBody>
        </p:sp>
        <p:sp>
          <p:nvSpPr>
            <p:cNvPr id="214" name="Rectangle 213">
              <a:extLst>
                <a:ext uri="{FF2B5EF4-FFF2-40B4-BE49-F238E27FC236}">
                  <a16:creationId xmlns:a16="http://schemas.microsoft.com/office/drawing/2014/main" id="{3E0AC57B-C730-2FBF-B56A-F4C48F60B6FC}"/>
                </a:ext>
              </a:extLst>
            </p:cNvPr>
            <p:cNvSpPr/>
            <p:nvPr/>
          </p:nvSpPr>
          <p:spPr>
            <a:xfrm>
              <a:off x="2186977"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TextBox 214">
              <a:extLst>
                <a:ext uri="{FF2B5EF4-FFF2-40B4-BE49-F238E27FC236}">
                  <a16:creationId xmlns:a16="http://schemas.microsoft.com/office/drawing/2014/main" id="{ABB3A142-24EB-AA5C-6BA4-AA91D850828D}"/>
                </a:ext>
              </a:extLst>
            </p:cNvPr>
            <p:cNvSpPr txBox="1"/>
            <p:nvPr/>
          </p:nvSpPr>
          <p:spPr>
            <a:xfrm>
              <a:off x="1910401" y="2055958"/>
              <a:ext cx="2295145" cy="707886"/>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ANALYSE DES RISQUES </a:t>
              </a:r>
            </a:p>
          </p:txBody>
        </p:sp>
        <p:sp>
          <p:nvSpPr>
            <p:cNvPr id="216" name="TextBox 215">
              <a:extLst>
                <a:ext uri="{FF2B5EF4-FFF2-40B4-BE49-F238E27FC236}">
                  <a16:creationId xmlns:a16="http://schemas.microsoft.com/office/drawing/2014/main" id="{AE6F7CDC-8F1C-9721-8EC8-6CB57D22D62D}"/>
                </a:ext>
              </a:extLst>
            </p:cNvPr>
            <p:cNvSpPr txBox="1"/>
            <p:nvPr/>
          </p:nvSpPr>
          <p:spPr>
            <a:xfrm>
              <a:off x="2065004" y="3989219"/>
              <a:ext cx="2094775" cy="2246769"/>
            </a:xfrm>
            <a:prstGeom prst="rect">
              <a:avLst/>
            </a:prstGeom>
            <a:noFill/>
          </p:spPr>
          <p:txBody>
            <a:bodyPr wrap="square" rtlCol="0">
              <a:spAutoFit/>
            </a:bodyPr>
            <a:lstStyle/>
            <a:p>
              <a:r>
                <a:rPr lang="fr-FR" sz="1400" b="1" dirty="0">
                  <a:solidFill>
                    <a:schemeClr val="bg1"/>
                  </a:solidFill>
                  <a:latin typeface="Aptos" panose="020B0004020202020204" pitchFamily="34" charset="0"/>
                </a:rPr>
                <a:t>Modèle de Menaces </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Surface d’Attaque </a:t>
              </a:r>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Analyse des Risques (Méthode DREAD) </a:t>
              </a:r>
            </a:p>
          </p:txBody>
        </p:sp>
        <p:sp>
          <p:nvSpPr>
            <p:cNvPr id="217" name="Rectangle 216">
              <a:extLst>
                <a:ext uri="{FF2B5EF4-FFF2-40B4-BE49-F238E27FC236}">
                  <a16:creationId xmlns:a16="http://schemas.microsoft.com/office/drawing/2014/main" id="{4DEA429C-7244-7EFD-1192-17E2B2900FF7}"/>
                </a:ext>
              </a:extLst>
            </p:cNvPr>
            <p:cNvSpPr/>
            <p:nvPr/>
          </p:nvSpPr>
          <p:spPr>
            <a:xfrm>
              <a:off x="2186977" y="3041445"/>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0" name="Group 219">
            <a:extLst>
              <a:ext uri="{FF2B5EF4-FFF2-40B4-BE49-F238E27FC236}">
                <a16:creationId xmlns:a16="http://schemas.microsoft.com/office/drawing/2014/main" id="{14F09EBF-5934-C40B-062E-515C69221C96}"/>
              </a:ext>
            </a:extLst>
          </p:cNvPr>
          <p:cNvGrpSpPr/>
          <p:nvPr/>
        </p:nvGrpSpPr>
        <p:grpSpPr>
          <a:xfrm>
            <a:off x="-2062698" y="0"/>
            <a:ext cx="2820185" cy="6858000"/>
            <a:chOff x="-108168" y="0"/>
            <a:chExt cx="2820185" cy="6858000"/>
          </a:xfrm>
        </p:grpSpPr>
        <p:grpSp>
          <p:nvGrpSpPr>
            <p:cNvPr id="221" name="Group 220">
              <a:extLst>
                <a:ext uri="{FF2B5EF4-FFF2-40B4-BE49-F238E27FC236}">
                  <a16:creationId xmlns:a16="http://schemas.microsoft.com/office/drawing/2014/main" id="{18320D6C-6E97-0738-4D0F-04D3AD21C798}"/>
                </a:ext>
              </a:extLst>
            </p:cNvPr>
            <p:cNvGrpSpPr/>
            <p:nvPr/>
          </p:nvGrpSpPr>
          <p:grpSpPr>
            <a:xfrm>
              <a:off x="-1" y="0"/>
              <a:ext cx="2712018" cy="6858000"/>
              <a:chOff x="-1" y="0"/>
              <a:chExt cx="2712018" cy="6858000"/>
            </a:xfrm>
            <a:solidFill>
              <a:schemeClr val="accent1">
                <a:lumMod val="40000"/>
                <a:lumOff val="60000"/>
              </a:schemeClr>
            </a:solidFill>
          </p:grpSpPr>
          <p:sp>
            <p:nvSpPr>
              <p:cNvPr id="227" name="Rectangle 226">
                <a:extLst>
                  <a:ext uri="{FF2B5EF4-FFF2-40B4-BE49-F238E27FC236}">
                    <a16:creationId xmlns:a16="http://schemas.microsoft.com/office/drawing/2014/main" id="{0E3FD3B3-D16A-DD6E-D0D8-DD1068D72880}"/>
                  </a:ext>
                </a:extLst>
              </p:cNvPr>
              <p:cNvSpPr/>
              <p:nvPr/>
            </p:nvSpPr>
            <p:spPr>
              <a:xfrm>
                <a:off x="-1"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8" name="Isosceles Triangle 227">
                <a:extLst>
                  <a:ext uri="{FF2B5EF4-FFF2-40B4-BE49-F238E27FC236}">
                    <a16:creationId xmlns:a16="http://schemas.microsoft.com/office/drawing/2014/main" id="{01B55484-3639-55AA-5366-1ED70FE57C01}"/>
                  </a:ext>
                </a:extLst>
              </p:cNvPr>
              <p:cNvSpPr/>
              <p:nvPr/>
            </p:nvSpPr>
            <p:spPr>
              <a:xfrm rot="5400000">
                <a:off x="1621379" y="573157"/>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2" name="TextBox 221">
              <a:extLst>
                <a:ext uri="{FF2B5EF4-FFF2-40B4-BE49-F238E27FC236}">
                  <a16:creationId xmlns:a16="http://schemas.microsoft.com/office/drawing/2014/main" id="{F72DE9A4-462E-734E-DCDD-A124C913FAAE}"/>
                </a:ext>
              </a:extLst>
            </p:cNvPr>
            <p:cNvSpPr txBox="1"/>
            <p:nvPr/>
          </p:nvSpPr>
          <p:spPr>
            <a:xfrm>
              <a:off x="77122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1</a:t>
              </a:r>
              <a:endParaRPr lang="en-US" sz="4000" b="1" dirty="0">
                <a:solidFill>
                  <a:schemeClr val="bg1"/>
                </a:solidFill>
                <a:latin typeface="Aptos" panose="020B0004020202020204" pitchFamily="34" charset="0"/>
              </a:endParaRPr>
            </a:p>
          </p:txBody>
        </p:sp>
        <p:sp>
          <p:nvSpPr>
            <p:cNvPr id="223" name="Rectangle 222">
              <a:extLst>
                <a:ext uri="{FF2B5EF4-FFF2-40B4-BE49-F238E27FC236}">
                  <a16:creationId xmlns:a16="http://schemas.microsoft.com/office/drawing/2014/main" id="{0B90982B-666A-5213-DF7B-9B6DFF370494}"/>
                </a:ext>
              </a:extLst>
            </p:cNvPr>
            <p:cNvSpPr/>
            <p:nvPr/>
          </p:nvSpPr>
          <p:spPr>
            <a:xfrm>
              <a:off x="11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TextBox 223">
              <a:extLst>
                <a:ext uri="{FF2B5EF4-FFF2-40B4-BE49-F238E27FC236}">
                  <a16:creationId xmlns:a16="http://schemas.microsoft.com/office/drawing/2014/main" id="{48BC2138-5F5A-A3F3-70E2-074D54E7A30D}"/>
                </a:ext>
              </a:extLst>
            </p:cNvPr>
            <p:cNvSpPr txBox="1"/>
            <p:nvPr/>
          </p:nvSpPr>
          <p:spPr>
            <a:xfrm>
              <a:off x="-108168" y="2174117"/>
              <a:ext cx="2295145" cy="400110"/>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INTRODUCTION </a:t>
              </a:r>
            </a:p>
          </p:txBody>
        </p:sp>
        <p:sp>
          <p:nvSpPr>
            <p:cNvPr id="225" name="TextBox 224">
              <a:extLst>
                <a:ext uri="{FF2B5EF4-FFF2-40B4-BE49-F238E27FC236}">
                  <a16:creationId xmlns:a16="http://schemas.microsoft.com/office/drawing/2014/main" id="{75939B4A-DA6F-9053-5939-F80ACD67DBC3}"/>
                </a:ext>
              </a:extLst>
            </p:cNvPr>
            <p:cNvSpPr txBox="1"/>
            <p:nvPr/>
          </p:nvSpPr>
          <p:spPr>
            <a:xfrm>
              <a:off x="68693" y="4499846"/>
              <a:ext cx="2295145" cy="1384995"/>
            </a:xfrm>
            <a:prstGeom prst="rect">
              <a:avLst/>
            </a:prstGeom>
            <a:noFill/>
          </p:spPr>
          <p:txBody>
            <a:bodyPr wrap="square" rtlCol="0">
              <a:spAutoFit/>
            </a:bodyPr>
            <a:lstStyle/>
            <a:p>
              <a:r>
                <a:rPr lang="fr-FR" sz="1400" b="1" dirty="0">
                  <a:solidFill>
                    <a:schemeClr val="bg1"/>
                  </a:solidFill>
                  <a:latin typeface="Aptos" panose="020B0004020202020204" pitchFamily="34" charset="0"/>
                </a:rPr>
                <a:t>Objectif de projet</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Structure de projet</a:t>
              </a:r>
            </a:p>
          </p:txBody>
        </p:sp>
        <p:sp>
          <p:nvSpPr>
            <p:cNvPr id="226" name="Rectangle 225">
              <a:extLst>
                <a:ext uri="{FF2B5EF4-FFF2-40B4-BE49-F238E27FC236}">
                  <a16:creationId xmlns:a16="http://schemas.microsoft.com/office/drawing/2014/main" id="{930037F5-E6BE-303D-FD0D-AB44B66FA39E}"/>
                </a:ext>
              </a:extLst>
            </p:cNvPr>
            <p:cNvSpPr/>
            <p:nvPr/>
          </p:nvSpPr>
          <p:spPr>
            <a:xfrm>
              <a:off x="134285" y="3041446"/>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16188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65CC6-286E-DD2B-4D4E-CFACA36E3FBF}"/>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586BDDE8-294C-A8CD-75D6-C89EC53EA79F}"/>
              </a:ext>
            </a:extLst>
          </p:cNvPr>
          <p:cNvGrpSpPr/>
          <p:nvPr/>
        </p:nvGrpSpPr>
        <p:grpSpPr>
          <a:xfrm>
            <a:off x="10101723" y="0"/>
            <a:ext cx="2870295" cy="6858000"/>
            <a:chOff x="10101723" y="0"/>
            <a:chExt cx="2870295" cy="6858000"/>
          </a:xfrm>
        </p:grpSpPr>
        <p:grpSp>
          <p:nvGrpSpPr>
            <p:cNvPr id="20" name="Group 19">
              <a:extLst>
                <a:ext uri="{FF2B5EF4-FFF2-40B4-BE49-F238E27FC236}">
                  <a16:creationId xmlns:a16="http://schemas.microsoft.com/office/drawing/2014/main" id="{15BBCF64-1A0B-0197-9E29-9E62507D8661}"/>
                </a:ext>
              </a:extLst>
            </p:cNvPr>
            <p:cNvGrpSpPr/>
            <p:nvPr/>
          </p:nvGrpSpPr>
          <p:grpSpPr>
            <a:xfrm>
              <a:off x="10259999" y="0"/>
              <a:ext cx="2712019" cy="6858000"/>
              <a:chOff x="10259999" y="0"/>
              <a:chExt cx="2712019" cy="6858000"/>
            </a:xfrm>
            <a:solidFill>
              <a:schemeClr val="accent1">
                <a:lumMod val="50000"/>
              </a:schemeClr>
            </a:solidFill>
          </p:grpSpPr>
          <p:sp>
            <p:nvSpPr>
              <p:cNvPr id="7" name="Rectangle 6">
                <a:extLst>
                  <a:ext uri="{FF2B5EF4-FFF2-40B4-BE49-F238E27FC236}">
                    <a16:creationId xmlns:a16="http://schemas.microsoft.com/office/drawing/2014/main" id="{E6FBBF7E-715B-5A9D-8033-22EFA75C8EE9}"/>
                  </a:ext>
                </a:extLst>
              </p:cNvPr>
              <p:cNvSpPr/>
              <p:nvPr/>
            </p:nvSpPr>
            <p:spPr>
              <a:xfrm>
                <a:off x="10259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Isosceles Triangle 12">
                <a:extLst>
                  <a:ext uri="{FF2B5EF4-FFF2-40B4-BE49-F238E27FC236}">
                    <a16:creationId xmlns:a16="http://schemas.microsoft.com/office/drawing/2014/main" id="{294549C3-B78E-B063-D60F-BA68D7DD2065}"/>
                  </a:ext>
                </a:extLst>
              </p:cNvPr>
              <p:cNvSpPr/>
              <p:nvPr/>
            </p:nvSpPr>
            <p:spPr>
              <a:xfrm rot="5400000">
                <a:off x="11881380" y="573162"/>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TextBox 42">
              <a:extLst>
                <a:ext uri="{FF2B5EF4-FFF2-40B4-BE49-F238E27FC236}">
                  <a16:creationId xmlns:a16="http://schemas.microsoft.com/office/drawing/2014/main" id="{8D60B455-90F4-CDFB-F52E-9A4A8756E911}"/>
                </a:ext>
              </a:extLst>
            </p:cNvPr>
            <p:cNvSpPr txBox="1"/>
            <p:nvPr/>
          </p:nvSpPr>
          <p:spPr>
            <a:xfrm>
              <a:off x="11106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6</a:t>
              </a:r>
              <a:endParaRPr lang="en-US" sz="4000" b="1" dirty="0">
                <a:solidFill>
                  <a:schemeClr val="bg1"/>
                </a:solidFill>
                <a:latin typeface="Aptos" panose="020B0004020202020204" pitchFamily="34" charset="0"/>
              </a:endParaRPr>
            </a:p>
          </p:txBody>
        </p:sp>
        <p:sp>
          <p:nvSpPr>
            <p:cNvPr id="52" name="Rectangle 51">
              <a:extLst>
                <a:ext uri="{FF2B5EF4-FFF2-40B4-BE49-F238E27FC236}">
                  <a16:creationId xmlns:a16="http://schemas.microsoft.com/office/drawing/2014/main" id="{50B72E6D-8ECB-E36A-02CF-A06A8E65E477}"/>
                </a:ext>
              </a:extLst>
            </p:cNvPr>
            <p:cNvSpPr/>
            <p:nvPr/>
          </p:nvSpPr>
          <p:spPr>
            <a:xfrm>
              <a:off x="1037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339FD8AE-FAB9-ACFD-1045-7A75DA21F781}"/>
                </a:ext>
              </a:extLst>
            </p:cNvPr>
            <p:cNvSpPr txBox="1"/>
            <p:nvPr/>
          </p:nvSpPr>
          <p:spPr>
            <a:xfrm>
              <a:off x="10101723" y="2252859"/>
              <a:ext cx="2295145" cy="400110"/>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CONCLUSION</a:t>
              </a:r>
              <a:endParaRPr lang="en-US" sz="3600" dirty="0">
                <a:solidFill>
                  <a:schemeClr val="bg1"/>
                </a:solidFill>
                <a:latin typeface="Bahnschrift SemiBold" panose="020B0502040204020203" pitchFamily="34" charset="0"/>
              </a:endParaRPr>
            </a:p>
          </p:txBody>
        </p:sp>
        <p:sp>
          <p:nvSpPr>
            <p:cNvPr id="65" name="TextBox 64">
              <a:extLst>
                <a:ext uri="{FF2B5EF4-FFF2-40B4-BE49-F238E27FC236}">
                  <a16:creationId xmlns:a16="http://schemas.microsoft.com/office/drawing/2014/main" id="{84524189-FA39-F9E9-6A9C-A5FDF7428336}"/>
                </a:ext>
              </a:extLst>
            </p:cNvPr>
            <p:cNvSpPr txBox="1"/>
            <p:nvPr/>
          </p:nvSpPr>
          <p:spPr>
            <a:xfrm>
              <a:off x="10305847" y="4307263"/>
              <a:ext cx="2121378" cy="1169551"/>
            </a:xfrm>
            <a:prstGeom prst="rect">
              <a:avLst/>
            </a:prstGeom>
            <a:noFill/>
          </p:spPr>
          <p:txBody>
            <a:bodyPr wrap="square" rtlCol="0">
              <a:spAutoFit/>
            </a:bodyPr>
            <a:lstStyle/>
            <a:p>
              <a:r>
                <a:rPr lang="fr-FR" sz="1400" b="1" dirty="0">
                  <a:solidFill>
                    <a:schemeClr val="bg1"/>
                  </a:solidFill>
                  <a:latin typeface="Aptos" panose="020B0004020202020204" pitchFamily="34" charset="0"/>
                </a:rPr>
                <a:t>construire un site web plus sécurisé garantissant la confidentialité des utilisateurs</a:t>
              </a:r>
              <a:endParaRPr lang="en-US" sz="1600" b="1" dirty="0">
                <a:solidFill>
                  <a:schemeClr val="bg1"/>
                </a:solidFill>
                <a:latin typeface="Aptos" panose="020B0004020202020204" pitchFamily="34" charset="0"/>
              </a:endParaRPr>
            </a:p>
          </p:txBody>
        </p:sp>
        <p:sp>
          <p:nvSpPr>
            <p:cNvPr id="71" name="Rectangle 70">
              <a:extLst>
                <a:ext uri="{FF2B5EF4-FFF2-40B4-BE49-F238E27FC236}">
                  <a16:creationId xmlns:a16="http://schemas.microsoft.com/office/drawing/2014/main" id="{C5621757-E1FA-66B2-D02F-4AD23587A1C3}"/>
                </a:ext>
              </a:extLst>
            </p:cNvPr>
            <p:cNvSpPr/>
            <p:nvPr/>
          </p:nvSpPr>
          <p:spPr>
            <a:xfrm>
              <a:off x="10398898"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53F26C4-635A-65D8-772F-140885D02145}"/>
              </a:ext>
            </a:extLst>
          </p:cNvPr>
          <p:cNvGrpSpPr/>
          <p:nvPr/>
        </p:nvGrpSpPr>
        <p:grpSpPr>
          <a:xfrm>
            <a:off x="8086426" y="0"/>
            <a:ext cx="2833594" cy="6858000"/>
            <a:chOff x="8086426" y="0"/>
            <a:chExt cx="2833594" cy="6858000"/>
          </a:xfrm>
        </p:grpSpPr>
        <p:sp>
          <p:nvSpPr>
            <p:cNvPr id="6" name="Rectangle 5">
              <a:extLst>
                <a:ext uri="{FF2B5EF4-FFF2-40B4-BE49-F238E27FC236}">
                  <a16:creationId xmlns:a16="http://schemas.microsoft.com/office/drawing/2014/main" id="{1684495F-B109-024E-B0E6-F27FADDB10FD}"/>
                </a:ext>
              </a:extLst>
            </p:cNvPr>
            <p:cNvSpPr/>
            <p:nvPr/>
          </p:nvSpPr>
          <p:spPr>
            <a:xfrm>
              <a:off x="8207999" y="0"/>
              <a:ext cx="205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D1BB305B-BA8D-EFCF-979F-045DE284D815}"/>
                </a:ext>
              </a:extLst>
            </p:cNvPr>
            <p:cNvSpPr/>
            <p:nvPr/>
          </p:nvSpPr>
          <p:spPr>
            <a:xfrm rot="5400000">
              <a:off x="9829382" y="573161"/>
              <a:ext cx="1521257" cy="660018"/>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FE70AA5-E01B-A807-3AE1-71468AEBB942}"/>
                </a:ext>
              </a:extLst>
            </p:cNvPr>
            <p:cNvSpPr txBox="1"/>
            <p:nvPr/>
          </p:nvSpPr>
          <p:spPr>
            <a:xfrm>
              <a:off x="9054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5</a:t>
              </a:r>
              <a:endParaRPr lang="en-US" sz="4000" b="1" dirty="0">
                <a:solidFill>
                  <a:schemeClr val="bg1"/>
                </a:solidFill>
                <a:latin typeface="Aptos" panose="020B0004020202020204" pitchFamily="34" charset="0"/>
              </a:endParaRPr>
            </a:p>
          </p:txBody>
        </p:sp>
        <p:sp>
          <p:nvSpPr>
            <p:cNvPr id="51" name="Rectangle 50">
              <a:extLst>
                <a:ext uri="{FF2B5EF4-FFF2-40B4-BE49-F238E27FC236}">
                  <a16:creationId xmlns:a16="http://schemas.microsoft.com/office/drawing/2014/main" id="{B775D168-E0CA-6A1B-CCDE-2FB3923A24B1}"/>
                </a:ext>
              </a:extLst>
            </p:cNvPr>
            <p:cNvSpPr/>
            <p:nvPr/>
          </p:nvSpPr>
          <p:spPr>
            <a:xfrm>
              <a:off x="8339583"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9ABBDEBB-3FD5-26C6-0E56-98B32BE5F0C3}"/>
                </a:ext>
              </a:extLst>
            </p:cNvPr>
            <p:cNvSpPr txBox="1"/>
            <p:nvPr/>
          </p:nvSpPr>
          <p:spPr>
            <a:xfrm>
              <a:off x="8086426" y="1921105"/>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CHIFFREMENT DES DONNÉES SENSIBLES </a:t>
              </a:r>
              <a:endParaRPr lang="en-US" sz="3200" dirty="0">
                <a:solidFill>
                  <a:schemeClr val="bg1"/>
                </a:solidFill>
                <a:latin typeface="Bahnschrift SemiBold" panose="020B0502040204020203" pitchFamily="34" charset="0"/>
              </a:endParaRPr>
            </a:p>
          </p:txBody>
        </p:sp>
        <p:sp>
          <p:nvSpPr>
            <p:cNvPr id="64" name="TextBox 63">
              <a:extLst>
                <a:ext uri="{FF2B5EF4-FFF2-40B4-BE49-F238E27FC236}">
                  <a16:creationId xmlns:a16="http://schemas.microsoft.com/office/drawing/2014/main" id="{3C6424CC-4DDE-381C-FDE9-454B6FC3C9B8}"/>
                </a:ext>
              </a:extLst>
            </p:cNvPr>
            <p:cNvSpPr txBox="1"/>
            <p:nvPr/>
          </p:nvSpPr>
          <p:spPr>
            <a:xfrm>
              <a:off x="8196284" y="3877056"/>
              <a:ext cx="1994334" cy="2031325"/>
            </a:xfrm>
            <a:prstGeom prst="rect">
              <a:avLst/>
            </a:prstGeom>
            <a:noFill/>
          </p:spPr>
          <p:txBody>
            <a:bodyPr wrap="square" rtlCol="0">
              <a:spAutoFit/>
            </a:bodyPr>
            <a:lstStyle/>
            <a:p>
              <a:r>
                <a:rPr lang="fr-FR" sz="1400" b="1" dirty="0">
                  <a:solidFill>
                    <a:schemeClr val="bg1"/>
                  </a:solidFill>
                  <a:latin typeface="Aptos" panose="020B0004020202020204" pitchFamily="34" charset="0"/>
                </a:rPr>
                <a:t>Chiffrement au niveau base de données</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Variables d'environnement (gestion des secrets) </a:t>
              </a:r>
              <a:endParaRPr lang="en-US" sz="1400" b="1" dirty="0">
                <a:solidFill>
                  <a:schemeClr val="bg1"/>
                </a:solidFill>
                <a:latin typeface="Aptos" panose="020B0004020202020204" pitchFamily="34" charset="0"/>
              </a:endParaRPr>
            </a:p>
          </p:txBody>
        </p:sp>
        <p:sp>
          <p:nvSpPr>
            <p:cNvPr id="70" name="Rectangle 69">
              <a:extLst>
                <a:ext uri="{FF2B5EF4-FFF2-40B4-BE49-F238E27FC236}">
                  <a16:creationId xmlns:a16="http://schemas.microsoft.com/office/drawing/2014/main" id="{E1468ECF-4B8B-3F74-FBA8-A054ADC274CC}"/>
                </a:ext>
              </a:extLst>
            </p:cNvPr>
            <p:cNvSpPr/>
            <p:nvPr/>
          </p:nvSpPr>
          <p:spPr>
            <a:xfrm>
              <a:off x="8319560"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F79ED975-2832-FC11-E418-EB3328B249E5}"/>
              </a:ext>
            </a:extLst>
          </p:cNvPr>
          <p:cNvGrpSpPr/>
          <p:nvPr/>
        </p:nvGrpSpPr>
        <p:grpSpPr>
          <a:xfrm>
            <a:off x="6006062" y="0"/>
            <a:ext cx="2861956" cy="6921643"/>
            <a:chOff x="6006062" y="0"/>
            <a:chExt cx="2861956" cy="6921643"/>
          </a:xfrm>
        </p:grpSpPr>
        <p:grpSp>
          <p:nvGrpSpPr>
            <p:cNvPr id="18" name="Group 17">
              <a:extLst>
                <a:ext uri="{FF2B5EF4-FFF2-40B4-BE49-F238E27FC236}">
                  <a16:creationId xmlns:a16="http://schemas.microsoft.com/office/drawing/2014/main" id="{89A3E109-92B8-80CF-A9D4-79EECEB791E7}"/>
                </a:ext>
              </a:extLst>
            </p:cNvPr>
            <p:cNvGrpSpPr/>
            <p:nvPr/>
          </p:nvGrpSpPr>
          <p:grpSpPr>
            <a:xfrm>
              <a:off x="6155999" y="0"/>
              <a:ext cx="2712019" cy="6858000"/>
              <a:chOff x="6155999" y="0"/>
              <a:chExt cx="2712019" cy="6858000"/>
            </a:xfrm>
            <a:solidFill>
              <a:srgbClr val="4472C4"/>
            </a:solidFill>
          </p:grpSpPr>
          <p:sp>
            <p:nvSpPr>
              <p:cNvPr id="5" name="Rectangle 4">
                <a:extLst>
                  <a:ext uri="{FF2B5EF4-FFF2-40B4-BE49-F238E27FC236}">
                    <a16:creationId xmlns:a16="http://schemas.microsoft.com/office/drawing/2014/main" id="{0BFE5F50-56EF-7A06-69CE-5FB7471360B9}"/>
                  </a:ext>
                </a:extLst>
              </p:cNvPr>
              <p:cNvSpPr/>
              <p:nvPr/>
            </p:nvSpPr>
            <p:spPr>
              <a:xfrm>
                <a:off x="6155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Isosceles Triangle 10">
                <a:extLst>
                  <a:ext uri="{FF2B5EF4-FFF2-40B4-BE49-F238E27FC236}">
                    <a16:creationId xmlns:a16="http://schemas.microsoft.com/office/drawing/2014/main" id="{5D3B3003-7599-7D84-F3F0-8751976F9147}"/>
                  </a:ext>
                </a:extLst>
              </p:cNvPr>
              <p:cNvSpPr/>
              <p:nvPr/>
            </p:nvSpPr>
            <p:spPr>
              <a:xfrm rot="5400000">
                <a:off x="7777380" y="573160"/>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795AF48D-9B44-47B8-1AB1-C7276E58C555}"/>
                </a:ext>
              </a:extLst>
            </p:cNvPr>
            <p:cNvSpPr txBox="1"/>
            <p:nvPr/>
          </p:nvSpPr>
          <p:spPr>
            <a:xfrm>
              <a:off x="700246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4</a:t>
              </a:r>
              <a:endParaRPr lang="en-US" sz="4000" b="1" dirty="0">
                <a:solidFill>
                  <a:schemeClr val="bg1"/>
                </a:solidFill>
                <a:latin typeface="Aptos" panose="020B0004020202020204" pitchFamily="34" charset="0"/>
              </a:endParaRPr>
            </a:p>
          </p:txBody>
        </p:sp>
        <p:sp>
          <p:nvSpPr>
            <p:cNvPr id="50" name="Rectangle 49">
              <a:extLst>
                <a:ext uri="{FF2B5EF4-FFF2-40B4-BE49-F238E27FC236}">
                  <a16:creationId xmlns:a16="http://schemas.microsoft.com/office/drawing/2014/main" id="{85949BEF-5683-520A-BB93-90507DB9FAEE}"/>
                </a:ext>
              </a:extLst>
            </p:cNvPr>
            <p:cNvSpPr/>
            <p:nvPr/>
          </p:nvSpPr>
          <p:spPr>
            <a:xfrm>
              <a:off x="6287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21B3BC1A-6E87-3420-6BA1-BA5357624B4D}"/>
                </a:ext>
              </a:extLst>
            </p:cNvPr>
            <p:cNvSpPr txBox="1"/>
            <p:nvPr/>
          </p:nvSpPr>
          <p:spPr>
            <a:xfrm>
              <a:off x="6006062" y="1948346"/>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ARCHITECTURE SÉCURISÉE PROPOSÉE </a:t>
              </a:r>
              <a:endParaRPr lang="en-US" sz="2800" dirty="0">
                <a:solidFill>
                  <a:schemeClr val="bg1"/>
                </a:solidFill>
                <a:latin typeface="Bahnschrift SemiBold" panose="020B0502040204020203" pitchFamily="34" charset="0"/>
              </a:endParaRPr>
            </a:p>
          </p:txBody>
        </p:sp>
        <p:sp>
          <p:nvSpPr>
            <p:cNvPr id="63" name="TextBox 62">
              <a:extLst>
                <a:ext uri="{FF2B5EF4-FFF2-40B4-BE49-F238E27FC236}">
                  <a16:creationId xmlns:a16="http://schemas.microsoft.com/office/drawing/2014/main" id="{9A038EE7-E7CB-01BC-FD4D-43B7CD7F4566}"/>
                </a:ext>
              </a:extLst>
            </p:cNvPr>
            <p:cNvSpPr txBox="1"/>
            <p:nvPr/>
          </p:nvSpPr>
          <p:spPr>
            <a:xfrm>
              <a:off x="6145044" y="3135991"/>
              <a:ext cx="2085813" cy="3785652"/>
            </a:xfrm>
            <a:prstGeom prst="rect">
              <a:avLst/>
            </a:prstGeom>
            <a:noFill/>
          </p:spPr>
          <p:txBody>
            <a:bodyPr wrap="square" rtlCol="0">
              <a:spAutoFit/>
            </a:bodyPr>
            <a:lstStyle/>
            <a:p>
              <a:r>
                <a:rPr lang="fr-FR" sz="1200" b="1" dirty="0">
                  <a:solidFill>
                    <a:schemeClr val="bg1"/>
                  </a:solidFill>
                  <a:latin typeface="Aptos" panose="020B0004020202020204" pitchFamily="34" charset="0"/>
                </a:rPr>
                <a:t>Architecture Globale Sécurisée </a:t>
              </a:r>
            </a:p>
            <a:p>
              <a:endParaRPr lang="en-US"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Implémentation RBAC Complète </a:t>
              </a:r>
            </a:p>
            <a:p>
              <a:endParaRPr lang="en-US"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Protection Anti-SQL Injection </a:t>
              </a:r>
            </a:p>
            <a:p>
              <a:endParaRPr lang="en-US"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Sécurisation des Communications (HTTPS/TLS)</a:t>
              </a:r>
            </a:p>
            <a:p>
              <a:endParaRPr lang="fr-FR"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Signature HMAC des Signaux d'Alerte </a:t>
              </a:r>
            </a:p>
            <a:p>
              <a:endParaRPr lang="fr-FR"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Déclenchement Sécurisé des Sirènes </a:t>
              </a:r>
            </a:p>
            <a:p>
              <a:endParaRPr lang="fr-FR"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Protection Firewall (UFW)</a:t>
              </a:r>
            </a:p>
          </p:txBody>
        </p:sp>
        <p:sp>
          <p:nvSpPr>
            <p:cNvPr id="69" name="Rectangle 68">
              <a:extLst>
                <a:ext uri="{FF2B5EF4-FFF2-40B4-BE49-F238E27FC236}">
                  <a16:creationId xmlns:a16="http://schemas.microsoft.com/office/drawing/2014/main" id="{BE7FC510-79F0-8C9A-313E-67D536CBDCDE}"/>
                </a:ext>
              </a:extLst>
            </p:cNvPr>
            <p:cNvSpPr/>
            <p:nvPr/>
          </p:nvSpPr>
          <p:spPr>
            <a:xfrm>
              <a:off x="6284019"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4CB55175-DC19-3784-364E-3942B439380D}"/>
              </a:ext>
            </a:extLst>
          </p:cNvPr>
          <p:cNvGrpSpPr/>
          <p:nvPr/>
        </p:nvGrpSpPr>
        <p:grpSpPr>
          <a:xfrm>
            <a:off x="3979755" y="0"/>
            <a:ext cx="2836266" cy="6858000"/>
            <a:chOff x="3979755" y="0"/>
            <a:chExt cx="2836266" cy="6858000"/>
          </a:xfrm>
        </p:grpSpPr>
        <p:grpSp>
          <p:nvGrpSpPr>
            <p:cNvPr id="17" name="Group 16">
              <a:extLst>
                <a:ext uri="{FF2B5EF4-FFF2-40B4-BE49-F238E27FC236}">
                  <a16:creationId xmlns:a16="http://schemas.microsoft.com/office/drawing/2014/main" id="{03C7A51D-B12D-0B23-02E5-97487167482B}"/>
                </a:ext>
              </a:extLst>
            </p:cNvPr>
            <p:cNvGrpSpPr/>
            <p:nvPr/>
          </p:nvGrpSpPr>
          <p:grpSpPr>
            <a:xfrm>
              <a:off x="4103999" y="0"/>
              <a:ext cx="2712022" cy="6858000"/>
              <a:chOff x="4103999" y="0"/>
              <a:chExt cx="2712022" cy="6858000"/>
            </a:xfrm>
            <a:solidFill>
              <a:srgbClr val="00B0F0"/>
            </a:solidFill>
          </p:grpSpPr>
          <p:sp>
            <p:nvSpPr>
              <p:cNvPr id="4" name="Rectangle 3">
                <a:extLst>
                  <a:ext uri="{FF2B5EF4-FFF2-40B4-BE49-F238E27FC236}">
                    <a16:creationId xmlns:a16="http://schemas.microsoft.com/office/drawing/2014/main" id="{CA4C4D2C-F3FD-5325-0F32-4C4EA210A4D9}"/>
                  </a:ext>
                </a:extLst>
              </p:cNvPr>
              <p:cNvSpPr/>
              <p:nvPr/>
            </p:nvSpPr>
            <p:spPr>
              <a:xfrm>
                <a:off x="4103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Isosceles Triangle 9">
                <a:extLst>
                  <a:ext uri="{FF2B5EF4-FFF2-40B4-BE49-F238E27FC236}">
                    <a16:creationId xmlns:a16="http://schemas.microsoft.com/office/drawing/2014/main" id="{C495FC4E-9474-72C4-12D1-0FFFF3A704BB}"/>
                  </a:ext>
                </a:extLst>
              </p:cNvPr>
              <p:cNvSpPr/>
              <p:nvPr/>
            </p:nvSpPr>
            <p:spPr>
              <a:xfrm rot="5400000">
                <a:off x="5725383" y="573159"/>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EAD149F5-2D6F-7C4C-524D-25B173A8EAD0}"/>
                </a:ext>
              </a:extLst>
            </p:cNvPr>
            <p:cNvSpPr txBox="1"/>
            <p:nvPr/>
          </p:nvSpPr>
          <p:spPr>
            <a:xfrm>
              <a:off x="4950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3</a:t>
              </a:r>
              <a:endParaRPr lang="en-US" sz="4000" b="1" dirty="0">
                <a:solidFill>
                  <a:schemeClr val="bg1"/>
                </a:solidFill>
                <a:latin typeface="Aptos" panose="020B0004020202020204" pitchFamily="34" charset="0"/>
              </a:endParaRPr>
            </a:p>
          </p:txBody>
        </p:sp>
        <p:sp>
          <p:nvSpPr>
            <p:cNvPr id="49" name="Rectangle 48">
              <a:extLst>
                <a:ext uri="{FF2B5EF4-FFF2-40B4-BE49-F238E27FC236}">
                  <a16:creationId xmlns:a16="http://schemas.microsoft.com/office/drawing/2014/main" id="{07DE6B7F-BAB5-3E4E-C341-96D147B9BD53}"/>
                </a:ext>
              </a:extLst>
            </p:cNvPr>
            <p:cNvSpPr/>
            <p:nvPr/>
          </p:nvSpPr>
          <p:spPr>
            <a:xfrm>
              <a:off x="4235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F3C6C09-BABC-8065-B33E-F97F2D00173D}"/>
                </a:ext>
              </a:extLst>
            </p:cNvPr>
            <p:cNvSpPr txBox="1"/>
            <p:nvPr/>
          </p:nvSpPr>
          <p:spPr>
            <a:xfrm>
              <a:off x="3979755" y="2063859"/>
              <a:ext cx="2295145" cy="707886"/>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VULNÉRABILITÉS DÉTECTÉES</a:t>
              </a:r>
              <a:endParaRPr lang="en-US" sz="2000" dirty="0">
                <a:solidFill>
                  <a:schemeClr val="bg1"/>
                </a:solidFill>
                <a:latin typeface="Bahnschrift SemiBold" panose="020B0502040204020203" pitchFamily="34" charset="0"/>
              </a:endParaRPr>
            </a:p>
          </p:txBody>
        </p:sp>
        <p:sp>
          <p:nvSpPr>
            <p:cNvPr id="62" name="TextBox 61">
              <a:extLst>
                <a:ext uri="{FF2B5EF4-FFF2-40B4-BE49-F238E27FC236}">
                  <a16:creationId xmlns:a16="http://schemas.microsoft.com/office/drawing/2014/main" id="{469AC835-9AC8-7E5E-8CBA-01794A563F24}"/>
                </a:ext>
              </a:extLst>
            </p:cNvPr>
            <p:cNvSpPr txBox="1"/>
            <p:nvPr/>
          </p:nvSpPr>
          <p:spPr>
            <a:xfrm>
              <a:off x="4085755" y="3573018"/>
              <a:ext cx="2093102" cy="3108543"/>
            </a:xfrm>
            <a:prstGeom prst="rect">
              <a:avLst/>
            </a:prstGeom>
            <a:noFill/>
          </p:spPr>
          <p:txBody>
            <a:bodyPr wrap="square" rtlCol="0">
              <a:spAutoFit/>
            </a:bodyPr>
            <a:lstStyle/>
            <a:p>
              <a:r>
                <a:rPr lang="fr-FR" sz="1400" b="1" dirty="0">
                  <a:solidFill>
                    <a:schemeClr val="bg1"/>
                  </a:solidFill>
                  <a:latin typeface="Aptos" panose="020B0004020202020204" pitchFamily="34" charset="0"/>
                </a:rPr>
                <a:t>SQL Injection</a:t>
              </a:r>
            </a:p>
            <a:p>
              <a:endParaRPr lang="fr-FR"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Man-in-the-Middle </a:t>
              </a:r>
            </a:p>
            <a:p>
              <a:endParaRPr lang="en-US"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Absence de Contrôle d'Accès</a:t>
              </a:r>
            </a:p>
            <a:p>
              <a:endParaRPr lang="fr-FR"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Déni de Service  </a:t>
              </a:r>
            </a:p>
            <a:p>
              <a:endParaRPr lang="en-US"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Falsification des Signaux d'Alerte </a:t>
              </a:r>
            </a:p>
            <a:p>
              <a:endParaRPr lang="en-US"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Données Capteurs Aberrantes </a:t>
              </a:r>
            </a:p>
          </p:txBody>
        </p:sp>
        <p:sp>
          <p:nvSpPr>
            <p:cNvPr id="68" name="Rectangle 67">
              <a:extLst>
                <a:ext uri="{FF2B5EF4-FFF2-40B4-BE49-F238E27FC236}">
                  <a16:creationId xmlns:a16="http://schemas.microsoft.com/office/drawing/2014/main" id="{58A63FDA-4ED0-8C46-63C0-F9A1ABCD2BB6}"/>
                </a:ext>
              </a:extLst>
            </p:cNvPr>
            <p:cNvSpPr/>
            <p:nvPr/>
          </p:nvSpPr>
          <p:spPr>
            <a:xfrm>
              <a:off x="4235586"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918A7543-8F2F-4B36-8CBF-1EBE9D70EEE2}"/>
              </a:ext>
            </a:extLst>
          </p:cNvPr>
          <p:cNvGrpSpPr/>
          <p:nvPr/>
        </p:nvGrpSpPr>
        <p:grpSpPr>
          <a:xfrm>
            <a:off x="1910401" y="0"/>
            <a:ext cx="2853618" cy="6858000"/>
            <a:chOff x="1910401" y="0"/>
            <a:chExt cx="2853618" cy="6858000"/>
          </a:xfrm>
        </p:grpSpPr>
        <p:grpSp>
          <p:nvGrpSpPr>
            <p:cNvPr id="16" name="Group 15">
              <a:extLst>
                <a:ext uri="{FF2B5EF4-FFF2-40B4-BE49-F238E27FC236}">
                  <a16:creationId xmlns:a16="http://schemas.microsoft.com/office/drawing/2014/main" id="{320612DE-6731-4D09-31E4-6D26758A58BD}"/>
                </a:ext>
              </a:extLst>
            </p:cNvPr>
            <p:cNvGrpSpPr/>
            <p:nvPr/>
          </p:nvGrpSpPr>
          <p:grpSpPr>
            <a:xfrm>
              <a:off x="2051999" y="0"/>
              <a:ext cx="2712020" cy="6858000"/>
              <a:chOff x="2051999" y="0"/>
              <a:chExt cx="2712020" cy="6858000"/>
            </a:xfrm>
            <a:solidFill>
              <a:schemeClr val="accent1">
                <a:lumMod val="60000"/>
                <a:lumOff val="40000"/>
              </a:schemeClr>
            </a:solidFill>
          </p:grpSpPr>
          <p:sp>
            <p:nvSpPr>
              <p:cNvPr id="3" name="Rectangle 2">
                <a:extLst>
                  <a:ext uri="{FF2B5EF4-FFF2-40B4-BE49-F238E27FC236}">
                    <a16:creationId xmlns:a16="http://schemas.microsoft.com/office/drawing/2014/main" id="{5918469B-0B71-58BF-97DA-8CD9E5D34C31}"/>
                  </a:ext>
                </a:extLst>
              </p:cNvPr>
              <p:cNvSpPr/>
              <p:nvPr/>
            </p:nvSpPr>
            <p:spPr>
              <a:xfrm>
                <a:off x="2051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AC76ED57-513B-3416-5119-EA20DDF14CF6}"/>
                  </a:ext>
                </a:extLst>
              </p:cNvPr>
              <p:cNvSpPr/>
              <p:nvPr/>
            </p:nvSpPr>
            <p:spPr>
              <a:xfrm rot="5400000">
                <a:off x="3673381" y="573158"/>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4FC77C62-FB1D-F7CC-7841-063AA7118ACC}"/>
                </a:ext>
              </a:extLst>
            </p:cNvPr>
            <p:cNvSpPr txBox="1"/>
            <p:nvPr/>
          </p:nvSpPr>
          <p:spPr>
            <a:xfrm>
              <a:off x="2898466"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2</a:t>
              </a:r>
              <a:endParaRPr lang="en-US" sz="4000" b="1" dirty="0">
                <a:solidFill>
                  <a:schemeClr val="bg1"/>
                </a:solidFill>
                <a:latin typeface="Aptos" panose="020B0004020202020204" pitchFamily="34" charset="0"/>
              </a:endParaRPr>
            </a:p>
          </p:txBody>
        </p:sp>
        <p:sp>
          <p:nvSpPr>
            <p:cNvPr id="48" name="Rectangle 47">
              <a:extLst>
                <a:ext uri="{FF2B5EF4-FFF2-40B4-BE49-F238E27FC236}">
                  <a16:creationId xmlns:a16="http://schemas.microsoft.com/office/drawing/2014/main" id="{DD401928-F004-813F-9F65-8F92012ED86A}"/>
                </a:ext>
              </a:extLst>
            </p:cNvPr>
            <p:cNvSpPr/>
            <p:nvPr/>
          </p:nvSpPr>
          <p:spPr>
            <a:xfrm>
              <a:off x="2186977"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415F52A7-D99C-FC4E-99FB-DC8D00D3CC81}"/>
                </a:ext>
              </a:extLst>
            </p:cNvPr>
            <p:cNvSpPr txBox="1"/>
            <p:nvPr/>
          </p:nvSpPr>
          <p:spPr>
            <a:xfrm>
              <a:off x="1910401" y="2055958"/>
              <a:ext cx="2295145" cy="707886"/>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ANALYSE DES RISQUES </a:t>
              </a:r>
            </a:p>
          </p:txBody>
        </p:sp>
        <p:sp>
          <p:nvSpPr>
            <p:cNvPr id="61" name="TextBox 60">
              <a:extLst>
                <a:ext uri="{FF2B5EF4-FFF2-40B4-BE49-F238E27FC236}">
                  <a16:creationId xmlns:a16="http://schemas.microsoft.com/office/drawing/2014/main" id="{9FC80986-ECEE-7CE6-F686-18B383FFBC89}"/>
                </a:ext>
              </a:extLst>
            </p:cNvPr>
            <p:cNvSpPr txBox="1"/>
            <p:nvPr/>
          </p:nvSpPr>
          <p:spPr>
            <a:xfrm>
              <a:off x="2065004" y="3989219"/>
              <a:ext cx="2094775" cy="2246769"/>
            </a:xfrm>
            <a:prstGeom prst="rect">
              <a:avLst/>
            </a:prstGeom>
            <a:noFill/>
          </p:spPr>
          <p:txBody>
            <a:bodyPr wrap="square" rtlCol="0">
              <a:spAutoFit/>
            </a:bodyPr>
            <a:lstStyle/>
            <a:p>
              <a:r>
                <a:rPr lang="fr-FR" sz="1400" b="1" dirty="0">
                  <a:solidFill>
                    <a:schemeClr val="bg1"/>
                  </a:solidFill>
                  <a:latin typeface="Aptos" panose="020B0004020202020204" pitchFamily="34" charset="0"/>
                </a:rPr>
                <a:t>Modèle de Menaces </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Surface d’Attaque </a:t>
              </a:r>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Analyse des Risques (Méthode DREAD) </a:t>
              </a:r>
            </a:p>
          </p:txBody>
        </p:sp>
        <p:sp>
          <p:nvSpPr>
            <p:cNvPr id="67" name="Rectangle 66">
              <a:extLst>
                <a:ext uri="{FF2B5EF4-FFF2-40B4-BE49-F238E27FC236}">
                  <a16:creationId xmlns:a16="http://schemas.microsoft.com/office/drawing/2014/main" id="{AC470F19-E778-5713-C6AF-8FAEAFA6D7E1}"/>
                </a:ext>
              </a:extLst>
            </p:cNvPr>
            <p:cNvSpPr/>
            <p:nvPr/>
          </p:nvSpPr>
          <p:spPr>
            <a:xfrm>
              <a:off x="2186977" y="3041445"/>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3B90AC25-9D2C-F68A-DAD6-071F7203017A}"/>
              </a:ext>
            </a:extLst>
          </p:cNvPr>
          <p:cNvGrpSpPr/>
          <p:nvPr/>
        </p:nvGrpSpPr>
        <p:grpSpPr>
          <a:xfrm>
            <a:off x="-108168" y="0"/>
            <a:ext cx="2820185" cy="6858000"/>
            <a:chOff x="-108168" y="0"/>
            <a:chExt cx="2820185" cy="6858000"/>
          </a:xfrm>
        </p:grpSpPr>
        <p:grpSp>
          <p:nvGrpSpPr>
            <p:cNvPr id="15" name="Group 14">
              <a:extLst>
                <a:ext uri="{FF2B5EF4-FFF2-40B4-BE49-F238E27FC236}">
                  <a16:creationId xmlns:a16="http://schemas.microsoft.com/office/drawing/2014/main" id="{6584171A-67E8-C5B7-BD00-31ACC8A5C660}"/>
                </a:ext>
              </a:extLst>
            </p:cNvPr>
            <p:cNvGrpSpPr/>
            <p:nvPr/>
          </p:nvGrpSpPr>
          <p:grpSpPr>
            <a:xfrm>
              <a:off x="-1" y="0"/>
              <a:ext cx="2712018" cy="6858000"/>
              <a:chOff x="-1" y="0"/>
              <a:chExt cx="2712018" cy="6858000"/>
            </a:xfrm>
            <a:solidFill>
              <a:schemeClr val="accent1">
                <a:lumMod val="40000"/>
                <a:lumOff val="60000"/>
              </a:schemeClr>
            </a:solidFill>
          </p:grpSpPr>
          <p:sp>
            <p:nvSpPr>
              <p:cNvPr id="2" name="Rectangle 1">
                <a:extLst>
                  <a:ext uri="{FF2B5EF4-FFF2-40B4-BE49-F238E27FC236}">
                    <a16:creationId xmlns:a16="http://schemas.microsoft.com/office/drawing/2014/main" id="{4C7E1A31-F201-5E43-F22B-6C0DE98415E0}"/>
                  </a:ext>
                </a:extLst>
              </p:cNvPr>
              <p:cNvSpPr/>
              <p:nvPr/>
            </p:nvSpPr>
            <p:spPr>
              <a:xfrm>
                <a:off x="-1"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Isosceles Triangle 7">
                <a:extLst>
                  <a:ext uri="{FF2B5EF4-FFF2-40B4-BE49-F238E27FC236}">
                    <a16:creationId xmlns:a16="http://schemas.microsoft.com/office/drawing/2014/main" id="{AA3AB4BE-EF2F-819C-265C-C4954B724EC8}"/>
                  </a:ext>
                </a:extLst>
              </p:cNvPr>
              <p:cNvSpPr/>
              <p:nvPr/>
            </p:nvSpPr>
            <p:spPr>
              <a:xfrm rot="5400000">
                <a:off x="1621379" y="573157"/>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B8445342-C2AF-0BFC-BB27-D2DDCF9F004A}"/>
                </a:ext>
              </a:extLst>
            </p:cNvPr>
            <p:cNvSpPr txBox="1"/>
            <p:nvPr/>
          </p:nvSpPr>
          <p:spPr>
            <a:xfrm>
              <a:off x="77122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1</a:t>
              </a:r>
              <a:endParaRPr lang="en-US" sz="4000" b="1" dirty="0">
                <a:solidFill>
                  <a:schemeClr val="bg1"/>
                </a:solidFill>
                <a:latin typeface="Aptos" panose="020B0004020202020204" pitchFamily="34" charset="0"/>
              </a:endParaRPr>
            </a:p>
          </p:txBody>
        </p:sp>
        <p:sp>
          <p:nvSpPr>
            <p:cNvPr id="44" name="Rectangle 43">
              <a:extLst>
                <a:ext uri="{FF2B5EF4-FFF2-40B4-BE49-F238E27FC236}">
                  <a16:creationId xmlns:a16="http://schemas.microsoft.com/office/drawing/2014/main" id="{14BAB1A9-97E9-D324-3FF2-6926D0ADBAB7}"/>
                </a:ext>
              </a:extLst>
            </p:cNvPr>
            <p:cNvSpPr/>
            <p:nvPr/>
          </p:nvSpPr>
          <p:spPr>
            <a:xfrm>
              <a:off x="11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801525C2-A1AD-2E3A-A283-4A773B3773F2}"/>
                </a:ext>
              </a:extLst>
            </p:cNvPr>
            <p:cNvSpPr txBox="1"/>
            <p:nvPr/>
          </p:nvSpPr>
          <p:spPr>
            <a:xfrm>
              <a:off x="-108168" y="2174117"/>
              <a:ext cx="2295145" cy="400110"/>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INTRODUCTION </a:t>
              </a:r>
            </a:p>
          </p:txBody>
        </p:sp>
        <p:sp>
          <p:nvSpPr>
            <p:cNvPr id="60" name="TextBox 59">
              <a:extLst>
                <a:ext uri="{FF2B5EF4-FFF2-40B4-BE49-F238E27FC236}">
                  <a16:creationId xmlns:a16="http://schemas.microsoft.com/office/drawing/2014/main" id="{F1BC177E-183A-06F2-A562-B1C20A72145A}"/>
                </a:ext>
              </a:extLst>
            </p:cNvPr>
            <p:cNvSpPr txBox="1"/>
            <p:nvPr/>
          </p:nvSpPr>
          <p:spPr>
            <a:xfrm>
              <a:off x="68693" y="4499846"/>
              <a:ext cx="2295145" cy="1384995"/>
            </a:xfrm>
            <a:prstGeom prst="rect">
              <a:avLst/>
            </a:prstGeom>
            <a:noFill/>
          </p:spPr>
          <p:txBody>
            <a:bodyPr wrap="square" rtlCol="0">
              <a:spAutoFit/>
            </a:bodyPr>
            <a:lstStyle/>
            <a:p>
              <a:r>
                <a:rPr lang="fr-FR" sz="1400" b="1" dirty="0">
                  <a:solidFill>
                    <a:schemeClr val="bg1"/>
                  </a:solidFill>
                  <a:latin typeface="Aptos" panose="020B0004020202020204" pitchFamily="34" charset="0"/>
                </a:rPr>
                <a:t>Objectif de projet</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Structure de projet</a:t>
              </a:r>
            </a:p>
          </p:txBody>
        </p:sp>
        <p:sp>
          <p:nvSpPr>
            <p:cNvPr id="66" name="Rectangle 65">
              <a:extLst>
                <a:ext uri="{FF2B5EF4-FFF2-40B4-BE49-F238E27FC236}">
                  <a16:creationId xmlns:a16="http://schemas.microsoft.com/office/drawing/2014/main" id="{6845CFEC-7494-7437-FBF8-9261ED260895}"/>
                </a:ext>
              </a:extLst>
            </p:cNvPr>
            <p:cNvSpPr/>
            <p:nvPr/>
          </p:nvSpPr>
          <p:spPr>
            <a:xfrm>
              <a:off x="134285" y="3041446"/>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FA0D6B49-2713-63FE-FAEE-972275C44F0E}"/>
              </a:ext>
            </a:extLst>
          </p:cNvPr>
          <p:cNvSpPr txBox="1"/>
          <p:nvPr/>
        </p:nvSpPr>
        <p:spPr>
          <a:xfrm>
            <a:off x="14399177" y="2775537"/>
            <a:ext cx="4191000" cy="1446550"/>
          </a:xfrm>
          <a:prstGeom prst="rect">
            <a:avLst/>
          </a:prstGeom>
          <a:noFill/>
        </p:spPr>
        <p:txBody>
          <a:bodyPr wrap="square" rtlCol="0">
            <a:spAutoFit/>
          </a:bodyPr>
          <a:lstStyle/>
          <a:p>
            <a:r>
              <a:rPr lang="en-US" sz="8800" dirty="0">
                <a:latin typeface="Cooper Black" panose="0208090404030B020404" pitchFamily="18" charset="0"/>
              </a:rPr>
              <a:t>PLAN :</a:t>
            </a:r>
          </a:p>
        </p:txBody>
      </p:sp>
      <p:pic>
        <p:nvPicPr>
          <p:cNvPr id="25" name="Picture 24">
            <a:extLst>
              <a:ext uri="{FF2B5EF4-FFF2-40B4-BE49-F238E27FC236}">
                <a16:creationId xmlns:a16="http://schemas.microsoft.com/office/drawing/2014/main" id="{386F05D0-A066-78D1-1F5B-A458D6D7626D}"/>
              </a:ext>
            </a:extLst>
          </p:cNvPr>
          <p:cNvPicPr>
            <a:picLocks noChangeAspect="1"/>
          </p:cNvPicPr>
          <p:nvPr/>
        </p:nvPicPr>
        <p:blipFill>
          <a:blip r:embed="rId3"/>
          <a:stretch>
            <a:fillRect/>
          </a:stretch>
        </p:blipFill>
        <p:spPr>
          <a:xfrm rot="17860138">
            <a:off x="-2444432" y="2221232"/>
            <a:ext cx="944401" cy="944401"/>
          </a:xfrm>
          <a:prstGeom prst="rect">
            <a:avLst/>
          </a:prstGeom>
          <a:noFill/>
          <a:ln>
            <a:noFill/>
          </a:ln>
        </p:spPr>
      </p:pic>
      <p:sp>
        <p:nvSpPr>
          <p:cNvPr id="31" name="TextBox 30">
            <a:extLst>
              <a:ext uri="{FF2B5EF4-FFF2-40B4-BE49-F238E27FC236}">
                <a16:creationId xmlns:a16="http://schemas.microsoft.com/office/drawing/2014/main" id="{1990B93E-E65D-8389-F0C1-2CACDD2D5094}"/>
              </a:ext>
            </a:extLst>
          </p:cNvPr>
          <p:cNvSpPr txBox="1"/>
          <p:nvPr/>
        </p:nvSpPr>
        <p:spPr>
          <a:xfrm>
            <a:off x="-5302317" y="1913026"/>
            <a:ext cx="4627001" cy="923330"/>
          </a:xfrm>
          <a:prstGeom prst="rect">
            <a:avLst/>
          </a:prstGeom>
          <a:noFill/>
        </p:spPr>
        <p:txBody>
          <a:bodyPr wrap="square" rtlCol="0">
            <a:spAutoFit/>
          </a:bodyPr>
          <a:lstStyle/>
          <a:p>
            <a:r>
              <a:rPr lang="en-US" sz="5400" dirty="0">
                <a:latin typeface="Bahnschrift SemiBold" panose="020B0502040204020203" pitchFamily="34" charset="0"/>
              </a:rPr>
              <a:t>HENRY GANTT</a:t>
            </a:r>
          </a:p>
        </p:txBody>
      </p:sp>
      <p:sp>
        <p:nvSpPr>
          <p:cNvPr id="32" name="TextBox 31">
            <a:extLst>
              <a:ext uri="{FF2B5EF4-FFF2-40B4-BE49-F238E27FC236}">
                <a16:creationId xmlns:a16="http://schemas.microsoft.com/office/drawing/2014/main" id="{C402EB13-A8E8-0725-C140-E1CF9ABFFC9C}"/>
              </a:ext>
            </a:extLst>
          </p:cNvPr>
          <p:cNvSpPr txBox="1"/>
          <p:nvPr/>
        </p:nvSpPr>
        <p:spPr>
          <a:xfrm>
            <a:off x="-5062328" y="3496776"/>
            <a:ext cx="4139506" cy="3046988"/>
          </a:xfrm>
          <a:prstGeom prst="rect">
            <a:avLst/>
          </a:prstGeom>
          <a:noFill/>
        </p:spPr>
        <p:txBody>
          <a:bodyPr wrap="square" rtlCol="0">
            <a:spAutoFit/>
          </a:bodyPr>
          <a:lstStyle/>
          <a:p>
            <a:r>
              <a:rPr lang="fr-FR" sz="1600" dirty="0">
                <a:latin typeface="Bahnschrift SemiBold" panose="020B0502040204020203" pitchFamily="34" charset="0"/>
              </a:rPr>
              <a:t>Henry Gantt est un ingénieur et consultant en gestion américain, connu pour avoir créé le diagramme de Gantt. Il est considéré comme un pionnier du management scientifique au début du XXᵉ siècle</a:t>
            </a:r>
          </a:p>
          <a:p>
            <a:endParaRPr lang="fr-FR" sz="1600" b="1" dirty="0">
              <a:latin typeface="Bahnschrift SemiBold" panose="020B0502040204020203" pitchFamily="34" charset="0"/>
            </a:endParaRPr>
          </a:p>
          <a:p>
            <a:r>
              <a:rPr lang="fr-FR" sz="1600" dirty="0">
                <a:latin typeface="Bahnschrift SemiBold" panose="020B0502040204020203" pitchFamily="34" charset="0"/>
              </a:rPr>
              <a:t>Le diagramme de Gantt, créé au début du XXᵉ siècle par Henry Gantt, s’inspire des travaux de Karol Adamiecki et vise à améliorer l’efficacité de la production industrielle et la gestion des projets.</a:t>
            </a:r>
            <a:endParaRPr lang="en-US" sz="1600" dirty="0">
              <a:latin typeface="Bahnschrift SemiBold" panose="020B0502040204020203" pitchFamily="34" charset="0"/>
            </a:endParaRPr>
          </a:p>
        </p:txBody>
      </p:sp>
      <p:sp>
        <p:nvSpPr>
          <p:cNvPr id="33" name="TextBox 32">
            <a:extLst>
              <a:ext uri="{FF2B5EF4-FFF2-40B4-BE49-F238E27FC236}">
                <a16:creationId xmlns:a16="http://schemas.microsoft.com/office/drawing/2014/main" id="{E9D1AE42-D545-ED7A-DE67-51D71A30E303}"/>
              </a:ext>
            </a:extLst>
          </p:cNvPr>
          <p:cNvSpPr txBox="1"/>
          <p:nvPr/>
        </p:nvSpPr>
        <p:spPr>
          <a:xfrm>
            <a:off x="-3511331" y="3008618"/>
            <a:ext cx="1045028" cy="307777"/>
          </a:xfrm>
          <a:prstGeom prst="rect">
            <a:avLst/>
          </a:prstGeom>
          <a:noFill/>
        </p:spPr>
        <p:txBody>
          <a:bodyPr wrap="square" rtlCol="0">
            <a:spAutoFit/>
          </a:bodyPr>
          <a:lstStyle/>
          <a:p>
            <a:r>
              <a:rPr lang="en-US" sz="1400" b="1" dirty="0">
                <a:latin typeface="Aptos" panose="020B0004020202020204" pitchFamily="34" charset="0"/>
              </a:rPr>
              <a:t>1861-1919</a:t>
            </a:r>
          </a:p>
        </p:txBody>
      </p:sp>
      <p:sp>
        <p:nvSpPr>
          <p:cNvPr id="40" name="Rectangle: Rounded Corners 39">
            <a:extLst>
              <a:ext uri="{FF2B5EF4-FFF2-40B4-BE49-F238E27FC236}">
                <a16:creationId xmlns:a16="http://schemas.microsoft.com/office/drawing/2014/main" id="{F25B0F2C-FD5B-AB1C-5055-38F2EA7280B0}"/>
              </a:ext>
            </a:extLst>
          </p:cNvPr>
          <p:cNvSpPr/>
          <p:nvPr/>
        </p:nvSpPr>
        <p:spPr>
          <a:xfrm>
            <a:off x="-5263009" y="1318663"/>
            <a:ext cx="4490341" cy="5291488"/>
          </a:xfrm>
          <a:prstGeom prst="roundRect">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AE10807-6944-8EB6-B63A-61B4ED5B0691}"/>
              </a:ext>
            </a:extLst>
          </p:cNvPr>
          <p:cNvSpPr txBox="1"/>
          <p:nvPr/>
        </p:nvSpPr>
        <p:spPr>
          <a:xfrm>
            <a:off x="3986231" y="-812441"/>
            <a:ext cx="4219537" cy="646331"/>
          </a:xfrm>
          <a:prstGeom prst="rect">
            <a:avLst/>
          </a:prstGeom>
          <a:noFill/>
        </p:spPr>
        <p:txBody>
          <a:bodyPr wrap="square" rtlCol="0">
            <a:spAutoFit/>
          </a:bodyPr>
          <a:lstStyle/>
          <a:p>
            <a:r>
              <a:rPr lang="en-US" sz="3600" b="1" dirty="0">
                <a:latin typeface="Cooper Black" panose="0208090404030B020404" pitchFamily="18" charset="0"/>
                <a:cs typeface="Times New Roman" panose="02020603050405020304" pitchFamily="18" charset="0"/>
              </a:rPr>
              <a:t>INTRODUCTION</a:t>
            </a:r>
          </a:p>
        </p:txBody>
      </p:sp>
    </p:spTree>
    <p:extLst>
      <p:ext uri="{BB962C8B-B14F-4D97-AF65-F5344CB8AC3E}">
        <p14:creationId xmlns:p14="http://schemas.microsoft.com/office/powerpoint/2010/main" val="527140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DC6F3-8B5D-EC63-5FD1-4FB46B47524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F0D5B01-0C23-84C2-8AB6-DA28ADDFA915}"/>
              </a:ext>
            </a:extLst>
          </p:cNvPr>
          <p:cNvSpPr txBox="1"/>
          <p:nvPr/>
        </p:nvSpPr>
        <p:spPr>
          <a:xfrm>
            <a:off x="6816047" y="2695859"/>
            <a:ext cx="4576573" cy="1754326"/>
          </a:xfrm>
          <a:prstGeom prst="rect">
            <a:avLst/>
          </a:prstGeom>
          <a:noFill/>
        </p:spPr>
        <p:txBody>
          <a:bodyPr wrap="square" rtlCol="0">
            <a:spAutoFit/>
          </a:bodyPr>
          <a:lstStyle/>
          <a:p>
            <a:pPr algn="ctr"/>
            <a:r>
              <a:rPr lang="fr-FR" sz="5400" b="1" dirty="0">
                <a:latin typeface="Rockwell" panose="02060603020205020403" pitchFamily="18" charset="0"/>
                <a:cs typeface="Times New Roman" panose="02020603050405020304" pitchFamily="18" charset="0"/>
              </a:rPr>
              <a:t>Objectif de projet</a:t>
            </a:r>
          </a:p>
        </p:txBody>
      </p:sp>
      <p:sp>
        <p:nvSpPr>
          <p:cNvPr id="4" name="TextBox 3">
            <a:extLst>
              <a:ext uri="{FF2B5EF4-FFF2-40B4-BE49-F238E27FC236}">
                <a16:creationId xmlns:a16="http://schemas.microsoft.com/office/drawing/2014/main" id="{AFB7EE7A-D413-6BB5-6C42-5920DF257E69}"/>
              </a:ext>
            </a:extLst>
          </p:cNvPr>
          <p:cNvSpPr txBox="1"/>
          <p:nvPr/>
        </p:nvSpPr>
        <p:spPr>
          <a:xfrm>
            <a:off x="366963" y="1913026"/>
            <a:ext cx="4627001" cy="923330"/>
          </a:xfrm>
          <a:prstGeom prst="rect">
            <a:avLst/>
          </a:prstGeom>
          <a:noFill/>
        </p:spPr>
        <p:txBody>
          <a:bodyPr wrap="square" rtlCol="0">
            <a:spAutoFit/>
          </a:bodyPr>
          <a:lstStyle/>
          <a:p>
            <a:r>
              <a:rPr lang="en-US" sz="5400" dirty="0">
                <a:latin typeface="Bahnschrift SemiBold" panose="020B0502040204020203" pitchFamily="34" charset="0"/>
              </a:rPr>
              <a:t>HENRY GANTT</a:t>
            </a:r>
          </a:p>
        </p:txBody>
      </p:sp>
      <p:sp>
        <p:nvSpPr>
          <p:cNvPr id="5" name="TextBox 4">
            <a:extLst>
              <a:ext uri="{FF2B5EF4-FFF2-40B4-BE49-F238E27FC236}">
                <a16:creationId xmlns:a16="http://schemas.microsoft.com/office/drawing/2014/main" id="{AECFFE35-9A43-63FB-3922-896C897FAFCC}"/>
              </a:ext>
            </a:extLst>
          </p:cNvPr>
          <p:cNvSpPr txBox="1"/>
          <p:nvPr/>
        </p:nvSpPr>
        <p:spPr>
          <a:xfrm>
            <a:off x="606952" y="3496776"/>
            <a:ext cx="4139506" cy="3046988"/>
          </a:xfrm>
          <a:prstGeom prst="rect">
            <a:avLst/>
          </a:prstGeom>
          <a:noFill/>
        </p:spPr>
        <p:txBody>
          <a:bodyPr wrap="square" rtlCol="0">
            <a:spAutoFit/>
          </a:bodyPr>
          <a:lstStyle/>
          <a:p>
            <a:r>
              <a:rPr lang="fr-FR" sz="1600" dirty="0">
                <a:latin typeface="Bahnschrift SemiBold" panose="020B0502040204020203" pitchFamily="34" charset="0"/>
              </a:rPr>
              <a:t>Henry Gantt est un ingénieur et consultant en gestion américain, connu pour avoir créé le diagramme de Gantt. Il est considéré comme un pionnier du management scientifique au début du XXᵉ siècle</a:t>
            </a:r>
          </a:p>
          <a:p>
            <a:endParaRPr lang="fr-FR" sz="1600" b="1" dirty="0">
              <a:latin typeface="Bahnschrift SemiBold" panose="020B0502040204020203" pitchFamily="34" charset="0"/>
            </a:endParaRPr>
          </a:p>
          <a:p>
            <a:r>
              <a:rPr lang="fr-FR" sz="1600" dirty="0">
                <a:latin typeface="Bahnschrift SemiBold" panose="020B0502040204020203" pitchFamily="34" charset="0"/>
              </a:rPr>
              <a:t>Le diagramme de Gantt, créé au début du XXᵉ siècle par Henry Gantt, s’inspire des travaux de Karol Adamiecki et vise à améliorer l’efficacité de la production industrielle et la gestion des projets.</a:t>
            </a:r>
            <a:endParaRPr lang="en-US" sz="1600" dirty="0">
              <a:latin typeface="Bahnschrift SemiBold" panose="020B0502040204020203" pitchFamily="34" charset="0"/>
            </a:endParaRPr>
          </a:p>
        </p:txBody>
      </p:sp>
      <p:sp>
        <p:nvSpPr>
          <p:cNvPr id="7" name="TextBox 6">
            <a:extLst>
              <a:ext uri="{FF2B5EF4-FFF2-40B4-BE49-F238E27FC236}">
                <a16:creationId xmlns:a16="http://schemas.microsoft.com/office/drawing/2014/main" id="{54945A7C-34F6-5C8F-EA4C-5F1E0A64B05F}"/>
              </a:ext>
            </a:extLst>
          </p:cNvPr>
          <p:cNvSpPr txBox="1"/>
          <p:nvPr/>
        </p:nvSpPr>
        <p:spPr>
          <a:xfrm>
            <a:off x="2157949" y="3008618"/>
            <a:ext cx="1045028" cy="307777"/>
          </a:xfrm>
          <a:prstGeom prst="rect">
            <a:avLst/>
          </a:prstGeom>
          <a:noFill/>
        </p:spPr>
        <p:txBody>
          <a:bodyPr wrap="square" rtlCol="0">
            <a:spAutoFit/>
          </a:bodyPr>
          <a:lstStyle/>
          <a:p>
            <a:r>
              <a:rPr lang="en-US" sz="1400" b="1" dirty="0">
                <a:latin typeface="Aptos" panose="020B0004020202020204" pitchFamily="34" charset="0"/>
              </a:rPr>
              <a:t>1861-1919</a:t>
            </a:r>
          </a:p>
        </p:txBody>
      </p:sp>
      <p:sp>
        <p:nvSpPr>
          <p:cNvPr id="19" name="Rectangle: Rounded Corners 18">
            <a:extLst>
              <a:ext uri="{FF2B5EF4-FFF2-40B4-BE49-F238E27FC236}">
                <a16:creationId xmlns:a16="http://schemas.microsoft.com/office/drawing/2014/main" id="{1047BC6A-5479-484C-1D20-76F8506B98BC}"/>
              </a:ext>
            </a:extLst>
          </p:cNvPr>
          <p:cNvSpPr/>
          <p:nvPr/>
        </p:nvSpPr>
        <p:spPr>
          <a:xfrm>
            <a:off x="383411" y="1318663"/>
            <a:ext cx="4490341" cy="5291488"/>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FD48E807-2887-6847-3950-7911AF50DF9E}"/>
              </a:ext>
            </a:extLst>
          </p:cNvPr>
          <p:cNvGrpSpPr/>
          <p:nvPr/>
        </p:nvGrpSpPr>
        <p:grpSpPr>
          <a:xfrm>
            <a:off x="-6412995" y="0"/>
            <a:ext cx="2870295" cy="6858000"/>
            <a:chOff x="10101723" y="0"/>
            <a:chExt cx="2870295" cy="6858000"/>
          </a:xfrm>
        </p:grpSpPr>
        <p:grpSp>
          <p:nvGrpSpPr>
            <p:cNvPr id="3" name="Group 2">
              <a:extLst>
                <a:ext uri="{FF2B5EF4-FFF2-40B4-BE49-F238E27FC236}">
                  <a16:creationId xmlns:a16="http://schemas.microsoft.com/office/drawing/2014/main" id="{DB5A4C84-DE0A-F68B-2690-4F319D79E708}"/>
                </a:ext>
              </a:extLst>
            </p:cNvPr>
            <p:cNvGrpSpPr/>
            <p:nvPr/>
          </p:nvGrpSpPr>
          <p:grpSpPr>
            <a:xfrm>
              <a:off x="10259999" y="0"/>
              <a:ext cx="2712019" cy="6858000"/>
              <a:chOff x="10259999" y="0"/>
              <a:chExt cx="2712019" cy="6858000"/>
            </a:xfrm>
            <a:solidFill>
              <a:schemeClr val="accent1">
                <a:lumMod val="50000"/>
              </a:schemeClr>
            </a:solidFill>
          </p:grpSpPr>
          <p:sp>
            <p:nvSpPr>
              <p:cNvPr id="38" name="Rectangle 37">
                <a:extLst>
                  <a:ext uri="{FF2B5EF4-FFF2-40B4-BE49-F238E27FC236}">
                    <a16:creationId xmlns:a16="http://schemas.microsoft.com/office/drawing/2014/main" id="{3A898F39-05F5-1891-23BA-EB7D9922FFD1}"/>
                  </a:ext>
                </a:extLst>
              </p:cNvPr>
              <p:cNvSpPr/>
              <p:nvPr/>
            </p:nvSpPr>
            <p:spPr>
              <a:xfrm>
                <a:off x="10259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Isosceles Triangle 42">
                <a:extLst>
                  <a:ext uri="{FF2B5EF4-FFF2-40B4-BE49-F238E27FC236}">
                    <a16:creationId xmlns:a16="http://schemas.microsoft.com/office/drawing/2014/main" id="{FFB72194-5AF4-CAFA-6F2F-136029647778}"/>
                  </a:ext>
                </a:extLst>
              </p:cNvPr>
              <p:cNvSpPr/>
              <p:nvPr/>
            </p:nvSpPr>
            <p:spPr>
              <a:xfrm rot="5400000">
                <a:off x="11881380" y="573162"/>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a:extLst>
                <a:ext uri="{FF2B5EF4-FFF2-40B4-BE49-F238E27FC236}">
                  <a16:creationId xmlns:a16="http://schemas.microsoft.com/office/drawing/2014/main" id="{8C6F4FA1-5E8A-0995-09F5-610CD257A2D1}"/>
                </a:ext>
              </a:extLst>
            </p:cNvPr>
            <p:cNvSpPr txBox="1"/>
            <p:nvPr/>
          </p:nvSpPr>
          <p:spPr>
            <a:xfrm>
              <a:off x="11106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6</a:t>
              </a:r>
              <a:endParaRPr lang="en-US" sz="4000" b="1" dirty="0">
                <a:solidFill>
                  <a:schemeClr val="bg1"/>
                </a:solidFill>
                <a:latin typeface="Aptos" panose="020B0004020202020204" pitchFamily="34" charset="0"/>
              </a:endParaRPr>
            </a:p>
          </p:txBody>
        </p:sp>
        <p:sp>
          <p:nvSpPr>
            <p:cNvPr id="21" name="Rectangle 20">
              <a:extLst>
                <a:ext uri="{FF2B5EF4-FFF2-40B4-BE49-F238E27FC236}">
                  <a16:creationId xmlns:a16="http://schemas.microsoft.com/office/drawing/2014/main" id="{89D75AD8-8ABF-3F5F-DF89-CBE415A7C715}"/>
                </a:ext>
              </a:extLst>
            </p:cNvPr>
            <p:cNvSpPr/>
            <p:nvPr/>
          </p:nvSpPr>
          <p:spPr>
            <a:xfrm>
              <a:off x="1037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C2ECA3D-400A-6870-0ABF-762179BE73EC}"/>
                </a:ext>
              </a:extLst>
            </p:cNvPr>
            <p:cNvSpPr txBox="1"/>
            <p:nvPr/>
          </p:nvSpPr>
          <p:spPr>
            <a:xfrm>
              <a:off x="10101723" y="2252859"/>
              <a:ext cx="2295145" cy="400110"/>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CONCLUSION</a:t>
              </a:r>
              <a:endParaRPr lang="en-US" sz="3600" dirty="0">
                <a:solidFill>
                  <a:schemeClr val="bg1"/>
                </a:solidFill>
                <a:latin typeface="Bahnschrift SemiBold" panose="020B0502040204020203" pitchFamily="34" charset="0"/>
              </a:endParaRPr>
            </a:p>
          </p:txBody>
        </p:sp>
        <p:sp>
          <p:nvSpPr>
            <p:cNvPr id="36" name="TextBox 35">
              <a:extLst>
                <a:ext uri="{FF2B5EF4-FFF2-40B4-BE49-F238E27FC236}">
                  <a16:creationId xmlns:a16="http://schemas.microsoft.com/office/drawing/2014/main" id="{7AEC7312-4864-E7B1-EBB2-6095DFFF3F83}"/>
                </a:ext>
              </a:extLst>
            </p:cNvPr>
            <p:cNvSpPr txBox="1"/>
            <p:nvPr/>
          </p:nvSpPr>
          <p:spPr>
            <a:xfrm>
              <a:off x="10305847" y="4307263"/>
              <a:ext cx="2121378" cy="1169551"/>
            </a:xfrm>
            <a:prstGeom prst="rect">
              <a:avLst/>
            </a:prstGeom>
            <a:noFill/>
          </p:spPr>
          <p:txBody>
            <a:bodyPr wrap="square" rtlCol="0">
              <a:spAutoFit/>
            </a:bodyPr>
            <a:lstStyle/>
            <a:p>
              <a:r>
                <a:rPr lang="fr-FR" sz="1400" b="1" dirty="0">
                  <a:solidFill>
                    <a:schemeClr val="bg1"/>
                  </a:solidFill>
                  <a:latin typeface="Aptos" panose="020B0004020202020204" pitchFamily="34" charset="0"/>
                </a:rPr>
                <a:t>construire un site web plus sécurisé garantissant la confidentialité des utilisateurs</a:t>
              </a:r>
              <a:endParaRPr lang="en-US" sz="1600" b="1" dirty="0">
                <a:solidFill>
                  <a:schemeClr val="bg1"/>
                </a:solidFill>
                <a:latin typeface="Aptos" panose="020B0004020202020204" pitchFamily="34" charset="0"/>
              </a:endParaRPr>
            </a:p>
          </p:txBody>
        </p:sp>
        <p:sp>
          <p:nvSpPr>
            <p:cNvPr id="37" name="Rectangle 36">
              <a:extLst>
                <a:ext uri="{FF2B5EF4-FFF2-40B4-BE49-F238E27FC236}">
                  <a16:creationId xmlns:a16="http://schemas.microsoft.com/office/drawing/2014/main" id="{B9D4FBF5-0BF3-7C5C-2B61-E7215AE4A920}"/>
                </a:ext>
              </a:extLst>
            </p:cNvPr>
            <p:cNvSpPr/>
            <p:nvPr/>
          </p:nvSpPr>
          <p:spPr>
            <a:xfrm>
              <a:off x="10398898"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a:extLst>
              <a:ext uri="{FF2B5EF4-FFF2-40B4-BE49-F238E27FC236}">
                <a16:creationId xmlns:a16="http://schemas.microsoft.com/office/drawing/2014/main" id="{2B087E4D-442A-073C-31E3-E816937E1925}"/>
              </a:ext>
            </a:extLst>
          </p:cNvPr>
          <p:cNvGrpSpPr/>
          <p:nvPr/>
        </p:nvGrpSpPr>
        <p:grpSpPr>
          <a:xfrm>
            <a:off x="-6439472" y="0"/>
            <a:ext cx="2833594" cy="6858000"/>
            <a:chOff x="8086426" y="0"/>
            <a:chExt cx="2833594" cy="6858000"/>
          </a:xfrm>
        </p:grpSpPr>
        <p:sp>
          <p:nvSpPr>
            <p:cNvPr id="48" name="Rectangle 47">
              <a:extLst>
                <a:ext uri="{FF2B5EF4-FFF2-40B4-BE49-F238E27FC236}">
                  <a16:creationId xmlns:a16="http://schemas.microsoft.com/office/drawing/2014/main" id="{98C166DB-99E8-5956-17E7-755AA97A4731}"/>
                </a:ext>
              </a:extLst>
            </p:cNvPr>
            <p:cNvSpPr/>
            <p:nvPr/>
          </p:nvSpPr>
          <p:spPr>
            <a:xfrm>
              <a:off x="8207999" y="0"/>
              <a:ext cx="205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Isosceles Triangle 48">
              <a:extLst>
                <a:ext uri="{FF2B5EF4-FFF2-40B4-BE49-F238E27FC236}">
                  <a16:creationId xmlns:a16="http://schemas.microsoft.com/office/drawing/2014/main" id="{15289765-EB68-B40C-5D97-9A8ED6590FDF}"/>
                </a:ext>
              </a:extLst>
            </p:cNvPr>
            <p:cNvSpPr/>
            <p:nvPr/>
          </p:nvSpPr>
          <p:spPr>
            <a:xfrm rot="5400000">
              <a:off x="9829382" y="573161"/>
              <a:ext cx="1521257" cy="660018"/>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1C71BA49-2BA7-4621-7D6E-0E858C3889F4}"/>
                </a:ext>
              </a:extLst>
            </p:cNvPr>
            <p:cNvSpPr txBox="1"/>
            <p:nvPr/>
          </p:nvSpPr>
          <p:spPr>
            <a:xfrm>
              <a:off x="9054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5</a:t>
              </a:r>
              <a:endParaRPr lang="en-US" sz="4000" b="1" dirty="0">
                <a:solidFill>
                  <a:schemeClr val="bg1"/>
                </a:solidFill>
                <a:latin typeface="Aptos" panose="020B0004020202020204" pitchFamily="34" charset="0"/>
              </a:endParaRPr>
            </a:p>
          </p:txBody>
        </p:sp>
        <p:sp>
          <p:nvSpPr>
            <p:cNvPr id="51" name="Rectangle 50">
              <a:extLst>
                <a:ext uri="{FF2B5EF4-FFF2-40B4-BE49-F238E27FC236}">
                  <a16:creationId xmlns:a16="http://schemas.microsoft.com/office/drawing/2014/main" id="{F1C79432-248E-34FE-B18B-797AF610083F}"/>
                </a:ext>
              </a:extLst>
            </p:cNvPr>
            <p:cNvSpPr/>
            <p:nvPr/>
          </p:nvSpPr>
          <p:spPr>
            <a:xfrm>
              <a:off x="8339583"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9F005601-8527-4A83-33E0-EFAA1E6AFEBE}"/>
                </a:ext>
              </a:extLst>
            </p:cNvPr>
            <p:cNvSpPr txBox="1"/>
            <p:nvPr/>
          </p:nvSpPr>
          <p:spPr>
            <a:xfrm>
              <a:off x="8086426" y="1921105"/>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CHIFFREMENT DES DONNÉES SENSIBLES </a:t>
              </a:r>
              <a:endParaRPr lang="en-US" sz="3200" dirty="0">
                <a:solidFill>
                  <a:schemeClr val="bg1"/>
                </a:solidFill>
                <a:latin typeface="Bahnschrift SemiBold" panose="020B0502040204020203" pitchFamily="34" charset="0"/>
              </a:endParaRPr>
            </a:p>
          </p:txBody>
        </p:sp>
        <p:sp>
          <p:nvSpPr>
            <p:cNvPr id="53" name="TextBox 52">
              <a:extLst>
                <a:ext uri="{FF2B5EF4-FFF2-40B4-BE49-F238E27FC236}">
                  <a16:creationId xmlns:a16="http://schemas.microsoft.com/office/drawing/2014/main" id="{F2583623-92FC-B0F6-6C9E-760DED1E72B9}"/>
                </a:ext>
              </a:extLst>
            </p:cNvPr>
            <p:cNvSpPr txBox="1"/>
            <p:nvPr/>
          </p:nvSpPr>
          <p:spPr>
            <a:xfrm>
              <a:off x="8196284" y="3877056"/>
              <a:ext cx="1994334" cy="2031325"/>
            </a:xfrm>
            <a:prstGeom prst="rect">
              <a:avLst/>
            </a:prstGeom>
            <a:noFill/>
          </p:spPr>
          <p:txBody>
            <a:bodyPr wrap="square" rtlCol="0">
              <a:spAutoFit/>
            </a:bodyPr>
            <a:lstStyle/>
            <a:p>
              <a:r>
                <a:rPr lang="fr-FR" sz="1400" b="1" dirty="0">
                  <a:solidFill>
                    <a:schemeClr val="bg1"/>
                  </a:solidFill>
                  <a:latin typeface="Aptos" panose="020B0004020202020204" pitchFamily="34" charset="0"/>
                </a:rPr>
                <a:t>Chiffrement au niveau base de données</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Variables d'environnement (gestion des secrets) </a:t>
              </a:r>
              <a:endParaRPr lang="en-US" sz="1400" b="1" dirty="0">
                <a:solidFill>
                  <a:schemeClr val="bg1"/>
                </a:solidFill>
                <a:latin typeface="Aptos" panose="020B0004020202020204" pitchFamily="34" charset="0"/>
              </a:endParaRPr>
            </a:p>
          </p:txBody>
        </p:sp>
        <p:sp>
          <p:nvSpPr>
            <p:cNvPr id="54" name="Rectangle 53">
              <a:extLst>
                <a:ext uri="{FF2B5EF4-FFF2-40B4-BE49-F238E27FC236}">
                  <a16:creationId xmlns:a16="http://schemas.microsoft.com/office/drawing/2014/main" id="{A4AFFD57-A884-A4E1-599A-380D74816016}"/>
                </a:ext>
              </a:extLst>
            </p:cNvPr>
            <p:cNvSpPr/>
            <p:nvPr/>
          </p:nvSpPr>
          <p:spPr>
            <a:xfrm>
              <a:off x="8319560" y="305276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D1F62A3E-E2C4-F00C-E92A-360FB24E6236}"/>
              </a:ext>
            </a:extLst>
          </p:cNvPr>
          <p:cNvGrpSpPr/>
          <p:nvPr/>
        </p:nvGrpSpPr>
        <p:grpSpPr>
          <a:xfrm>
            <a:off x="-6531016" y="0"/>
            <a:ext cx="2861956" cy="6921643"/>
            <a:chOff x="6006062" y="0"/>
            <a:chExt cx="2861956" cy="6921643"/>
          </a:xfrm>
        </p:grpSpPr>
        <p:grpSp>
          <p:nvGrpSpPr>
            <p:cNvPr id="57" name="Group 56">
              <a:extLst>
                <a:ext uri="{FF2B5EF4-FFF2-40B4-BE49-F238E27FC236}">
                  <a16:creationId xmlns:a16="http://schemas.microsoft.com/office/drawing/2014/main" id="{DA322467-6EA4-1384-56E0-A81FFEBF460F}"/>
                </a:ext>
              </a:extLst>
            </p:cNvPr>
            <p:cNvGrpSpPr/>
            <p:nvPr/>
          </p:nvGrpSpPr>
          <p:grpSpPr>
            <a:xfrm>
              <a:off x="6155999" y="0"/>
              <a:ext cx="2712019" cy="6858000"/>
              <a:chOff x="6155999" y="0"/>
              <a:chExt cx="2712019" cy="6858000"/>
            </a:xfrm>
            <a:solidFill>
              <a:srgbClr val="4472C4"/>
            </a:solidFill>
          </p:grpSpPr>
          <p:sp>
            <p:nvSpPr>
              <p:cNvPr id="63" name="Rectangle 62">
                <a:extLst>
                  <a:ext uri="{FF2B5EF4-FFF2-40B4-BE49-F238E27FC236}">
                    <a16:creationId xmlns:a16="http://schemas.microsoft.com/office/drawing/2014/main" id="{CF6A2250-C17E-B501-C489-68940DED4CED}"/>
                  </a:ext>
                </a:extLst>
              </p:cNvPr>
              <p:cNvSpPr/>
              <p:nvPr/>
            </p:nvSpPr>
            <p:spPr>
              <a:xfrm>
                <a:off x="6155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185A23D1-8E9C-344D-1A21-E28ECC692F39}"/>
                  </a:ext>
                </a:extLst>
              </p:cNvPr>
              <p:cNvSpPr/>
              <p:nvPr/>
            </p:nvSpPr>
            <p:spPr>
              <a:xfrm rot="5400000">
                <a:off x="7777380" y="573160"/>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TextBox 57">
              <a:extLst>
                <a:ext uri="{FF2B5EF4-FFF2-40B4-BE49-F238E27FC236}">
                  <a16:creationId xmlns:a16="http://schemas.microsoft.com/office/drawing/2014/main" id="{6C659CFB-3A4D-BC4A-4289-27322CECECFF}"/>
                </a:ext>
              </a:extLst>
            </p:cNvPr>
            <p:cNvSpPr txBox="1"/>
            <p:nvPr/>
          </p:nvSpPr>
          <p:spPr>
            <a:xfrm>
              <a:off x="700246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4</a:t>
              </a:r>
              <a:endParaRPr lang="en-US" sz="4000" b="1" dirty="0">
                <a:solidFill>
                  <a:schemeClr val="bg1"/>
                </a:solidFill>
                <a:latin typeface="Aptos" panose="020B0004020202020204" pitchFamily="34" charset="0"/>
              </a:endParaRPr>
            </a:p>
          </p:txBody>
        </p:sp>
        <p:sp>
          <p:nvSpPr>
            <p:cNvPr id="59" name="Rectangle 58">
              <a:extLst>
                <a:ext uri="{FF2B5EF4-FFF2-40B4-BE49-F238E27FC236}">
                  <a16:creationId xmlns:a16="http://schemas.microsoft.com/office/drawing/2014/main" id="{2D5DF4AB-6042-E1BB-6993-8E0E696EFE1E}"/>
                </a:ext>
              </a:extLst>
            </p:cNvPr>
            <p:cNvSpPr/>
            <p:nvPr/>
          </p:nvSpPr>
          <p:spPr>
            <a:xfrm>
              <a:off x="6287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CAD60BBA-97A7-9090-61E5-BA35AFF77025}"/>
                </a:ext>
              </a:extLst>
            </p:cNvPr>
            <p:cNvSpPr txBox="1"/>
            <p:nvPr/>
          </p:nvSpPr>
          <p:spPr>
            <a:xfrm>
              <a:off x="6006062" y="1948346"/>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ARCHITECTURE SÉCURISÉE PROPOSÉE </a:t>
              </a:r>
              <a:endParaRPr lang="en-US" sz="2800" dirty="0">
                <a:solidFill>
                  <a:schemeClr val="bg1"/>
                </a:solidFill>
                <a:latin typeface="Bahnschrift SemiBold" panose="020B0502040204020203" pitchFamily="34" charset="0"/>
              </a:endParaRPr>
            </a:p>
          </p:txBody>
        </p:sp>
        <p:sp>
          <p:nvSpPr>
            <p:cNvPr id="61" name="TextBox 60">
              <a:extLst>
                <a:ext uri="{FF2B5EF4-FFF2-40B4-BE49-F238E27FC236}">
                  <a16:creationId xmlns:a16="http://schemas.microsoft.com/office/drawing/2014/main" id="{BB65EDC6-6088-09A1-A248-2D428F6F04EE}"/>
                </a:ext>
              </a:extLst>
            </p:cNvPr>
            <p:cNvSpPr txBox="1"/>
            <p:nvPr/>
          </p:nvSpPr>
          <p:spPr>
            <a:xfrm>
              <a:off x="6145044" y="3135991"/>
              <a:ext cx="2085813" cy="3785652"/>
            </a:xfrm>
            <a:prstGeom prst="rect">
              <a:avLst/>
            </a:prstGeom>
            <a:noFill/>
          </p:spPr>
          <p:txBody>
            <a:bodyPr wrap="square" rtlCol="0">
              <a:spAutoFit/>
            </a:bodyPr>
            <a:lstStyle/>
            <a:p>
              <a:r>
                <a:rPr lang="fr-FR" sz="1200" b="1" dirty="0">
                  <a:solidFill>
                    <a:schemeClr val="bg1"/>
                  </a:solidFill>
                  <a:latin typeface="Aptos" panose="020B0004020202020204" pitchFamily="34" charset="0"/>
                </a:rPr>
                <a:t>Architecture Globale Sécurisée </a:t>
              </a:r>
            </a:p>
            <a:p>
              <a:endParaRPr lang="en-US"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Implémentation RBAC Complète </a:t>
              </a:r>
            </a:p>
            <a:p>
              <a:endParaRPr lang="en-US"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Protection Anti-SQL Injection </a:t>
              </a:r>
            </a:p>
            <a:p>
              <a:endParaRPr lang="en-US"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Sécurisation des Communications (HTTPS/TLS)</a:t>
              </a:r>
            </a:p>
            <a:p>
              <a:endParaRPr lang="fr-FR"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Signature HMAC des Signaux d'Alerte </a:t>
              </a:r>
            </a:p>
            <a:p>
              <a:endParaRPr lang="fr-FR" sz="1200" b="1" dirty="0">
                <a:solidFill>
                  <a:schemeClr val="bg1"/>
                </a:solidFill>
                <a:latin typeface="Aptos" panose="020B0004020202020204" pitchFamily="34" charset="0"/>
              </a:endParaRPr>
            </a:p>
            <a:p>
              <a:r>
                <a:rPr lang="fr-FR" sz="1200" b="1" dirty="0">
                  <a:solidFill>
                    <a:schemeClr val="bg1"/>
                  </a:solidFill>
                  <a:latin typeface="Aptos" panose="020B0004020202020204" pitchFamily="34" charset="0"/>
                </a:rPr>
                <a:t>Déclenchement Sécurisé des Sirènes </a:t>
              </a:r>
            </a:p>
            <a:p>
              <a:endParaRPr lang="fr-FR" sz="1200" b="1" dirty="0">
                <a:solidFill>
                  <a:schemeClr val="bg1"/>
                </a:solidFill>
                <a:latin typeface="Aptos" panose="020B0004020202020204" pitchFamily="34" charset="0"/>
              </a:endParaRPr>
            </a:p>
            <a:p>
              <a:r>
                <a:rPr lang="en-US" sz="1200" b="1" dirty="0">
                  <a:solidFill>
                    <a:schemeClr val="bg1"/>
                  </a:solidFill>
                  <a:latin typeface="Aptos" panose="020B0004020202020204" pitchFamily="34" charset="0"/>
                </a:rPr>
                <a:t>Protection Firewall (UFW)</a:t>
              </a:r>
            </a:p>
          </p:txBody>
        </p:sp>
        <p:sp>
          <p:nvSpPr>
            <p:cNvPr id="62" name="Rectangle 61">
              <a:extLst>
                <a:ext uri="{FF2B5EF4-FFF2-40B4-BE49-F238E27FC236}">
                  <a16:creationId xmlns:a16="http://schemas.microsoft.com/office/drawing/2014/main" id="{194D230D-B46B-820E-77C6-8E6B7C496129}"/>
                </a:ext>
              </a:extLst>
            </p:cNvPr>
            <p:cNvSpPr/>
            <p:nvPr/>
          </p:nvSpPr>
          <p:spPr>
            <a:xfrm>
              <a:off x="6284019"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1EDFE713-8278-A5D2-8F30-97A3053E85C5}"/>
              </a:ext>
            </a:extLst>
          </p:cNvPr>
          <p:cNvGrpSpPr/>
          <p:nvPr/>
        </p:nvGrpSpPr>
        <p:grpSpPr>
          <a:xfrm>
            <a:off x="-6579933" y="0"/>
            <a:ext cx="2836266" cy="6858000"/>
            <a:chOff x="3979755" y="0"/>
            <a:chExt cx="2836266" cy="6858000"/>
          </a:xfrm>
        </p:grpSpPr>
        <p:grpSp>
          <p:nvGrpSpPr>
            <p:cNvPr id="66" name="Group 65">
              <a:extLst>
                <a:ext uri="{FF2B5EF4-FFF2-40B4-BE49-F238E27FC236}">
                  <a16:creationId xmlns:a16="http://schemas.microsoft.com/office/drawing/2014/main" id="{0175B9FE-E09C-0D11-F498-5F6D5A7FF4FB}"/>
                </a:ext>
              </a:extLst>
            </p:cNvPr>
            <p:cNvGrpSpPr/>
            <p:nvPr/>
          </p:nvGrpSpPr>
          <p:grpSpPr>
            <a:xfrm>
              <a:off x="4103999" y="0"/>
              <a:ext cx="2712022" cy="6858000"/>
              <a:chOff x="4103999" y="0"/>
              <a:chExt cx="2712022" cy="6858000"/>
            </a:xfrm>
            <a:solidFill>
              <a:srgbClr val="00B0F0"/>
            </a:solidFill>
          </p:grpSpPr>
          <p:sp>
            <p:nvSpPr>
              <p:cNvPr id="72" name="Rectangle 71">
                <a:extLst>
                  <a:ext uri="{FF2B5EF4-FFF2-40B4-BE49-F238E27FC236}">
                    <a16:creationId xmlns:a16="http://schemas.microsoft.com/office/drawing/2014/main" id="{A61B5386-0211-E652-9A23-6442F59BF63E}"/>
                  </a:ext>
                </a:extLst>
              </p:cNvPr>
              <p:cNvSpPr/>
              <p:nvPr/>
            </p:nvSpPr>
            <p:spPr>
              <a:xfrm>
                <a:off x="4103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Isosceles Triangle 72">
                <a:extLst>
                  <a:ext uri="{FF2B5EF4-FFF2-40B4-BE49-F238E27FC236}">
                    <a16:creationId xmlns:a16="http://schemas.microsoft.com/office/drawing/2014/main" id="{4DC73AC4-C841-0DD2-E895-92B2A0354DE8}"/>
                  </a:ext>
                </a:extLst>
              </p:cNvPr>
              <p:cNvSpPr/>
              <p:nvPr/>
            </p:nvSpPr>
            <p:spPr>
              <a:xfrm rot="5400000">
                <a:off x="5725383" y="573159"/>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7" name="TextBox 66">
              <a:extLst>
                <a:ext uri="{FF2B5EF4-FFF2-40B4-BE49-F238E27FC236}">
                  <a16:creationId xmlns:a16="http://schemas.microsoft.com/office/drawing/2014/main" id="{AFC0DEC7-2D49-FEB9-2F7B-8100D656CE9F}"/>
                </a:ext>
              </a:extLst>
            </p:cNvPr>
            <p:cNvSpPr txBox="1"/>
            <p:nvPr/>
          </p:nvSpPr>
          <p:spPr>
            <a:xfrm>
              <a:off x="4950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3</a:t>
              </a:r>
              <a:endParaRPr lang="en-US" sz="4000" b="1" dirty="0">
                <a:solidFill>
                  <a:schemeClr val="bg1"/>
                </a:solidFill>
                <a:latin typeface="Aptos" panose="020B0004020202020204" pitchFamily="34" charset="0"/>
              </a:endParaRPr>
            </a:p>
          </p:txBody>
        </p:sp>
        <p:sp>
          <p:nvSpPr>
            <p:cNvPr id="68" name="Rectangle 67">
              <a:extLst>
                <a:ext uri="{FF2B5EF4-FFF2-40B4-BE49-F238E27FC236}">
                  <a16:creationId xmlns:a16="http://schemas.microsoft.com/office/drawing/2014/main" id="{C9E56AA5-69A4-90FC-2CE0-1F581234A5FA}"/>
                </a:ext>
              </a:extLst>
            </p:cNvPr>
            <p:cNvSpPr/>
            <p:nvPr/>
          </p:nvSpPr>
          <p:spPr>
            <a:xfrm>
              <a:off x="4235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3725D57D-3FA4-FD83-F6C8-F81C2E32A304}"/>
                </a:ext>
              </a:extLst>
            </p:cNvPr>
            <p:cNvSpPr txBox="1"/>
            <p:nvPr/>
          </p:nvSpPr>
          <p:spPr>
            <a:xfrm>
              <a:off x="3979755" y="2063859"/>
              <a:ext cx="2295145" cy="707886"/>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VULNÉRABILITÉS DÉTECTÉES</a:t>
              </a:r>
              <a:endParaRPr lang="en-US" sz="2000" dirty="0">
                <a:solidFill>
                  <a:schemeClr val="bg1"/>
                </a:solidFill>
                <a:latin typeface="Bahnschrift SemiBold" panose="020B0502040204020203" pitchFamily="34" charset="0"/>
              </a:endParaRPr>
            </a:p>
          </p:txBody>
        </p:sp>
        <p:sp>
          <p:nvSpPr>
            <p:cNvPr id="70" name="TextBox 69">
              <a:extLst>
                <a:ext uri="{FF2B5EF4-FFF2-40B4-BE49-F238E27FC236}">
                  <a16:creationId xmlns:a16="http://schemas.microsoft.com/office/drawing/2014/main" id="{804D896F-B4EB-C7AF-31E9-2077DFECD782}"/>
                </a:ext>
              </a:extLst>
            </p:cNvPr>
            <p:cNvSpPr txBox="1"/>
            <p:nvPr/>
          </p:nvSpPr>
          <p:spPr>
            <a:xfrm>
              <a:off x="4085755" y="3573018"/>
              <a:ext cx="2150768" cy="3108543"/>
            </a:xfrm>
            <a:prstGeom prst="rect">
              <a:avLst/>
            </a:prstGeom>
            <a:noFill/>
          </p:spPr>
          <p:txBody>
            <a:bodyPr wrap="square" rtlCol="0">
              <a:spAutoFit/>
            </a:bodyPr>
            <a:lstStyle/>
            <a:p>
              <a:r>
                <a:rPr lang="fr-FR" sz="1400" b="1" dirty="0">
                  <a:solidFill>
                    <a:schemeClr val="bg1"/>
                  </a:solidFill>
                  <a:latin typeface="Aptos" panose="020B0004020202020204" pitchFamily="34" charset="0"/>
                </a:rPr>
                <a:t>SQL Injection</a:t>
              </a:r>
            </a:p>
            <a:p>
              <a:endParaRPr lang="fr-FR"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Man-in-the-Middle </a:t>
              </a:r>
            </a:p>
            <a:p>
              <a:endParaRPr lang="en-US"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Absence de Contrôle d'Accès</a:t>
              </a:r>
            </a:p>
            <a:p>
              <a:endParaRPr lang="fr-FR"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Déni de Service  </a:t>
              </a:r>
            </a:p>
            <a:p>
              <a:endParaRPr lang="en-US"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Falsification des Signaux d'Alerte </a:t>
              </a:r>
            </a:p>
            <a:p>
              <a:endParaRPr lang="en-US" sz="1400" b="1" dirty="0">
                <a:solidFill>
                  <a:schemeClr val="bg1"/>
                </a:solidFill>
                <a:latin typeface="Aptos" panose="020B0004020202020204" pitchFamily="34" charset="0"/>
              </a:endParaRPr>
            </a:p>
            <a:p>
              <a:r>
                <a:rPr lang="en-US" sz="1400" b="1" dirty="0">
                  <a:solidFill>
                    <a:schemeClr val="bg1"/>
                  </a:solidFill>
                  <a:latin typeface="Aptos" panose="020B0004020202020204" pitchFamily="34" charset="0"/>
                </a:rPr>
                <a:t>Données Capteurs Aberrantes </a:t>
              </a:r>
            </a:p>
          </p:txBody>
        </p:sp>
        <p:sp>
          <p:nvSpPr>
            <p:cNvPr id="71" name="Rectangle 70">
              <a:extLst>
                <a:ext uri="{FF2B5EF4-FFF2-40B4-BE49-F238E27FC236}">
                  <a16:creationId xmlns:a16="http://schemas.microsoft.com/office/drawing/2014/main" id="{20BA0392-9F52-7500-4D3A-4A6D86B3F609}"/>
                </a:ext>
              </a:extLst>
            </p:cNvPr>
            <p:cNvSpPr/>
            <p:nvPr/>
          </p:nvSpPr>
          <p:spPr>
            <a:xfrm>
              <a:off x="4235586" y="304133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81DC44BC-DEB7-A495-A77A-E5A005558C74}"/>
              </a:ext>
            </a:extLst>
          </p:cNvPr>
          <p:cNvGrpSpPr/>
          <p:nvPr/>
        </p:nvGrpSpPr>
        <p:grpSpPr>
          <a:xfrm>
            <a:off x="-6626177" y="0"/>
            <a:ext cx="2853618" cy="6858000"/>
            <a:chOff x="1910401" y="0"/>
            <a:chExt cx="2853618" cy="6858000"/>
          </a:xfrm>
        </p:grpSpPr>
        <p:grpSp>
          <p:nvGrpSpPr>
            <p:cNvPr id="75" name="Group 74">
              <a:extLst>
                <a:ext uri="{FF2B5EF4-FFF2-40B4-BE49-F238E27FC236}">
                  <a16:creationId xmlns:a16="http://schemas.microsoft.com/office/drawing/2014/main" id="{DD29BD2E-A37F-C17F-FE35-0D60FE1AF082}"/>
                </a:ext>
              </a:extLst>
            </p:cNvPr>
            <p:cNvGrpSpPr/>
            <p:nvPr/>
          </p:nvGrpSpPr>
          <p:grpSpPr>
            <a:xfrm>
              <a:off x="2051999" y="0"/>
              <a:ext cx="2712020" cy="6858000"/>
              <a:chOff x="2051999" y="0"/>
              <a:chExt cx="2712020" cy="6858000"/>
            </a:xfrm>
            <a:solidFill>
              <a:schemeClr val="accent1">
                <a:lumMod val="60000"/>
                <a:lumOff val="40000"/>
              </a:schemeClr>
            </a:solidFill>
          </p:grpSpPr>
          <p:sp>
            <p:nvSpPr>
              <p:cNvPr id="104" name="Rectangle 103">
                <a:extLst>
                  <a:ext uri="{FF2B5EF4-FFF2-40B4-BE49-F238E27FC236}">
                    <a16:creationId xmlns:a16="http://schemas.microsoft.com/office/drawing/2014/main" id="{42EBC5F5-8DAD-5C84-EAEF-0F6CD5F3C3F3}"/>
                  </a:ext>
                </a:extLst>
              </p:cNvPr>
              <p:cNvSpPr/>
              <p:nvPr/>
            </p:nvSpPr>
            <p:spPr>
              <a:xfrm>
                <a:off x="2051999"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Isosceles Triangle 104">
                <a:extLst>
                  <a:ext uri="{FF2B5EF4-FFF2-40B4-BE49-F238E27FC236}">
                    <a16:creationId xmlns:a16="http://schemas.microsoft.com/office/drawing/2014/main" id="{DC74A556-13B4-00F8-DD62-5BEF4999E0FB}"/>
                  </a:ext>
                </a:extLst>
              </p:cNvPr>
              <p:cNvSpPr/>
              <p:nvPr/>
            </p:nvSpPr>
            <p:spPr>
              <a:xfrm rot="5400000">
                <a:off x="3673381" y="573158"/>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a:extLst>
                <a:ext uri="{FF2B5EF4-FFF2-40B4-BE49-F238E27FC236}">
                  <a16:creationId xmlns:a16="http://schemas.microsoft.com/office/drawing/2014/main" id="{77ACD4A3-746B-D903-E9D1-7AAA6EA185BF}"/>
                </a:ext>
              </a:extLst>
            </p:cNvPr>
            <p:cNvSpPr txBox="1"/>
            <p:nvPr/>
          </p:nvSpPr>
          <p:spPr>
            <a:xfrm>
              <a:off x="2898466"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2</a:t>
              </a:r>
              <a:endParaRPr lang="en-US" sz="4000" b="1" dirty="0">
                <a:solidFill>
                  <a:schemeClr val="bg1"/>
                </a:solidFill>
                <a:latin typeface="Aptos" panose="020B0004020202020204" pitchFamily="34" charset="0"/>
              </a:endParaRPr>
            </a:p>
          </p:txBody>
        </p:sp>
        <p:sp>
          <p:nvSpPr>
            <p:cNvPr id="77" name="Rectangle 76">
              <a:extLst>
                <a:ext uri="{FF2B5EF4-FFF2-40B4-BE49-F238E27FC236}">
                  <a16:creationId xmlns:a16="http://schemas.microsoft.com/office/drawing/2014/main" id="{597BF7B2-7427-1DB3-A1E4-CA047A6571FA}"/>
                </a:ext>
              </a:extLst>
            </p:cNvPr>
            <p:cNvSpPr/>
            <p:nvPr/>
          </p:nvSpPr>
          <p:spPr>
            <a:xfrm>
              <a:off x="2186977"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636331A-32ED-47F5-B82D-31EFDC5AB45C}"/>
                </a:ext>
              </a:extLst>
            </p:cNvPr>
            <p:cNvSpPr txBox="1"/>
            <p:nvPr/>
          </p:nvSpPr>
          <p:spPr>
            <a:xfrm>
              <a:off x="1910401" y="2055958"/>
              <a:ext cx="2295145" cy="707886"/>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ANALYSE DES RISQUES </a:t>
              </a:r>
            </a:p>
          </p:txBody>
        </p:sp>
        <p:sp>
          <p:nvSpPr>
            <p:cNvPr id="102" name="TextBox 101">
              <a:extLst>
                <a:ext uri="{FF2B5EF4-FFF2-40B4-BE49-F238E27FC236}">
                  <a16:creationId xmlns:a16="http://schemas.microsoft.com/office/drawing/2014/main" id="{D6F72E03-538F-0357-D79C-68B2E98E42D7}"/>
                </a:ext>
              </a:extLst>
            </p:cNvPr>
            <p:cNvSpPr txBox="1"/>
            <p:nvPr/>
          </p:nvSpPr>
          <p:spPr>
            <a:xfrm>
              <a:off x="2065004" y="3989219"/>
              <a:ext cx="2094775" cy="2246769"/>
            </a:xfrm>
            <a:prstGeom prst="rect">
              <a:avLst/>
            </a:prstGeom>
            <a:noFill/>
          </p:spPr>
          <p:txBody>
            <a:bodyPr wrap="square" rtlCol="0">
              <a:spAutoFit/>
            </a:bodyPr>
            <a:lstStyle/>
            <a:p>
              <a:r>
                <a:rPr lang="fr-FR" sz="1400" b="1" dirty="0">
                  <a:solidFill>
                    <a:schemeClr val="bg1"/>
                  </a:solidFill>
                  <a:latin typeface="Aptos" panose="020B0004020202020204" pitchFamily="34" charset="0"/>
                </a:rPr>
                <a:t>Modèle de Menaces </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Surface d’Attaque </a:t>
              </a:r>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endParaRPr lang="en-US"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Analyse des Risques (Méthode DREAD) </a:t>
              </a:r>
            </a:p>
          </p:txBody>
        </p:sp>
        <p:sp>
          <p:nvSpPr>
            <p:cNvPr id="103" name="Rectangle 102">
              <a:extLst>
                <a:ext uri="{FF2B5EF4-FFF2-40B4-BE49-F238E27FC236}">
                  <a16:creationId xmlns:a16="http://schemas.microsoft.com/office/drawing/2014/main" id="{F39D2CF0-6B69-FB41-50C9-BF947BE4C44B}"/>
                </a:ext>
              </a:extLst>
            </p:cNvPr>
            <p:cNvSpPr/>
            <p:nvPr/>
          </p:nvSpPr>
          <p:spPr>
            <a:xfrm>
              <a:off x="2186977" y="3041445"/>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 name="Group 105">
            <a:extLst>
              <a:ext uri="{FF2B5EF4-FFF2-40B4-BE49-F238E27FC236}">
                <a16:creationId xmlns:a16="http://schemas.microsoft.com/office/drawing/2014/main" id="{DC9BC34B-5E04-0AA8-7E1F-5DFAAF92AB60}"/>
              </a:ext>
            </a:extLst>
          </p:cNvPr>
          <p:cNvGrpSpPr/>
          <p:nvPr/>
        </p:nvGrpSpPr>
        <p:grpSpPr>
          <a:xfrm>
            <a:off x="-6667356" y="0"/>
            <a:ext cx="2820185" cy="6858000"/>
            <a:chOff x="-108168" y="0"/>
            <a:chExt cx="2820185" cy="6858000"/>
          </a:xfrm>
        </p:grpSpPr>
        <p:grpSp>
          <p:nvGrpSpPr>
            <p:cNvPr id="107" name="Group 106">
              <a:extLst>
                <a:ext uri="{FF2B5EF4-FFF2-40B4-BE49-F238E27FC236}">
                  <a16:creationId xmlns:a16="http://schemas.microsoft.com/office/drawing/2014/main" id="{CBE14F27-859D-E9A0-7C35-9E0B0677B788}"/>
                </a:ext>
              </a:extLst>
            </p:cNvPr>
            <p:cNvGrpSpPr/>
            <p:nvPr/>
          </p:nvGrpSpPr>
          <p:grpSpPr>
            <a:xfrm>
              <a:off x="-1" y="0"/>
              <a:ext cx="2712018" cy="6858000"/>
              <a:chOff x="-1" y="0"/>
              <a:chExt cx="2712018" cy="6858000"/>
            </a:xfrm>
            <a:solidFill>
              <a:schemeClr val="accent1">
                <a:lumMod val="40000"/>
                <a:lumOff val="60000"/>
              </a:schemeClr>
            </a:solidFill>
          </p:grpSpPr>
          <p:sp>
            <p:nvSpPr>
              <p:cNvPr id="113" name="Rectangle 112">
                <a:extLst>
                  <a:ext uri="{FF2B5EF4-FFF2-40B4-BE49-F238E27FC236}">
                    <a16:creationId xmlns:a16="http://schemas.microsoft.com/office/drawing/2014/main" id="{0B818575-944F-3FB0-3089-2B18D1FCB72C}"/>
                  </a:ext>
                </a:extLst>
              </p:cNvPr>
              <p:cNvSpPr/>
              <p:nvPr/>
            </p:nvSpPr>
            <p:spPr>
              <a:xfrm>
                <a:off x="-1" y="0"/>
                <a:ext cx="2052000" cy="6858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Isosceles Triangle 113">
                <a:extLst>
                  <a:ext uri="{FF2B5EF4-FFF2-40B4-BE49-F238E27FC236}">
                    <a16:creationId xmlns:a16="http://schemas.microsoft.com/office/drawing/2014/main" id="{5AEAE48E-AD0B-C237-7196-E4FF360F7152}"/>
                  </a:ext>
                </a:extLst>
              </p:cNvPr>
              <p:cNvSpPr/>
              <p:nvPr/>
            </p:nvSpPr>
            <p:spPr>
              <a:xfrm rot="5400000">
                <a:off x="1621379" y="573157"/>
                <a:ext cx="1521257" cy="660018"/>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8" name="TextBox 107">
              <a:extLst>
                <a:ext uri="{FF2B5EF4-FFF2-40B4-BE49-F238E27FC236}">
                  <a16:creationId xmlns:a16="http://schemas.microsoft.com/office/drawing/2014/main" id="{D380C197-0686-85BA-7A5B-03FD741A5E5B}"/>
                </a:ext>
              </a:extLst>
            </p:cNvPr>
            <p:cNvSpPr txBox="1"/>
            <p:nvPr/>
          </p:nvSpPr>
          <p:spPr>
            <a:xfrm>
              <a:off x="77122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1</a:t>
              </a:r>
              <a:endParaRPr lang="en-US" sz="4000" b="1" dirty="0">
                <a:solidFill>
                  <a:schemeClr val="bg1"/>
                </a:solidFill>
                <a:latin typeface="Aptos" panose="020B0004020202020204" pitchFamily="34" charset="0"/>
              </a:endParaRPr>
            </a:p>
          </p:txBody>
        </p:sp>
        <p:sp>
          <p:nvSpPr>
            <p:cNvPr id="109" name="Rectangle 108">
              <a:extLst>
                <a:ext uri="{FF2B5EF4-FFF2-40B4-BE49-F238E27FC236}">
                  <a16:creationId xmlns:a16="http://schemas.microsoft.com/office/drawing/2014/main" id="{27FF7682-87FB-34EA-76BF-AB316E22658D}"/>
                </a:ext>
              </a:extLst>
            </p:cNvPr>
            <p:cNvSpPr/>
            <p:nvPr/>
          </p:nvSpPr>
          <p:spPr>
            <a:xfrm>
              <a:off x="11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53E91900-DC39-3628-EC71-ADA0EB199A8A}"/>
                </a:ext>
              </a:extLst>
            </p:cNvPr>
            <p:cNvSpPr txBox="1"/>
            <p:nvPr/>
          </p:nvSpPr>
          <p:spPr>
            <a:xfrm>
              <a:off x="-108168" y="2174117"/>
              <a:ext cx="2295145" cy="400110"/>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INTRODUCTION </a:t>
              </a:r>
            </a:p>
          </p:txBody>
        </p:sp>
        <p:sp>
          <p:nvSpPr>
            <p:cNvPr id="111" name="TextBox 110">
              <a:extLst>
                <a:ext uri="{FF2B5EF4-FFF2-40B4-BE49-F238E27FC236}">
                  <a16:creationId xmlns:a16="http://schemas.microsoft.com/office/drawing/2014/main" id="{CF9293B5-5FEC-80E9-FE22-25BAA0CD8925}"/>
                </a:ext>
              </a:extLst>
            </p:cNvPr>
            <p:cNvSpPr txBox="1"/>
            <p:nvPr/>
          </p:nvSpPr>
          <p:spPr>
            <a:xfrm>
              <a:off x="68693" y="4499846"/>
              <a:ext cx="2295145" cy="1384995"/>
            </a:xfrm>
            <a:prstGeom prst="rect">
              <a:avLst/>
            </a:prstGeom>
            <a:noFill/>
          </p:spPr>
          <p:txBody>
            <a:bodyPr wrap="square" rtlCol="0">
              <a:spAutoFit/>
            </a:bodyPr>
            <a:lstStyle/>
            <a:p>
              <a:r>
                <a:rPr lang="fr-FR" sz="1400" b="1" dirty="0">
                  <a:solidFill>
                    <a:schemeClr val="bg1"/>
                  </a:solidFill>
                  <a:latin typeface="Aptos" panose="020B0004020202020204" pitchFamily="34" charset="0"/>
                </a:rPr>
                <a:t>Objectif de projet</a:t>
              </a: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endParaRPr lang="fr-FR" sz="1400" b="1" dirty="0">
                <a:solidFill>
                  <a:schemeClr val="bg1"/>
                </a:solidFill>
                <a:latin typeface="Aptos" panose="020B0004020202020204" pitchFamily="34" charset="0"/>
              </a:endParaRPr>
            </a:p>
            <a:p>
              <a:r>
                <a:rPr lang="fr-FR" sz="1400" b="1" dirty="0">
                  <a:solidFill>
                    <a:schemeClr val="bg1"/>
                  </a:solidFill>
                  <a:latin typeface="Aptos" panose="020B0004020202020204" pitchFamily="34" charset="0"/>
                </a:rPr>
                <a:t>Structure de projet</a:t>
              </a:r>
            </a:p>
          </p:txBody>
        </p:sp>
        <p:sp>
          <p:nvSpPr>
            <p:cNvPr id="112" name="Rectangle 111">
              <a:extLst>
                <a:ext uri="{FF2B5EF4-FFF2-40B4-BE49-F238E27FC236}">
                  <a16:creationId xmlns:a16="http://schemas.microsoft.com/office/drawing/2014/main" id="{D749699C-E9D5-F8F6-72CF-07DA4D6F3E5B}"/>
                </a:ext>
              </a:extLst>
            </p:cNvPr>
            <p:cNvSpPr/>
            <p:nvPr/>
          </p:nvSpPr>
          <p:spPr>
            <a:xfrm>
              <a:off x="134285" y="3041446"/>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 name="TextBox 114">
            <a:extLst>
              <a:ext uri="{FF2B5EF4-FFF2-40B4-BE49-F238E27FC236}">
                <a16:creationId xmlns:a16="http://schemas.microsoft.com/office/drawing/2014/main" id="{4400646C-AFDF-27A4-7308-A29CE13D4272}"/>
              </a:ext>
            </a:extLst>
          </p:cNvPr>
          <p:cNvSpPr txBox="1"/>
          <p:nvPr/>
        </p:nvSpPr>
        <p:spPr>
          <a:xfrm>
            <a:off x="3986231" y="36650"/>
            <a:ext cx="4219537" cy="646331"/>
          </a:xfrm>
          <a:prstGeom prst="rect">
            <a:avLst/>
          </a:prstGeom>
          <a:noFill/>
        </p:spPr>
        <p:txBody>
          <a:bodyPr wrap="square" rtlCol="0">
            <a:spAutoFit/>
          </a:bodyPr>
          <a:lstStyle/>
          <a:p>
            <a:r>
              <a:rPr lang="en-US" sz="3600" b="1" dirty="0">
                <a:latin typeface="Cooper Black" panose="0208090404030B020404" pitchFamily="18" charset="0"/>
                <a:cs typeface="Times New Roman" panose="02020603050405020304" pitchFamily="18" charset="0"/>
              </a:rPr>
              <a:t>INTRODUCTION</a:t>
            </a:r>
          </a:p>
        </p:txBody>
      </p:sp>
    </p:spTree>
    <p:extLst>
      <p:ext uri="{BB962C8B-B14F-4D97-AF65-F5344CB8AC3E}">
        <p14:creationId xmlns:p14="http://schemas.microsoft.com/office/powerpoint/2010/main" val="3191909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325E8-2540-86B7-5914-91F049EFDAD4}"/>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4D462907-E52E-08DE-192A-D107E38604CF}"/>
              </a:ext>
            </a:extLst>
          </p:cNvPr>
          <p:cNvGrpSpPr/>
          <p:nvPr/>
        </p:nvGrpSpPr>
        <p:grpSpPr>
          <a:xfrm>
            <a:off x="-4071014" y="0"/>
            <a:ext cx="2827248" cy="6858000"/>
            <a:chOff x="10144770" y="0"/>
            <a:chExt cx="2827248" cy="6858000"/>
          </a:xfrm>
        </p:grpSpPr>
        <p:grpSp>
          <p:nvGrpSpPr>
            <p:cNvPr id="22" name="Group 21">
              <a:extLst>
                <a:ext uri="{FF2B5EF4-FFF2-40B4-BE49-F238E27FC236}">
                  <a16:creationId xmlns:a16="http://schemas.microsoft.com/office/drawing/2014/main" id="{2904C063-6CCD-C2BD-3206-483930ADB179}"/>
                </a:ext>
              </a:extLst>
            </p:cNvPr>
            <p:cNvGrpSpPr/>
            <p:nvPr/>
          </p:nvGrpSpPr>
          <p:grpSpPr>
            <a:xfrm>
              <a:off x="10259999" y="0"/>
              <a:ext cx="2712019" cy="6858000"/>
              <a:chOff x="10259999" y="0"/>
              <a:chExt cx="2712019" cy="6858000"/>
            </a:xfrm>
          </p:grpSpPr>
          <p:sp>
            <p:nvSpPr>
              <p:cNvPr id="28" name="Rectangle 27">
                <a:extLst>
                  <a:ext uri="{FF2B5EF4-FFF2-40B4-BE49-F238E27FC236}">
                    <a16:creationId xmlns:a16="http://schemas.microsoft.com/office/drawing/2014/main" id="{E7C264D8-F305-6CF3-654C-BF19693C9FFC}"/>
                  </a:ext>
                </a:extLst>
              </p:cNvPr>
              <p:cNvSpPr/>
              <p:nvPr/>
            </p:nvSpPr>
            <p:spPr>
              <a:xfrm>
                <a:off x="10259999" y="0"/>
                <a:ext cx="2052000" cy="685800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Isosceles Triangle 28">
                <a:extLst>
                  <a:ext uri="{FF2B5EF4-FFF2-40B4-BE49-F238E27FC236}">
                    <a16:creationId xmlns:a16="http://schemas.microsoft.com/office/drawing/2014/main" id="{A5E19A0A-A413-55A3-9FA7-B37253A3E16A}"/>
                  </a:ext>
                </a:extLst>
              </p:cNvPr>
              <p:cNvSpPr/>
              <p:nvPr/>
            </p:nvSpPr>
            <p:spPr>
              <a:xfrm rot="5400000">
                <a:off x="11881380" y="573162"/>
                <a:ext cx="1521257" cy="660018"/>
              </a:xfrm>
              <a:prstGeom prs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TextBox 22">
              <a:extLst>
                <a:ext uri="{FF2B5EF4-FFF2-40B4-BE49-F238E27FC236}">
                  <a16:creationId xmlns:a16="http://schemas.microsoft.com/office/drawing/2014/main" id="{20B4C5C3-A324-A197-0065-20CDC4BAEDF0}"/>
                </a:ext>
              </a:extLst>
            </p:cNvPr>
            <p:cNvSpPr txBox="1"/>
            <p:nvPr/>
          </p:nvSpPr>
          <p:spPr>
            <a:xfrm>
              <a:off x="11106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6</a:t>
              </a:r>
              <a:endParaRPr lang="en-US" sz="4000" b="1" dirty="0">
                <a:solidFill>
                  <a:schemeClr val="bg1"/>
                </a:solidFill>
                <a:latin typeface="Aptos" panose="020B0004020202020204" pitchFamily="34" charset="0"/>
              </a:endParaRPr>
            </a:p>
          </p:txBody>
        </p:sp>
        <p:sp>
          <p:nvSpPr>
            <p:cNvPr id="24" name="Rectangle 23">
              <a:extLst>
                <a:ext uri="{FF2B5EF4-FFF2-40B4-BE49-F238E27FC236}">
                  <a16:creationId xmlns:a16="http://schemas.microsoft.com/office/drawing/2014/main" id="{9E4F84F8-0ED8-F502-11E9-58798060C20F}"/>
                </a:ext>
              </a:extLst>
            </p:cNvPr>
            <p:cNvSpPr/>
            <p:nvPr/>
          </p:nvSpPr>
          <p:spPr>
            <a:xfrm>
              <a:off x="1037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EDE0120-1717-A44F-A79A-8D6B77FF943A}"/>
                </a:ext>
              </a:extLst>
            </p:cNvPr>
            <p:cNvSpPr txBox="1"/>
            <p:nvPr/>
          </p:nvSpPr>
          <p:spPr>
            <a:xfrm>
              <a:off x="10144770" y="2493377"/>
              <a:ext cx="2295145" cy="400110"/>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Conclusion</a:t>
              </a:r>
              <a:endParaRPr lang="en-US" sz="3600" dirty="0">
                <a:solidFill>
                  <a:schemeClr val="bg1"/>
                </a:solidFill>
                <a:latin typeface="Bahnschrift SemiBold" panose="020B0502040204020203" pitchFamily="34" charset="0"/>
              </a:endParaRPr>
            </a:p>
          </p:txBody>
        </p:sp>
        <p:sp>
          <p:nvSpPr>
            <p:cNvPr id="26" name="TextBox 25">
              <a:extLst>
                <a:ext uri="{FF2B5EF4-FFF2-40B4-BE49-F238E27FC236}">
                  <a16:creationId xmlns:a16="http://schemas.microsoft.com/office/drawing/2014/main" id="{C207ED8B-1E55-AD26-6BF6-E3683291DCCF}"/>
                </a:ext>
              </a:extLst>
            </p:cNvPr>
            <p:cNvSpPr txBox="1"/>
            <p:nvPr/>
          </p:nvSpPr>
          <p:spPr>
            <a:xfrm>
              <a:off x="10190620" y="4718304"/>
              <a:ext cx="2295145" cy="1077218"/>
            </a:xfrm>
            <a:prstGeom prst="rect">
              <a:avLst/>
            </a:prstGeom>
            <a:noFill/>
          </p:spPr>
          <p:txBody>
            <a:bodyPr wrap="square" rtlCol="0">
              <a:spAutoFit/>
            </a:bodyPr>
            <a:lstStyle/>
            <a:p>
              <a:r>
                <a:rPr lang="fr-FR" sz="1600" b="1" dirty="0">
                  <a:solidFill>
                    <a:schemeClr val="bg1"/>
                  </a:solidFill>
                  <a:latin typeface="Aptos" panose="020B0004020202020204" pitchFamily="34" charset="0"/>
                </a:rPr>
                <a:t>Importance du diagramme de Gantt dans la gestion de projet</a:t>
              </a:r>
              <a:endParaRPr lang="en-US" sz="1600" b="1" dirty="0">
                <a:solidFill>
                  <a:schemeClr val="bg1"/>
                </a:solidFill>
                <a:latin typeface="Aptos" panose="020B0004020202020204" pitchFamily="34" charset="0"/>
              </a:endParaRPr>
            </a:p>
          </p:txBody>
        </p:sp>
        <p:sp>
          <p:nvSpPr>
            <p:cNvPr id="27" name="Rectangle 26">
              <a:extLst>
                <a:ext uri="{FF2B5EF4-FFF2-40B4-BE49-F238E27FC236}">
                  <a16:creationId xmlns:a16="http://schemas.microsoft.com/office/drawing/2014/main" id="{B8A4F51D-A9C7-C05F-D5A9-A7A9D3689519}"/>
                </a:ext>
              </a:extLst>
            </p:cNvPr>
            <p:cNvSpPr/>
            <p:nvPr/>
          </p:nvSpPr>
          <p:spPr>
            <a:xfrm>
              <a:off x="10398898" y="366998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3B80ED4-D288-CB4A-4D1C-0EFE3B56210D}"/>
              </a:ext>
            </a:extLst>
          </p:cNvPr>
          <p:cNvGrpSpPr/>
          <p:nvPr/>
        </p:nvGrpSpPr>
        <p:grpSpPr>
          <a:xfrm>
            <a:off x="-4161453" y="0"/>
            <a:ext cx="2832726" cy="6858000"/>
            <a:chOff x="8087294" y="0"/>
            <a:chExt cx="2832726" cy="6858000"/>
          </a:xfrm>
        </p:grpSpPr>
        <p:grpSp>
          <p:nvGrpSpPr>
            <p:cNvPr id="31" name="Group 30">
              <a:extLst>
                <a:ext uri="{FF2B5EF4-FFF2-40B4-BE49-F238E27FC236}">
                  <a16:creationId xmlns:a16="http://schemas.microsoft.com/office/drawing/2014/main" id="{92950FFB-E249-25DE-850E-6FF0C1C80790}"/>
                </a:ext>
              </a:extLst>
            </p:cNvPr>
            <p:cNvGrpSpPr/>
            <p:nvPr/>
          </p:nvGrpSpPr>
          <p:grpSpPr>
            <a:xfrm>
              <a:off x="8207999" y="0"/>
              <a:ext cx="2712021" cy="6858000"/>
              <a:chOff x="8207999" y="0"/>
              <a:chExt cx="2712021" cy="6858000"/>
            </a:xfrm>
          </p:grpSpPr>
          <p:sp>
            <p:nvSpPr>
              <p:cNvPr id="41" name="Rectangle 40">
                <a:extLst>
                  <a:ext uri="{FF2B5EF4-FFF2-40B4-BE49-F238E27FC236}">
                    <a16:creationId xmlns:a16="http://schemas.microsoft.com/office/drawing/2014/main" id="{E2C43FC6-F653-B8DA-D0BA-E8D9E8C351DB}"/>
                  </a:ext>
                </a:extLst>
              </p:cNvPr>
              <p:cNvSpPr/>
              <p:nvPr/>
            </p:nvSpPr>
            <p:spPr>
              <a:xfrm>
                <a:off x="8207999" y="0"/>
                <a:ext cx="2052000" cy="6858000"/>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a:extLst>
                  <a:ext uri="{FF2B5EF4-FFF2-40B4-BE49-F238E27FC236}">
                    <a16:creationId xmlns:a16="http://schemas.microsoft.com/office/drawing/2014/main" id="{CF608A74-0CE2-03B3-6D7A-B0B44FC63989}"/>
                  </a:ext>
                </a:extLst>
              </p:cNvPr>
              <p:cNvSpPr/>
              <p:nvPr/>
            </p:nvSpPr>
            <p:spPr>
              <a:xfrm rot="5400000">
                <a:off x="9829382" y="573161"/>
                <a:ext cx="1521257" cy="660018"/>
              </a:xfrm>
              <a:prstGeom prst="triangle">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2BF53580-671A-96BA-5D46-29BCDA9FF0F7}"/>
                </a:ext>
              </a:extLst>
            </p:cNvPr>
            <p:cNvSpPr txBox="1"/>
            <p:nvPr/>
          </p:nvSpPr>
          <p:spPr>
            <a:xfrm>
              <a:off x="9054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5</a:t>
              </a:r>
              <a:endParaRPr lang="en-US" sz="4000" b="1" dirty="0">
                <a:solidFill>
                  <a:schemeClr val="bg1"/>
                </a:solidFill>
                <a:latin typeface="Aptos" panose="020B0004020202020204" pitchFamily="34" charset="0"/>
              </a:endParaRPr>
            </a:p>
          </p:txBody>
        </p:sp>
        <p:sp>
          <p:nvSpPr>
            <p:cNvPr id="33" name="Rectangle 32">
              <a:extLst>
                <a:ext uri="{FF2B5EF4-FFF2-40B4-BE49-F238E27FC236}">
                  <a16:creationId xmlns:a16="http://schemas.microsoft.com/office/drawing/2014/main" id="{F03A1F10-EF9E-F227-CD73-C28B79D277C7}"/>
                </a:ext>
              </a:extLst>
            </p:cNvPr>
            <p:cNvSpPr/>
            <p:nvPr/>
          </p:nvSpPr>
          <p:spPr>
            <a:xfrm>
              <a:off x="8339583"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BE00928-4A2F-F753-80B1-6FE1B40F3951}"/>
                </a:ext>
              </a:extLst>
            </p:cNvPr>
            <p:cNvSpPr txBox="1"/>
            <p:nvPr/>
          </p:nvSpPr>
          <p:spPr>
            <a:xfrm>
              <a:off x="8087294" y="2493377"/>
              <a:ext cx="2295145" cy="707886"/>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Exemple d’application</a:t>
              </a:r>
              <a:endParaRPr lang="en-US" sz="3200" dirty="0">
                <a:solidFill>
                  <a:schemeClr val="bg1"/>
                </a:solidFill>
                <a:latin typeface="Bahnschrift SemiBold" panose="020B0502040204020203" pitchFamily="34" charset="0"/>
              </a:endParaRPr>
            </a:p>
          </p:txBody>
        </p:sp>
        <p:sp>
          <p:nvSpPr>
            <p:cNvPr id="39" name="TextBox 38">
              <a:extLst>
                <a:ext uri="{FF2B5EF4-FFF2-40B4-BE49-F238E27FC236}">
                  <a16:creationId xmlns:a16="http://schemas.microsoft.com/office/drawing/2014/main" id="{B2126BC7-B668-8FF4-F794-9A9D7095DDC0}"/>
                </a:ext>
              </a:extLst>
            </p:cNvPr>
            <p:cNvSpPr txBox="1"/>
            <p:nvPr/>
          </p:nvSpPr>
          <p:spPr>
            <a:xfrm>
              <a:off x="8196283" y="4471416"/>
              <a:ext cx="2257479" cy="1569660"/>
            </a:xfrm>
            <a:prstGeom prst="rect">
              <a:avLst/>
            </a:prstGeom>
            <a:noFill/>
          </p:spPr>
          <p:txBody>
            <a:bodyPr wrap="square" rtlCol="0">
              <a:spAutoFit/>
            </a:bodyPr>
            <a:lstStyle/>
            <a:p>
              <a:r>
                <a:rPr lang="fr-FR" sz="1600" b="1" dirty="0">
                  <a:solidFill>
                    <a:schemeClr val="bg1"/>
                  </a:solidFill>
                  <a:latin typeface="Aptos" panose="020B0004020202020204" pitchFamily="34" charset="0"/>
                </a:rPr>
                <a:t>Exemple simple de projet </a:t>
              </a:r>
            </a:p>
            <a:p>
              <a:endParaRPr lang="fr-FR"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Lecture et interprétation du diagramme</a:t>
              </a:r>
              <a:endParaRPr lang="en-US" sz="1600" b="1" dirty="0">
                <a:solidFill>
                  <a:schemeClr val="bg1"/>
                </a:solidFill>
                <a:latin typeface="Aptos" panose="020B0004020202020204" pitchFamily="34" charset="0"/>
              </a:endParaRPr>
            </a:p>
          </p:txBody>
        </p:sp>
        <p:sp>
          <p:nvSpPr>
            <p:cNvPr id="40" name="Rectangle 39">
              <a:extLst>
                <a:ext uri="{FF2B5EF4-FFF2-40B4-BE49-F238E27FC236}">
                  <a16:creationId xmlns:a16="http://schemas.microsoft.com/office/drawing/2014/main" id="{2C00191B-FB06-4337-7BA8-6122D312CE30}"/>
                </a:ext>
              </a:extLst>
            </p:cNvPr>
            <p:cNvSpPr/>
            <p:nvPr/>
          </p:nvSpPr>
          <p:spPr>
            <a:xfrm>
              <a:off x="8319560" y="366998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a:extLst>
              <a:ext uri="{FF2B5EF4-FFF2-40B4-BE49-F238E27FC236}">
                <a16:creationId xmlns:a16="http://schemas.microsoft.com/office/drawing/2014/main" id="{E2C6B156-69D8-BC6D-83CD-E93DABDF818F}"/>
              </a:ext>
            </a:extLst>
          </p:cNvPr>
          <p:cNvGrpSpPr/>
          <p:nvPr/>
        </p:nvGrpSpPr>
        <p:grpSpPr>
          <a:xfrm>
            <a:off x="-4237282" y="0"/>
            <a:ext cx="2823580" cy="6858000"/>
            <a:chOff x="6044438" y="0"/>
            <a:chExt cx="2823580" cy="6858000"/>
          </a:xfrm>
        </p:grpSpPr>
        <p:grpSp>
          <p:nvGrpSpPr>
            <p:cNvPr id="46" name="Group 45">
              <a:extLst>
                <a:ext uri="{FF2B5EF4-FFF2-40B4-BE49-F238E27FC236}">
                  <a16:creationId xmlns:a16="http://schemas.microsoft.com/office/drawing/2014/main" id="{4E70ED38-9BA7-8035-D980-74DB7D135878}"/>
                </a:ext>
              </a:extLst>
            </p:cNvPr>
            <p:cNvGrpSpPr/>
            <p:nvPr/>
          </p:nvGrpSpPr>
          <p:grpSpPr>
            <a:xfrm>
              <a:off x="6155999" y="0"/>
              <a:ext cx="2712019" cy="6858000"/>
              <a:chOff x="6155999" y="0"/>
              <a:chExt cx="2712019" cy="6858000"/>
            </a:xfrm>
          </p:grpSpPr>
          <p:sp>
            <p:nvSpPr>
              <p:cNvPr id="82" name="Rectangle 81">
                <a:extLst>
                  <a:ext uri="{FF2B5EF4-FFF2-40B4-BE49-F238E27FC236}">
                    <a16:creationId xmlns:a16="http://schemas.microsoft.com/office/drawing/2014/main" id="{5E643C03-2583-FF5B-C87F-282988DF53B9}"/>
                  </a:ext>
                </a:extLst>
              </p:cNvPr>
              <p:cNvSpPr/>
              <p:nvPr/>
            </p:nvSpPr>
            <p:spPr>
              <a:xfrm>
                <a:off x="6155999" y="0"/>
                <a:ext cx="2052000" cy="685800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8DBCFC5B-2006-CB1D-344B-A067AD0B7B10}"/>
                  </a:ext>
                </a:extLst>
              </p:cNvPr>
              <p:cNvSpPr/>
              <p:nvPr/>
            </p:nvSpPr>
            <p:spPr>
              <a:xfrm rot="5400000">
                <a:off x="7777380" y="573160"/>
                <a:ext cx="1521257" cy="660018"/>
              </a:xfrm>
              <a:prstGeom prst="triangl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C21B72CE-DF98-60F8-1EBA-EA76D1ED4ACA}"/>
                </a:ext>
              </a:extLst>
            </p:cNvPr>
            <p:cNvSpPr txBox="1"/>
            <p:nvPr/>
          </p:nvSpPr>
          <p:spPr>
            <a:xfrm>
              <a:off x="700246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4</a:t>
              </a:r>
              <a:endParaRPr lang="en-US" sz="4000" b="1" dirty="0">
                <a:solidFill>
                  <a:schemeClr val="bg1"/>
                </a:solidFill>
                <a:latin typeface="Aptos" panose="020B0004020202020204" pitchFamily="34" charset="0"/>
              </a:endParaRPr>
            </a:p>
          </p:txBody>
        </p:sp>
        <p:sp>
          <p:nvSpPr>
            <p:cNvPr id="55" name="Rectangle 54">
              <a:extLst>
                <a:ext uri="{FF2B5EF4-FFF2-40B4-BE49-F238E27FC236}">
                  <a16:creationId xmlns:a16="http://schemas.microsoft.com/office/drawing/2014/main" id="{6FE2F615-1640-52C0-FF0F-3F86ADB76AFF}"/>
                </a:ext>
              </a:extLst>
            </p:cNvPr>
            <p:cNvSpPr/>
            <p:nvPr/>
          </p:nvSpPr>
          <p:spPr>
            <a:xfrm>
              <a:off x="6287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E0DA24DC-BD96-289D-FCAD-C127E9457123}"/>
                </a:ext>
              </a:extLst>
            </p:cNvPr>
            <p:cNvSpPr txBox="1"/>
            <p:nvPr/>
          </p:nvSpPr>
          <p:spPr>
            <a:xfrm>
              <a:off x="6044438" y="2328785"/>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Limites </a:t>
              </a:r>
            </a:p>
            <a:p>
              <a:pPr algn="ctr"/>
              <a:r>
                <a:rPr lang="fr-FR" sz="2000" dirty="0">
                  <a:solidFill>
                    <a:schemeClr val="bg1"/>
                  </a:solidFill>
                  <a:latin typeface="Bahnschrift SemiBold" panose="020B0502040204020203" pitchFamily="34" charset="0"/>
                </a:rPr>
                <a:t>et </a:t>
              </a:r>
            </a:p>
            <a:p>
              <a:pPr algn="ctr"/>
              <a:r>
                <a:rPr lang="fr-FR" sz="2000" dirty="0">
                  <a:solidFill>
                    <a:schemeClr val="bg1"/>
                  </a:solidFill>
                  <a:latin typeface="Bahnschrift SemiBold" panose="020B0502040204020203" pitchFamily="34" charset="0"/>
                </a:rPr>
                <a:t>difficultés </a:t>
              </a:r>
              <a:endParaRPr lang="en-US" sz="2800" dirty="0">
                <a:solidFill>
                  <a:schemeClr val="bg1"/>
                </a:solidFill>
                <a:latin typeface="Bahnschrift SemiBold" panose="020B0502040204020203" pitchFamily="34" charset="0"/>
              </a:endParaRPr>
            </a:p>
          </p:txBody>
        </p:sp>
        <p:sp>
          <p:nvSpPr>
            <p:cNvPr id="80" name="TextBox 79">
              <a:extLst>
                <a:ext uri="{FF2B5EF4-FFF2-40B4-BE49-F238E27FC236}">
                  <a16:creationId xmlns:a16="http://schemas.microsoft.com/office/drawing/2014/main" id="{C5271284-CA9B-D1C3-DBC4-7FFADAEE0CED}"/>
                </a:ext>
              </a:extLst>
            </p:cNvPr>
            <p:cNvSpPr txBox="1"/>
            <p:nvPr/>
          </p:nvSpPr>
          <p:spPr>
            <a:xfrm>
              <a:off x="6122184" y="4096111"/>
              <a:ext cx="2295145" cy="2308324"/>
            </a:xfrm>
            <a:prstGeom prst="rect">
              <a:avLst/>
            </a:prstGeom>
            <a:noFill/>
          </p:spPr>
          <p:txBody>
            <a:bodyPr wrap="square" rtlCol="0">
              <a:spAutoFit/>
            </a:bodyPr>
            <a:lstStyle/>
            <a:p>
              <a:r>
                <a:rPr lang="fr-FR" sz="1600" b="1" dirty="0">
                  <a:solidFill>
                    <a:schemeClr val="bg1"/>
                  </a:solidFill>
                  <a:latin typeface="Aptos" panose="020B0004020202020204" pitchFamily="34" charset="0"/>
                </a:rPr>
                <a:t>Complexité pour les grands projets</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Mises à jour fréquentes nécessaires</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Ne montre pas les ressources en détail</a:t>
              </a:r>
              <a:endParaRPr lang="en-US" sz="1600" b="1" dirty="0">
                <a:solidFill>
                  <a:schemeClr val="bg1"/>
                </a:solidFill>
                <a:latin typeface="Aptos" panose="020B0004020202020204" pitchFamily="34" charset="0"/>
              </a:endParaRPr>
            </a:p>
          </p:txBody>
        </p:sp>
        <p:sp>
          <p:nvSpPr>
            <p:cNvPr id="81" name="Rectangle 80">
              <a:extLst>
                <a:ext uri="{FF2B5EF4-FFF2-40B4-BE49-F238E27FC236}">
                  <a16:creationId xmlns:a16="http://schemas.microsoft.com/office/drawing/2014/main" id="{029B077F-EA1B-923C-1A28-C049ADADAF7F}"/>
                </a:ext>
              </a:extLst>
            </p:cNvPr>
            <p:cNvSpPr/>
            <p:nvPr/>
          </p:nvSpPr>
          <p:spPr>
            <a:xfrm>
              <a:off x="6284019" y="366998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1CDD1D2F-7CD6-23FA-FEEF-2D5304EC577F}"/>
              </a:ext>
            </a:extLst>
          </p:cNvPr>
          <p:cNvGrpSpPr/>
          <p:nvPr/>
        </p:nvGrpSpPr>
        <p:grpSpPr>
          <a:xfrm>
            <a:off x="-4334964" y="0"/>
            <a:ext cx="2836295" cy="6860036"/>
            <a:chOff x="3979726" y="0"/>
            <a:chExt cx="2836295" cy="6860036"/>
          </a:xfrm>
        </p:grpSpPr>
        <p:grpSp>
          <p:nvGrpSpPr>
            <p:cNvPr id="85" name="Group 84">
              <a:extLst>
                <a:ext uri="{FF2B5EF4-FFF2-40B4-BE49-F238E27FC236}">
                  <a16:creationId xmlns:a16="http://schemas.microsoft.com/office/drawing/2014/main" id="{55E49785-4B53-2C5D-9D3B-CB7BA2120A84}"/>
                </a:ext>
              </a:extLst>
            </p:cNvPr>
            <p:cNvGrpSpPr/>
            <p:nvPr/>
          </p:nvGrpSpPr>
          <p:grpSpPr>
            <a:xfrm>
              <a:off x="4103999" y="0"/>
              <a:ext cx="2712022" cy="6858000"/>
              <a:chOff x="4103999" y="0"/>
              <a:chExt cx="2712022" cy="6858000"/>
            </a:xfrm>
          </p:grpSpPr>
          <p:sp>
            <p:nvSpPr>
              <p:cNvPr id="91" name="Rectangle 90">
                <a:extLst>
                  <a:ext uri="{FF2B5EF4-FFF2-40B4-BE49-F238E27FC236}">
                    <a16:creationId xmlns:a16="http://schemas.microsoft.com/office/drawing/2014/main" id="{1645751C-96BB-241B-2BF0-63739B00DFF1}"/>
                  </a:ext>
                </a:extLst>
              </p:cNvPr>
              <p:cNvSpPr/>
              <p:nvPr/>
            </p:nvSpPr>
            <p:spPr>
              <a:xfrm>
                <a:off x="4103999" y="0"/>
                <a:ext cx="2052000" cy="6858000"/>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91">
                <a:extLst>
                  <a:ext uri="{FF2B5EF4-FFF2-40B4-BE49-F238E27FC236}">
                    <a16:creationId xmlns:a16="http://schemas.microsoft.com/office/drawing/2014/main" id="{AEE3FD67-EA4A-2681-F42E-5EA5B62FE183}"/>
                  </a:ext>
                </a:extLst>
              </p:cNvPr>
              <p:cNvSpPr/>
              <p:nvPr/>
            </p:nvSpPr>
            <p:spPr>
              <a:xfrm rot="5400000">
                <a:off x="5725383" y="573159"/>
                <a:ext cx="1521257" cy="660018"/>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 name="TextBox 85">
              <a:extLst>
                <a:ext uri="{FF2B5EF4-FFF2-40B4-BE49-F238E27FC236}">
                  <a16:creationId xmlns:a16="http://schemas.microsoft.com/office/drawing/2014/main" id="{A6302FEC-B907-832C-754E-0F66EF8319AA}"/>
                </a:ext>
              </a:extLst>
            </p:cNvPr>
            <p:cNvSpPr txBox="1"/>
            <p:nvPr/>
          </p:nvSpPr>
          <p:spPr>
            <a:xfrm>
              <a:off x="4950468"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3</a:t>
              </a:r>
              <a:endParaRPr lang="en-US" sz="4000" b="1" dirty="0">
                <a:solidFill>
                  <a:schemeClr val="bg1"/>
                </a:solidFill>
                <a:latin typeface="Aptos" panose="020B0004020202020204" pitchFamily="34" charset="0"/>
              </a:endParaRPr>
            </a:p>
          </p:txBody>
        </p:sp>
        <p:sp>
          <p:nvSpPr>
            <p:cNvPr id="87" name="Rectangle 86">
              <a:extLst>
                <a:ext uri="{FF2B5EF4-FFF2-40B4-BE49-F238E27FC236}">
                  <a16:creationId xmlns:a16="http://schemas.microsoft.com/office/drawing/2014/main" id="{AE31514B-834A-EED7-62FC-13D1883EFF84}"/>
                </a:ext>
              </a:extLst>
            </p:cNvPr>
            <p:cNvSpPr/>
            <p:nvPr/>
          </p:nvSpPr>
          <p:spPr>
            <a:xfrm>
              <a:off x="4235586"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A6B59FDB-1377-6F0B-A6B3-7E71A247A843}"/>
                </a:ext>
              </a:extLst>
            </p:cNvPr>
            <p:cNvSpPr txBox="1"/>
            <p:nvPr/>
          </p:nvSpPr>
          <p:spPr>
            <a:xfrm>
              <a:off x="3979726" y="2328785"/>
              <a:ext cx="2295145" cy="1015663"/>
            </a:xfrm>
            <a:prstGeom prst="rect">
              <a:avLst/>
            </a:prstGeom>
            <a:noFill/>
          </p:spPr>
          <p:txBody>
            <a:bodyPr wrap="square" rtlCol="0">
              <a:spAutoFit/>
            </a:bodyPr>
            <a:lstStyle/>
            <a:p>
              <a:pPr algn="ctr"/>
              <a:r>
                <a:rPr lang="fr-FR" sz="2000" dirty="0">
                  <a:solidFill>
                    <a:schemeClr val="bg1"/>
                  </a:solidFill>
                  <a:latin typeface="Bahnschrift SemiBold" panose="020B0502040204020203" pitchFamily="34" charset="0"/>
                </a:rPr>
                <a:t>Intérêt </a:t>
              </a:r>
            </a:p>
            <a:p>
              <a:pPr algn="ctr"/>
              <a:r>
                <a:rPr lang="fr-FR" sz="2000" dirty="0">
                  <a:solidFill>
                    <a:schemeClr val="bg1"/>
                  </a:solidFill>
                  <a:latin typeface="Bahnschrift SemiBold" panose="020B0502040204020203" pitchFamily="34" charset="0"/>
                </a:rPr>
                <a:t>et </a:t>
              </a:r>
            </a:p>
            <a:p>
              <a:pPr algn="ctr"/>
              <a:r>
                <a:rPr lang="fr-FR" sz="2000" dirty="0">
                  <a:solidFill>
                    <a:schemeClr val="bg1"/>
                  </a:solidFill>
                  <a:latin typeface="Bahnschrift SemiBold" panose="020B0502040204020203" pitchFamily="34" charset="0"/>
                </a:rPr>
                <a:t>avantages </a:t>
              </a:r>
              <a:endParaRPr lang="en-US" sz="2400" dirty="0">
                <a:solidFill>
                  <a:schemeClr val="bg1"/>
                </a:solidFill>
                <a:latin typeface="Bahnschrift SemiBold" panose="020B0502040204020203" pitchFamily="34" charset="0"/>
              </a:endParaRPr>
            </a:p>
          </p:txBody>
        </p:sp>
        <p:sp>
          <p:nvSpPr>
            <p:cNvPr id="89" name="TextBox 88">
              <a:extLst>
                <a:ext uri="{FF2B5EF4-FFF2-40B4-BE49-F238E27FC236}">
                  <a16:creationId xmlns:a16="http://schemas.microsoft.com/office/drawing/2014/main" id="{24C6F730-A536-8FE6-F312-97FCB7C297F6}"/>
                </a:ext>
              </a:extLst>
            </p:cNvPr>
            <p:cNvSpPr txBox="1"/>
            <p:nvPr/>
          </p:nvSpPr>
          <p:spPr>
            <a:xfrm>
              <a:off x="4085755" y="3813048"/>
              <a:ext cx="2194488" cy="3046988"/>
            </a:xfrm>
            <a:prstGeom prst="rect">
              <a:avLst/>
            </a:prstGeom>
            <a:noFill/>
          </p:spPr>
          <p:txBody>
            <a:bodyPr wrap="square" rtlCol="0">
              <a:spAutoFit/>
            </a:bodyPr>
            <a:lstStyle/>
            <a:p>
              <a:r>
                <a:rPr lang="fr-FR" sz="1600" b="1" dirty="0">
                  <a:solidFill>
                    <a:schemeClr val="bg1"/>
                  </a:solidFill>
                  <a:latin typeface="Aptos" panose="020B0004020202020204" pitchFamily="34" charset="0"/>
                </a:rPr>
                <a:t>Vision globale sur le projet</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Planification claire des délais</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Suivi de l’avancement</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Communication facilitée entre les membres du projet</a:t>
              </a:r>
              <a:endParaRPr lang="en-US" sz="1600" b="1" dirty="0">
                <a:solidFill>
                  <a:schemeClr val="bg1"/>
                </a:solidFill>
                <a:latin typeface="Aptos" panose="020B0004020202020204" pitchFamily="34" charset="0"/>
              </a:endParaRPr>
            </a:p>
          </p:txBody>
        </p:sp>
        <p:sp>
          <p:nvSpPr>
            <p:cNvPr id="90" name="Rectangle 89">
              <a:extLst>
                <a:ext uri="{FF2B5EF4-FFF2-40B4-BE49-F238E27FC236}">
                  <a16:creationId xmlns:a16="http://schemas.microsoft.com/office/drawing/2014/main" id="{6B897A21-305C-4CAB-AE69-733D58407461}"/>
                </a:ext>
              </a:extLst>
            </p:cNvPr>
            <p:cNvSpPr/>
            <p:nvPr/>
          </p:nvSpPr>
          <p:spPr>
            <a:xfrm>
              <a:off x="4235586" y="366998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a:extLst>
              <a:ext uri="{FF2B5EF4-FFF2-40B4-BE49-F238E27FC236}">
                <a16:creationId xmlns:a16="http://schemas.microsoft.com/office/drawing/2014/main" id="{33CAC513-9138-2DEA-B2F2-C0F1F202E63F}"/>
              </a:ext>
            </a:extLst>
          </p:cNvPr>
          <p:cNvGrpSpPr/>
          <p:nvPr/>
        </p:nvGrpSpPr>
        <p:grpSpPr>
          <a:xfrm>
            <a:off x="-4406590" y="0"/>
            <a:ext cx="2833592" cy="6858000"/>
            <a:chOff x="1930427" y="0"/>
            <a:chExt cx="2833592" cy="6858000"/>
          </a:xfrm>
        </p:grpSpPr>
        <p:grpSp>
          <p:nvGrpSpPr>
            <p:cNvPr id="94" name="Group 93">
              <a:extLst>
                <a:ext uri="{FF2B5EF4-FFF2-40B4-BE49-F238E27FC236}">
                  <a16:creationId xmlns:a16="http://schemas.microsoft.com/office/drawing/2014/main" id="{6061D592-64EA-AFDA-1BC4-9DF628A94796}"/>
                </a:ext>
              </a:extLst>
            </p:cNvPr>
            <p:cNvGrpSpPr/>
            <p:nvPr/>
          </p:nvGrpSpPr>
          <p:grpSpPr>
            <a:xfrm>
              <a:off x="2051999" y="0"/>
              <a:ext cx="2712020" cy="6858000"/>
              <a:chOff x="2051999" y="0"/>
              <a:chExt cx="2712020" cy="6858000"/>
            </a:xfrm>
          </p:grpSpPr>
          <p:sp>
            <p:nvSpPr>
              <p:cNvPr id="100" name="Rectangle 99">
                <a:extLst>
                  <a:ext uri="{FF2B5EF4-FFF2-40B4-BE49-F238E27FC236}">
                    <a16:creationId xmlns:a16="http://schemas.microsoft.com/office/drawing/2014/main" id="{2B9B8107-6F24-7304-0ADA-A4F27B9BB4C0}"/>
                  </a:ext>
                </a:extLst>
              </p:cNvPr>
              <p:cNvSpPr/>
              <p:nvPr/>
            </p:nvSpPr>
            <p:spPr>
              <a:xfrm>
                <a:off x="2051999" y="0"/>
                <a:ext cx="205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04F1724F-1447-8D17-39A2-BA600B1A42AD}"/>
                  </a:ext>
                </a:extLst>
              </p:cNvPr>
              <p:cNvSpPr/>
              <p:nvPr/>
            </p:nvSpPr>
            <p:spPr>
              <a:xfrm rot="5400000">
                <a:off x="3673381" y="573158"/>
                <a:ext cx="1521257" cy="660018"/>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5" name="TextBox 94">
              <a:extLst>
                <a:ext uri="{FF2B5EF4-FFF2-40B4-BE49-F238E27FC236}">
                  <a16:creationId xmlns:a16="http://schemas.microsoft.com/office/drawing/2014/main" id="{CF4E564B-375A-4F5F-FFFC-0A544445374C}"/>
                </a:ext>
              </a:extLst>
            </p:cNvPr>
            <p:cNvSpPr txBox="1"/>
            <p:nvPr/>
          </p:nvSpPr>
          <p:spPr>
            <a:xfrm>
              <a:off x="2898466"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2</a:t>
              </a:r>
              <a:endParaRPr lang="en-US" sz="4000" b="1" dirty="0">
                <a:solidFill>
                  <a:schemeClr val="bg1"/>
                </a:solidFill>
                <a:latin typeface="Aptos" panose="020B0004020202020204" pitchFamily="34" charset="0"/>
              </a:endParaRPr>
            </a:p>
          </p:txBody>
        </p:sp>
        <p:sp>
          <p:nvSpPr>
            <p:cNvPr id="96" name="Rectangle 95">
              <a:extLst>
                <a:ext uri="{FF2B5EF4-FFF2-40B4-BE49-F238E27FC236}">
                  <a16:creationId xmlns:a16="http://schemas.microsoft.com/office/drawing/2014/main" id="{3D12EEF4-2356-B6D2-3755-81A1163A83E7}"/>
                </a:ext>
              </a:extLst>
            </p:cNvPr>
            <p:cNvSpPr/>
            <p:nvPr/>
          </p:nvSpPr>
          <p:spPr>
            <a:xfrm>
              <a:off x="2186977"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6F5C5AF2-DD6E-493C-F986-96175D28BD3B}"/>
                </a:ext>
              </a:extLst>
            </p:cNvPr>
            <p:cNvSpPr txBox="1"/>
            <p:nvPr/>
          </p:nvSpPr>
          <p:spPr>
            <a:xfrm>
              <a:off x="1930427" y="2328785"/>
              <a:ext cx="2295145" cy="1015663"/>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Structure d’un diagramme de Gantt</a:t>
              </a:r>
            </a:p>
          </p:txBody>
        </p:sp>
        <p:sp>
          <p:nvSpPr>
            <p:cNvPr id="98" name="TextBox 97">
              <a:extLst>
                <a:ext uri="{FF2B5EF4-FFF2-40B4-BE49-F238E27FC236}">
                  <a16:creationId xmlns:a16="http://schemas.microsoft.com/office/drawing/2014/main" id="{5189F335-9104-D9BB-3BC3-B30BD444EED6}"/>
                </a:ext>
              </a:extLst>
            </p:cNvPr>
            <p:cNvSpPr txBox="1"/>
            <p:nvPr/>
          </p:nvSpPr>
          <p:spPr>
            <a:xfrm>
              <a:off x="2009132" y="3806330"/>
              <a:ext cx="2094775" cy="3046988"/>
            </a:xfrm>
            <a:prstGeom prst="rect">
              <a:avLst/>
            </a:prstGeom>
            <a:noFill/>
          </p:spPr>
          <p:txBody>
            <a:bodyPr wrap="square" rtlCol="0">
              <a:spAutoFit/>
            </a:bodyPr>
            <a:lstStyle/>
            <a:p>
              <a:r>
                <a:rPr lang="fr-FR" sz="1600" b="1" dirty="0">
                  <a:solidFill>
                    <a:schemeClr val="bg1"/>
                  </a:solidFill>
                  <a:latin typeface="Aptos" panose="020B0004020202020204" pitchFamily="34" charset="0"/>
                </a:rPr>
                <a:t>Axe des tâches (vertical)</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Axe du temps (horizontal)</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Barres représentant la durée</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Dépendances entre les tâches (enchaînement) </a:t>
              </a:r>
              <a:endParaRPr lang="en-US" sz="1600" b="1" dirty="0">
                <a:solidFill>
                  <a:schemeClr val="bg1"/>
                </a:solidFill>
                <a:latin typeface="Aptos" panose="020B0004020202020204" pitchFamily="34" charset="0"/>
              </a:endParaRPr>
            </a:p>
          </p:txBody>
        </p:sp>
        <p:sp>
          <p:nvSpPr>
            <p:cNvPr id="99" name="Rectangle 98">
              <a:extLst>
                <a:ext uri="{FF2B5EF4-FFF2-40B4-BE49-F238E27FC236}">
                  <a16:creationId xmlns:a16="http://schemas.microsoft.com/office/drawing/2014/main" id="{F048DED6-0970-A9FA-81C7-5787A1C4C19A}"/>
                </a:ext>
              </a:extLst>
            </p:cNvPr>
            <p:cNvSpPr/>
            <p:nvPr/>
          </p:nvSpPr>
          <p:spPr>
            <a:xfrm>
              <a:off x="2186977" y="366998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90EE6053-AA13-1074-798C-55805BA1012F}"/>
              </a:ext>
            </a:extLst>
          </p:cNvPr>
          <p:cNvGrpSpPr/>
          <p:nvPr/>
        </p:nvGrpSpPr>
        <p:grpSpPr>
          <a:xfrm>
            <a:off x="-4519190" y="0"/>
            <a:ext cx="2839948" cy="6858000"/>
            <a:chOff x="-127931" y="0"/>
            <a:chExt cx="2839948" cy="6858000"/>
          </a:xfrm>
        </p:grpSpPr>
        <p:grpSp>
          <p:nvGrpSpPr>
            <p:cNvPr id="103" name="Group 102">
              <a:extLst>
                <a:ext uri="{FF2B5EF4-FFF2-40B4-BE49-F238E27FC236}">
                  <a16:creationId xmlns:a16="http://schemas.microsoft.com/office/drawing/2014/main" id="{F492D0FA-FDF8-ADE8-233B-C33E9EC59987}"/>
                </a:ext>
              </a:extLst>
            </p:cNvPr>
            <p:cNvGrpSpPr/>
            <p:nvPr/>
          </p:nvGrpSpPr>
          <p:grpSpPr>
            <a:xfrm>
              <a:off x="-1" y="0"/>
              <a:ext cx="2712018" cy="6858000"/>
              <a:chOff x="-1" y="0"/>
              <a:chExt cx="2712018" cy="6858000"/>
            </a:xfrm>
          </p:grpSpPr>
          <p:sp>
            <p:nvSpPr>
              <p:cNvPr id="109" name="Rectangle 108">
                <a:extLst>
                  <a:ext uri="{FF2B5EF4-FFF2-40B4-BE49-F238E27FC236}">
                    <a16:creationId xmlns:a16="http://schemas.microsoft.com/office/drawing/2014/main" id="{F4E2163C-751F-1E44-3649-CDDA7AAC3EFC}"/>
                  </a:ext>
                </a:extLst>
              </p:cNvPr>
              <p:cNvSpPr/>
              <p:nvPr/>
            </p:nvSpPr>
            <p:spPr>
              <a:xfrm>
                <a:off x="-1" y="0"/>
                <a:ext cx="2052000" cy="68580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Isosceles Triangle 109">
                <a:extLst>
                  <a:ext uri="{FF2B5EF4-FFF2-40B4-BE49-F238E27FC236}">
                    <a16:creationId xmlns:a16="http://schemas.microsoft.com/office/drawing/2014/main" id="{B5D24D45-C997-6970-F101-D2345555165D}"/>
                  </a:ext>
                </a:extLst>
              </p:cNvPr>
              <p:cNvSpPr/>
              <p:nvPr/>
            </p:nvSpPr>
            <p:spPr>
              <a:xfrm rot="5400000">
                <a:off x="1621379" y="573157"/>
                <a:ext cx="1521257" cy="660018"/>
              </a:xfrm>
              <a:prstGeom prst="triangl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TextBox 103">
              <a:extLst>
                <a:ext uri="{FF2B5EF4-FFF2-40B4-BE49-F238E27FC236}">
                  <a16:creationId xmlns:a16="http://schemas.microsoft.com/office/drawing/2014/main" id="{F1F614C7-D402-5D11-DDBE-65C6C8EFC753}"/>
                </a:ext>
              </a:extLst>
            </p:cNvPr>
            <p:cNvSpPr txBox="1"/>
            <p:nvPr/>
          </p:nvSpPr>
          <p:spPr>
            <a:xfrm>
              <a:off x="771229" y="487666"/>
              <a:ext cx="509540" cy="830997"/>
            </a:xfrm>
            <a:prstGeom prst="rect">
              <a:avLst/>
            </a:prstGeom>
            <a:noFill/>
          </p:spPr>
          <p:txBody>
            <a:bodyPr wrap="square" rtlCol="0">
              <a:spAutoFit/>
            </a:bodyPr>
            <a:lstStyle/>
            <a:p>
              <a:r>
                <a:rPr lang="en-US" sz="4800" b="1" dirty="0">
                  <a:solidFill>
                    <a:schemeClr val="bg1"/>
                  </a:solidFill>
                  <a:latin typeface="Aptos" panose="020B0004020202020204" pitchFamily="34" charset="0"/>
                </a:rPr>
                <a:t>1</a:t>
              </a:r>
              <a:endParaRPr lang="en-US" sz="4000" b="1" dirty="0">
                <a:solidFill>
                  <a:schemeClr val="bg1"/>
                </a:solidFill>
                <a:latin typeface="Aptos" panose="020B0004020202020204" pitchFamily="34" charset="0"/>
              </a:endParaRPr>
            </a:p>
          </p:txBody>
        </p:sp>
        <p:sp>
          <p:nvSpPr>
            <p:cNvPr id="105" name="Rectangle 104">
              <a:extLst>
                <a:ext uri="{FF2B5EF4-FFF2-40B4-BE49-F238E27FC236}">
                  <a16:creationId xmlns:a16="http://schemas.microsoft.com/office/drawing/2014/main" id="{3F0A171C-F074-E90A-5DCE-CADA1E33A77F}"/>
                </a:ext>
              </a:extLst>
            </p:cNvPr>
            <p:cNvSpPr/>
            <p:nvPr/>
          </p:nvSpPr>
          <p:spPr>
            <a:xfrm>
              <a:off x="118872" y="1645921"/>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368746A5-40A2-974D-3691-1908AE9E57EF}"/>
                </a:ext>
              </a:extLst>
            </p:cNvPr>
            <p:cNvSpPr txBox="1"/>
            <p:nvPr/>
          </p:nvSpPr>
          <p:spPr>
            <a:xfrm>
              <a:off x="-127931" y="2173337"/>
              <a:ext cx="2295145" cy="1323439"/>
            </a:xfrm>
            <a:prstGeom prst="rect">
              <a:avLst/>
            </a:prstGeom>
            <a:noFill/>
          </p:spPr>
          <p:txBody>
            <a:bodyPr wrap="square" rtlCol="0">
              <a:spAutoFit/>
            </a:bodyPr>
            <a:lstStyle/>
            <a:p>
              <a:pPr algn="ctr"/>
              <a:r>
                <a:rPr lang="en-US" sz="2000" dirty="0">
                  <a:solidFill>
                    <a:schemeClr val="bg1"/>
                  </a:solidFill>
                  <a:latin typeface="Bahnschrift SemiBold" panose="020B0502040204020203" pitchFamily="34" charset="0"/>
                </a:rPr>
                <a:t>Origine et évolution de diagramme</a:t>
              </a:r>
              <a:r>
                <a:rPr lang="fr-FR" sz="2000" dirty="0">
                  <a:solidFill>
                    <a:schemeClr val="bg1"/>
                  </a:solidFill>
                  <a:latin typeface="Bahnschrift SemiBold" panose="020B0502040204020203" pitchFamily="34" charset="0"/>
                </a:rPr>
                <a:t> de Gantt</a:t>
              </a:r>
              <a:endParaRPr lang="en-US" sz="2000" dirty="0">
                <a:solidFill>
                  <a:schemeClr val="bg1"/>
                </a:solidFill>
                <a:latin typeface="Bahnschrift SemiBold" panose="020B0502040204020203" pitchFamily="34" charset="0"/>
              </a:endParaRPr>
            </a:p>
          </p:txBody>
        </p:sp>
        <p:sp>
          <p:nvSpPr>
            <p:cNvPr id="107" name="TextBox 106">
              <a:extLst>
                <a:ext uri="{FF2B5EF4-FFF2-40B4-BE49-F238E27FC236}">
                  <a16:creationId xmlns:a16="http://schemas.microsoft.com/office/drawing/2014/main" id="{32EABC26-E9DF-FDE4-7C20-3D8FF07026C4}"/>
                </a:ext>
              </a:extLst>
            </p:cNvPr>
            <p:cNvSpPr txBox="1"/>
            <p:nvPr/>
          </p:nvSpPr>
          <p:spPr>
            <a:xfrm>
              <a:off x="-27432" y="4325112"/>
              <a:ext cx="2295145" cy="2062103"/>
            </a:xfrm>
            <a:prstGeom prst="rect">
              <a:avLst/>
            </a:prstGeom>
            <a:noFill/>
          </p:spPr>
          <p:txBody>
            <a:bodyPr wrap="square" rtlCol="0">
              <a:spAutoFit/>
            </a:bodyPr>
            <a:lstStyle/>
            <a:p>
              <a:r>
                <a:rPr lang="fr-FR" sz="1600" b="1" dirty="0">
                  <a:solidFill>
                    <a:schemeClr val="bg1"/>
                  </a:solidFill>
                  <a:latin typeface="Aptos" panose="020B0004020202020204" pitchFamily="34" charset="0"/>
                </a:rPr>
                <a:t>Définition du diagramme de Gantt</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Henry Gantt et création du concept</a:t>
              </a:r>
            </a:p>
            <a:p>
              <a:endParaRPr lang="en-US" sz="1600" b="1" dirty="0">
                <a:solidFill>
                  <a:schemeClr val="bg1"/>
                </a:solidFill>
                <a:latin typeface="Aptos" panose="020B0004020202020204" pitchFamily="34" charset="0"/>
              </a:endParaRPr>
            </a:p>
            <a:p>
              <a:r>
                <a:rPr lang="fr-FR" sz="1600" b="1" dirty="0">
                  <a:solidFill>
                    <a:schemeClr val="bg1"/>
                  </a:solidFill>
                  <a:latin typeface="Aptos" panose="020B0004020202020204" pitchFamily="34" charset="0"/>
                </a:rPr>
                <a:t>Évolution avec les outils numériques</a:t>
              </a:r>
              <a:endParaRPr lang="en-US" dirty="0"/>
            </a:p>
          </p:txBody>
        </p:sp>
        <p:sp>
          <p:nvSpPr>
            <p:cNvPr id="108" name="Rectangle 107">
              <a:extLst>
                <a:ext uri="{FF2B5EF4-FFF2-40B4-BE49-F238E27FC236}">
                  <a16:creationId xmlns:a16="http://schemas.microsoft.com/office/drawing/2014/main" id="{E3CA327B-AD0A-646D-8ADC-0E6E611E1D1C}"/>
                </a:ext>
              </a:extLst>
            </p:cNvPr>
            <p:cNvSpPr/>
            <p:nvPr/>
          </p:nvSpPr>
          <p:spPr>
            <a:xfrm>
              <a:off x="118872" y="3669980"/>
              <a:ext cx="180154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1EA4106B-CD20-1FC6-3E28-2EE40D3D5DD8}"/>
              </a:ext>
            </a:extLst>
          </p:cNvPr>
          <p:cNvSpPr txBox="1"/>
          <p:nvPr/>
        </p:nvSpPr>
        <p:spPr>
          <a:xfrm>
            <a:off x="7002344" y="2236669"/>
            <a:ext cx="4139506" cy="3139321"/>
          </a:xfrm>
          <a:prstGeom prst="rect">
            <a:avLst/>
          </a:prstGeom>
          <a:noFill/>
        </p:spPr>
        <p:txBody>
          <a:bodyPr wrap="square" rtlCol="0">
            <a:spAutoFit/>
          </a:bodyPr>
          <a:lstStyle/>
          <a:p>
            <a:r>
              <a:rPr lang="fr-FR" dirty="0">
                <a:latin typeface="Bahnschrift SemiBold" panose="020B0502040204020203" pitchFamily="34" charset="0"/>
              </a:rPr>
              <a:t>Le système Agadir Tsunami-</a:t>
            </a:r>
            <a:r>
              <a:rPr lang="fr-FR" dirty="0" err="1">
                <a:latin typeface="Bahnschrift SemiBold" panose="020B0502040204020203" pitchFamily="34" charset="0"/>
              </a:rPr>
              <a:t>Ready</a:t>
            </a:r>
            <a:r>
              <a:rPr lang="fr-FR" dirty="0">
                <a:latin typeface="Bahnschrift SemiBold" panose="020B0502040204020203" pitchFamily="34" charset="0"/>
              </a:rPr>
              <a:t> est un système d'information critique conçu pour la région Souss-Massa. </a:t>
            </a:r>
          </a:p>
          <a:p>
            <a:endParaRPr lang="fr-FR" dirty="0">
              <a:latin typeface="Bahnschrift SemiBold" panose="020B0502040204020203" pitchFamily="34" charset="0"/>
            </a:endParaRPr>
          </a:p>
          <a:p>
            <a:r>
              <a:rPr lang="fr-FR" dirty="0">
                <a:latin typeface="Bahnschrift SemiBold" panose="020B0502040204020203" pitchFamily="34" charset="0"/>
              </a:rPr>
              <a:t>Il assure la gestion des routes d'évacuation côtières et le déclenchement automatique des sirènes d'alerte en cas de détection d'un séisme marin de magnitude supérieure ou égale à 6,5 sur l'échelle de Richter</a:t>
            </a:r>
            <a:endParaRPr lang="en-US" dirty="0">
              <a:latin typeface="Bahnschrift SemiBold" panose="020B0502040204020203" pitchFamily="34" charset="0"/>
            </a:endParaRPr>
          </a:p>
        </p:txBody>
      </p:sp>
      <p:sp>
        <p:nvSpPr>
          <p:cNvPr id="10" name="Rectangle: Rounded Corners 9">
            <a:extLst>
              <a:ext uri="{FF2B5EF4-FFF2-40B4-BE49-F238E27FC236}">
                <a16:creationId xmlns:a16="http://schemas.microsoft.com/office/drawing/2014/main" id="{16BA1DFD-C2A1-7B1B-3595-A0AE03EAC8A8}"/>
              </a:ext>
            </a:extLst>
          </p:cNvPr>
          <p:cNvSpPr/>
          <p:nvPr/>
        </p:nvSpPr>
        <p:spPr>
          <a:xfrm>
            <a:off x="383411" y="1318663"/>
            <a:ext cx="4490341" cy="5291488"/>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9AB9CE5-EFB5-C4DB-B012-C4543BB4F33D}"/>
              </a:ext>
            </a:extLst>
          </p:cNvPr>
          <p:cNvSpPr txBox="1"/>
          <p:nvPr/>
        </p:nvSpPr>
        <p:spPr>
          <a:xfrm>
            <a:off x="14072257" y="2695859"/>
            <a:ext cx="4576573" cy="1754326"/>
          </a:xfrm>
          <a:prstGeom prst="rect">
            <a:avLst/>
          </a:prstGeom>
          <a:noFill/>
        </p:spPr>
        <p:txBody>
          <a:bodyPr wrap="square" rtlCol="0">
            <a:spAutoFit/>
          </a:bodyPr>
          <a:lstStyle/>
          <a:p>
            <a:pPr algn="ctr"/>
            <a:r>
              <a:rPr lang="fr-FR" sz="5400" b="1" dirty="0">
                <a:latin typeface="Rockwell" panose="02060603020205020403" pitchFamily="18" charset="0"/>
                <a:cs typeface="Times New Roman" panose="02020603050405020304" pitchFamily="18" charset="0"/>
              </a:rPr>
              <a:t>Objectif de projet</a:t>
            </a:r>
          </a:p>
        </p:txBody>
      </p:sp>
      <p:sp>
        <p:nvSpPr>
          <p:cNvPr id="8" name="TextBox 7">
            <a:extLst>
              <a:ext uri="{FF2B5EF4-FFF2-40B4-BE49-F238E27FC236}">
                <a16:creationId xmlns:a16="http://schemas.microsoft.com/office/drawing/2014/main" id="{F7E21369-3CC9-D5D1-DF79-92E00E4BCAAC}"/>
              </a:ext>
            </a:extLst>
          </p:cNvPr>
          <p:cNvSpPr txBox="1"/>
          <p:nvPr/>
        </p:nvSpPr>
        <p:spPr>
          <a:xfrm>
            <a:off x="3986231" y="36649"/>
            <a:ext cx="4219537" cy="646331"/>
          </a:xfrm>
          <a:prstGeom prst="rect">
            <a:avLst/>
          </a:prstGeom>
          <a:noFill/>
        </p:spPr>
        <p:txBody>
          <a:bodyPr wrap="square" rtlCol="0">
            <a:spAutoFit/>
          </a:bodyPr>
          <a:lstStyle/>
          <a:p>
            <a:r>
              <a:rPr lang="en-US" sz="3600" b="1" dirty="0">
                <a:latin typeface="Cooper Black" panose="0208090404030B0204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1CBE3DB0-90C8-F50A-7F65-979D961FBF26}"/>
              </a:ext>
            </a:extLst>
          </p:cNvPr>
          <p:cNvSpPr txBox="1"/>
          <p:nvPr/>
        </p:nvSpPr>
        <p:spPr>
          <a:xfrm>
            <a:off x="4121737" y="7241846"/>
            <a:ext cx="4490341" cy="646331"/>
          </a:xfrm>
          <a:prstGeom prst="rect">
            <a:avLst/>
          </a:prstGeom>
          <a:noFill/>
        </p:spPr>
        <p:txBody>
          <a:bodyPr wrap="square" rtlCol="0">
            <a:spAutoFit/>
          </a:bodyPr>
          <a:lstStyle/>
          <a:p>
            <a:r>
              <a:rPr lang="fr-FR" sz="3600" b="1" dirty="0">
                <a:latin typeface="Rockwell" panose="02060603020205020403" pitchFamily="18" charset="0"/>
              </a:rPr>
              <a:t>Structure de projet</a:t>
            </a:r>
          </a:p>
        </p:txBody>
      </p:sp>
      <p:pic>
        <p:nvPicPr>
          <p:cNvPr id="19" name="Picture 18">
            <a:extLst>
              <a:ext uri="{FF2B5EF4-FFF2-40B4-BE49-F238E27FC236}">
                <a16:creationId xmlns:a16="http://schemas.microsoft.com/office/drawing/2014/main" id="{50F84D46-6C9C-7E0E-FE7A-20DBD93808DC}"/>
              </a:ext>
            </a:extLst>
          </p:cNvPr>
          <p:cNvPicPr>
            <a:picLocks noChangeAspect="1"/>
          </p:cNvPicPr>
          <p:nvPr/>
        </p:nvPicPr>
        <p:blipFill>
          <a:blip r:embed="rId4"/>
          <a:stretch>
            <a:fillRect/>
          </a:stretch>
        </p:blipFill>
        <p:spPr>
          <a:xfrm rot="20778412">
            <a:off x="3598878" y="6937891"/>
            <a:ext cx="567966" cy="567966"/>
          </a:xfrm>
          <a:prstGeom prst="rect">
            <a:avLst/>
          </a:prstGeom>
        </p:spPr>
      </p:pic>
      <p:sp>
        <p:nvSpPr>
          <p:cNvPr id="16" name="Rectangle: Rounded Corners 22">
            <a:extLst>
              <a:ext uri="{FF2B5EF4-FFF2-40B4-BE49-F238E27FC236}">
                <a16:creationId xmlns:a16="http://schemas.microsoft.com/office/drawing/2014/main" id="{435635C3-1A67-AFAD-5156-CED2018362D1}"/>
              </a:ext>
            </a:extLst>
          </p:cNvPr>
          <p:cNvSpPr/>
          <p:nvPr/>
        </p:nvSpPr>
        <p:spPr>
          <a:xfrm>
            <a:off x="13826128" y="5656522"/>
            <a:ext cx="11588956" cy="64633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Oval 23">
            <a:extLst>
              <a:ext uri="{FF2B5EF4-FFF2-40B4-BE49-F238E27FC236}">
                <a16:creationId xmlns:a16="http://schemas.microsoft.com/office/drawing/2014/main" id="{7916B138-53DA-92E1-3701-20CAB960F838}"/>
              </a:ext>
            </a:extLst>
          </p:cNvPr>
          <p:cNvSpPr/>
          <p:nvPr/>
        </p:nvSpPr>
        <p:spPr>
          <a:xfrm>
            <a:off x="14692393" y="5585716"/>
            <a:ext cx="1329639" cy="787941"/>
          </a:xfrm>
          <a:prstGeom prst="ellipse">
            <a:avLst/>
          </a:prstGeom>
          <a:solidFill>
            <a:srgbClr val="8FAAD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ectangle: Rounded Corners 1">
            <a:extLst>
              <a:ext uri="{FF2B5EF4-FFF2-40B4-BE49-F238E27FC236}">
                <a16:creationId xmlns:a16="http://schemas.microsoft.com/office/drawing/2014/main" id="{A634860B-C2DE-F3C2-B5D0-A876B491BE78}"/>
              </a:ext>
            </a:extLst>
          </p:cNvPr>
          <p:cNvSpPr/>
          <p:nvPr/>
        </p:nvSpPr>
        <p:spPr>
          <a:xfrm>
            <a:off x="-12797781" y="1717158"/>
            <a:ext cx="3062177" cy="342368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Rectangle: Rounded Corners 2">
            <a:extLst>
              <a:ext uri="{FF2B5EF4-FFF2-40B4-BE49-F238E27FC236}">
                <a16:creationId xmlns:a16="http://schemas.microsoft.com/office/drawing/2014/main" id="{13F4F543-9DBB-6301-6DA0-CF40575022FB}"/>
              </a:ext>
            </a:extLst>
          </p:cNvPr>
          <p:cNvSpPr/>
          <p:nvPr/>
        </p:nvSpPr>
        <p:spPr>
          <a:xfrm>
            <a:off x="-8534392" y="1717158"/>
            <a:ext cx="3062177" cy="3423683"/>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Rectangle: Rounded Corners 3">
            <a:extLst>
              <a:ext uri="{FF2B5EF4-FFF2-40B4-BE49-F238E27FC236}">
                <a16:creationId xmlns:a16="http://schemas.microsoft.com/office/drawing/2014/main" id="{246A975A-03A5-FF18-C270-8A873DE5181E}"/>
              </a:ext>
            </a:extLst>
          </p:cNvPr>
          <p:cNvSpPr/>
          <p:nvPr/>
        </p:nvSpPr>
        <p:spPr>
          <a:xfrm>
            <a:off x="-4271002" y="1717158"/>
            <a:ext cx="3062177" cy="3423683"/>
          </a:xfrm>
          <a:prstGeom prst="round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 1">
            <a:extLst>
              <a:ext uri="{FF2B5EF4-FFF2-40B4-BE49-F238E27FC236}">
                <a16:creationId xmlns:a16="http://schemas.microsoft.com/office/drawing/2014/main" id="{212A8B47-FAB0-6571-5F8E-C392AD0883DB}"/>
              </a:ext>
            </a:extLst>
          </p:cNvPr>
          <p:cNvSpPr/>
          <p:nvPr/>
        </p:nvSpPr>
        <p:spPr>
          <a:xfrm>
            <a:off x="-12376043" y="2062578"/>
            <a:ext cx="2316954"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Modèle de Menaces</a:t>
            </a:r>
            <a:r>
              <a:rPr lang="en-US" sz="2000" dirty="0">
                <a:latin typeface="Bahnschrift SemiBold" panose="020B0502040204020203" pitchFamily="34" charset="0"/>
                <a:ea typeface="IBM Plex Sans Medium" pitchFamily="34" charset="-122"/>
                <a:cs typeface="IBM Plex Sans Medium" pitchFamily="34" charset="-120"/>
              </a:rPr>
              <a:t> </a:t>
            </a:r>
            <a:endParaRPr lang="en-US" sz="2000" dirty="0">
              <a:latin typeface="Bahnschrift SemiBold" panose="020B0502040204020203" pitchFamily="34" charset="0"/>
            </a:endParaRPr>
          </a:p>
        </p:txBody>
      </p:sp>
      <p:sp>
        <p:nvSpPr>
          <p:cNvPr id="36" name="TextBox 8">
            <a:extLst>
              <a:ext uri="{FF2B5EF4-FFF2-40B4-BE49-F238E27FC236}">
                <a16:creationId xmlns:a16="http://schemas.microsoft.com/office/drawing/2014/main" id="{AE8F6861-51F8-E548-FAF0-949D6BB85796}"/>
              </a:ext>
            </a:extLst>
          </p:cNvPr>
          <p:cNvSpPr txBox="1"/>
          <p:nvPr/>
        </p:nvSpPr>
        <p:spPr>
          <a:xfrm>
            <a:off x="-12347131" y="2780251"/>
            <a:ext cx="2160873"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 système fait face à des menaces externes et internes visant à manipuler les alertes ou accéder à des données sensibles.</a:t>
            </a:r>
            <a:endParaRPr lang="en-US" sz="1400" dirty="0">
              <a:latin typeface="Bahnschrift SemiBold" panose="020B0502040204020203" pitchFamily="34" charset="0"/>
            </a:endParaRPr>
          </a:p>
        </p:txBody>
      </p:sp>
      <p:sp>
        <p:nvSpPr>
          <p:cNvPr id="37" name="Text 1">
            <a:extLst>
              <a:ext uri="{FF2B5EF4-FFF2-40B4-BE49-F238E27FC236}">
                <a16:creationId xmlns:a16="http://schemas.microsoft.com/office/drawing/2014/main" id="{13B76117-64F6-6967-C42D-664ADAF4EA52}"/>
              </a:ext>
            </a:extLst>
          </p:cNvPr>
          <p:cNvSpPr/>
          <p:nvPr/>
        </p:nvSpPr>
        <p:spPr>
          <a:xfrm>
            <a:off x="-8006213" y="2062578"/>
            <a:ext cx="2005820"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Surface d’Attaque </a:t>
            </a:r>
            <a:endParaRPr lang="en-US" sz="2000" dirty="0">
              <a:latin typeface="Bahnschrift SemiBold" panose="020B0502040204020203" pitchFamily="34" charset="0"/>
            </a:endParaRPr>
          </a:p>
        </p:txBody>
      </p:sp>
      <p:sp>
        <p:nvSpPr>
          <p:cNvPr id="38" name="TextBox 18">
            <a:extLst>
              <a:ext uri="{FF2B5EF4-FFF2-40B4-BE49-F238E27FC236}">
                <a16:creationId xmlns:a16="http://schemas.microsoft.com/office/drawing/2014/main" id="{DF45D366-5340-CFDF-061E-AE8D7F0657BD}"/>
              </a:ext>
            </a:extLst>
          </p:cNvPr>
          <p:cNvSpPr txBox="1"/>
          <p:nvPr/>
        </p:nvSpPr>
        <p:spPr>
          <a:xfrm>
            <a:off x="-8534392" y="2826267"/>
            <a:ext cx="3062177"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L’API REST et le dashboard exposés, ainsi que la base de données, les capteurs et les sirènes, constituent des points critiques à haut risque en cas de compromission interne ou externe.</a:t>
            </a:r>
            <a:endParaRPr lang="en-US" sz="1400" dirty="0">
              <a:latin typeface="Bahnschrift SemiBold" panose="020B0502040204020203" pitchFamily="34" charset="0"/>
            </a:endParaRPr>
          </a:p>
        </p:txBody>
      </p:sp>
      <p:sp>
        <p:nvSpPr>
          <p:cNvPr id="43" name="Text 1">
            <a:extLst>
              <a:ext uri="{FF2B5EF4-FFF2-40B4-BE49-F238E27FC236}">
                <a16:creationId xmlns:a16="http://schemas.microsoft.com/office/drawing/2014/main" id="{814B0FAC-5847-CF2A-8ABF-BCE838E24E6C}"/>
              </a:ext>
            </a:extLst>
          </p:cNvPr>
          <p:cNvSpPr/>
          <p:nvPr/>
        </p:nvSpPr>
        <p:spPr>
          <a:xfrm>
            <a:off x="-3740249" y="2055931"/>
            <a:ext cx="2000665" cy="280359"/>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Méthode DREAD</a:t>
            </a:r>
            <a:endParaRPr lang="en-US" sz="2000" dirty="0">
              <a:latin typeface="Bahnschrift SemiBold" panose="020B0502040204020203" pitchFamily="34" charset="0"/>
            </a:endParaRPr>
          </a:p>
        </p:txBody>
      </p:sp>
      <p:sp>
        <p:nvSpPr>
          <p:cNvPr id="44" name="TextBox 21">
            <a:extLst>
              <a:ext uri="{FF2B5EF4-FFF2-40B4-BE49-F238E27FC236}">
                <a16:creationId xmlns:a16="http://schemas.microsoft.com/office/drawing/2014/main" id="{D99FDA02-CF4A-55E8-0B26-08DC28E7120F}"/>
              </a:ext>
            </a:extLst>
          </p:cNvPr>
          <p:cNvSpPr txBox="1"/>
          <p:nvPr/>
        </p:nvSpPr>
        <p:spPr>
          <a:xfrm>
            <a:off x="-4271003" y="2703297"/>
            <a:ext cx="3062174" cy="2308324"/>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Les risques les plus élevés sont la falsification des alertes et les injections SQL (8.4), suivis des attaques par déni de service (8.2), puis de l’accès non autorisé, de l’injection de données capteurs (7.2–7.0) et des attaques Man-in-the-Middle (6.8).</a:t>
            </a:r>
          </a:p>
        </p:txBody>
      </p:sp>
    </p:spTree>
    <p:extLst>
      <p:ext uri="{BB962C8B-B14F-4D97-AF65-F5344CB8AC3E}">
        <p14:creationId xmlns:p14="http://schemas.microsoft.com/office/powerpoint/2010/main" val="109508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782DF20-EA77-8CA8-6B7C-6E823827C73A}"/>
              </a:ext>
            </a:extLst>
          </p:cNvPr>
          <p:cNvSpPr txBox="1"/>
          <p:nvPr/>
        </p:nvSpPr>
        <p:spPr>
          <a:xfrm>
            <a:off x="1832610" y="-742450"/>
            <a:ext cx="8526780" cy="646331"/>
          </a:xfrm>
          <a:prstGeom prst="rect">
            <a:avLst/>
          </a:prstGeom>
          <a:noFill/>
        </p:spPr>
        <p:txBody>
          <a:bodyPr wrap="square">
            <a:spAutoFit/>
          </a:bodyPr>
          <a:lstStyle/>
          <a:p>
            <a:r>
              <a:rPr lang="en-US" sz="3600" dirty="0">
                <a:latin typeface="Cooper Black" panose="0208090404030B020404" pitchFamily="18" charset="0"/>
              </a:rPr>
              <a:t>Structure d’un </a:t>
            </a:r>
            <a:r>
              <a:rPr lang="en-US" sz="3600" dirty="0" err="1">
                <a:latin typeface="Cooper Black" panose="0208090404030B020404" pitchFamily="18" charset="0"/>
              </a:rPr>
              <a:t>diagramme</a:t>
            </a:r>
            <a:r>
              <a:rPr lang="en-US" sz="3600" dirty="0">
                <a:latin typeface="Cooper Black" panose="0208090404030B020404" pitchFamily="18" charset="0"/>
              </a:rPr>
              <a:t> de Gantt</a:t>
            </a:r>
          </a:p>
        </p:txBody>
      </p:sp>
      <p:sp>
        <p:nvSpPr>
          <p:cNvPr id="2" name="TextBox 1">
            <a:extLst>
              <a:ext uri="{FF2B5EF4-FFF2-40B4-BE49-F238E27FC236}">
                <a16:creationId xmlns:a16="http://schemas.microsoft.com/office/drawing/2014/main" id="{F010EE5D-9BAE-46B0-270F-A9507C3233D6}"/>
              </a:ext>
            </a:extLst>
          </p:cNvPr>
          <p:cNvSpPr txBox="1"/>
          <p:nvPr/>
        </p:nvSpPr>
        <p:spPr>
          <a:xfrm>
            <a:off x="3248669" y="35566"/>
            <a:ext cx="5923313" cy="646331"/>
          </a:xfrm>
          <a:prstGeom prst="rect">
            <a:avLst/>
          </a:prstGeom>
          <a:noFill/>
        </p:spPr>
        <p:txBody>
          <a:bodyPr wrap="square" rtlCol="0">
            <a:spAutoFit/>
          </a:bodyPr>
          <a:lstStyle/>
          <a:p>
            <a:r>
              <a:rPr lang="en-US" sz="3600" b="1" dirty="0">
                <a:latin typeface="Cooper Black" panose="0208090404030B020404" pitchFamily="18" charset="0"/>
                <a:cs typeface="Times New Roman" panose="02020603050405020304" pitchFamily="18" charset="0"/>
              </a:rPr>
              <a:t>ANALYSE DES RISQUES </a:t>
            </a:r>
          </a:p>
        </p:txBody>
      </p:sp>
      <p:sp>
        <p:nvSpPr>
          <p:cNvPr id="8" name="Rectangle: Rounded Corners 7">
            <a:extLst>
              <a:ext uri="{FF2B5EF4-FFF2-40B4-BE49-F238E27FC236}">
                <a16:creationId xmlns:a16="http://schemas.microsoft.com/office/drawing/2014/main" id="{FF053385-4DF0-0CF4-C952-AF3FAD27E2EC}"/>
              </a:ext>
            </a:extLst>
          </p:cNvPr>
          <p:cNvSpPr/>
          <p:nvPr/>
        </p:nvSpPr>
        <p:spPr>
          <a:xfrm>
            <a:off x="301522" y="1717158"/>
            <a:ext cx="3062177" cy="3423683"/>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Rounded Corners 9">
            <a:extLst>
              <a:ext uri="{FF2B5EF4-FFF2-40B4-BE49-F238E27FC236}">
                <a16:creationId xmlns:a16="http://schemas.microsoft.com/office/drawing/2014/main" id="{5E244BD0-022E-56A1-FBCB-69DA28F7D1C9}"/>
              </a:ext>
            </a:extLst>
          </p:cNvPr>
          <p:cNvSpPr/>
          <p:nvPr/>
        </p:nvSpPr>
        <p:spPr>
          <a:xfrm>
            <a:off x="4564911" y="1717158"/>
            <a:ext cx="3062177" cy="3423683"/>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Rounded Corners 10">
            <a:extLst>
              <a:ext uri="{FF2B5EF4-FFF2-40B4-BE49-F238E27FC236}">
                <a16:creationId xmlns:a16="http://schemas.microsoft.com/office/drawing/2014/main" id="{F1EF8687-5F9F-E84E-9E14-49A73C1F1DEE}"/>
              </a:ext>
            </a:extLst>
          </p:cNvPr>
          <p:cNvSpPr/>
          <p:nvPr/>
        </p:nvSpPr>
        <p:spPr>
          <a:xfrm>
            <a:off x="8828301" y="1717158"/>
            <a:ext cx="3062177" cy="3423683"/>
          </a:xfrm>
          <a:prstGeom prst="round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Rounded Corners 11">
            <a:extLst>
              <a:ext uri="{FF2B5EF4-FFF2-40B4-BE49-F238E27FC236}">
                <a16:creationId xmlns:a16="http://schemas.microsoft.com/office/drawing/2014/main" id="{8F1B89DC-3BF6-9809-881D-E022FF6DE701}"/>
              </a:ext>
            </a:extLst>
          </p:cNvPr>
          <p:cNvSpPr/>
          <p:nvPr/>
        </p:nvSpPr>
        <p:spPr>
          <a:xfrm>
            <a:off x="301523" y="5656522"/>
            <a:ext cx="11588956" cy="64633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920B827A-99B8-25AC-A683-2D2EFC8B634A}"/>
              </a:ext>
            </a:extLst>
          </p:cNvPr>
          <p:cNvSpPr/>
          <p:nvPr/>
        </p:nvSpPr>
        <p:spPr>
          <a:xfrm>
            <a:off x="1167788" y="5585716"/>
            <a:ext cx="1329639" cy="787941"/>
          </a:xfrm>
          <a:prstGeom prst="ellipse">
            <a:avLst/>
          </a:prstGeom>
          <a:solidFill>
            <a:srgbClr val="8FAAD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7" name="Straight Connector 16">
            <a:extLst>
              <a:ext uri="{FF2B5EF4-FFF2-40B4-BE49-F238E27FC236}">
                <a16:creationId xmlns:a16="http://schemas.microsoft.com/office/drawing/2014/main" id="{A9B30780-BF86-0AE2-A2F0-4D1D622B71F8}"/>
              </a:ext>
            </a:extLst>
          </p:cNvPr>
          <p:cNvCxnSpPr/>
          <p:nvPr/>
        </p:nvCxnSpPr>
        <p:spPr>
          <a:xfrm>
            <a:off x="433362"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 1">
            <a:extLst>
              <a:ext uri="{FF2B5EF4-FFF2-40B4-BE49-F238E27FC236}">
                <a16:creationId xmlns:a16="http://schemas.microsoft.com/office/drawing/2014/main" id="{04D85DE5-C70D-6598-104B-D85BE92373C1}"/>
              </a:ext>
            </a:extLst>
          </p:cNvPr>
          <p:cNvSpPr/>
          <p:nvPr/>
        </p:nvSpPr>
        <p:spPr>
          <a:xfrm>
            <a:off x="723260" y="2062578"/>
            <a:ext cx="2316954"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Modèle de Menaces</a:t>
            </a:r>
            <a:r>
              <a:rPr lang="en-US" sz="2000" dirty="0">
                <a:latin typeface="Bahnschrift SemiBold" panose="020B0502040204020203" pitchFamily="34" charset="0"/>
                <a:ea typeface="IBM Plex Sans Medium" pitchFamily="34" charset="-122"/>
                <a:cs typeface="IBM Plex Sans Medium" pitchFamily="34" charset="-120"/>
              </a:rPr>
              <a:t> </a:t>
            </a:r>
            <a:endParaRPr lang="en-US" sz="2000" dirty="0">
              <a:latin typeface="Bahnschrift SemiBold" panose="020B0502040204020203" pitchFamily="34" charset="0"/>
            </a:endParaRPr>
          </a:p>
        </p:txBody>
      </p:sp>
      <p:sp>
        <p:nvSpPr>
          <p:cNvPr id="21" name="TextBox 20">
            <a:extLst>
              <a:ext uri="{FF2B5EF4-FFF2-40B4-BE49-F238E27FC236}">
                <a16:creationId xmlns:a16="http://schemas.microsoft.com/office/drawing/2014/main" id="{EA05738D-82B7-05FF-4335-9C59FF770F80}"/>
              </a:ext>
            </a:extLst>
          </p:cNvPr>
          <p:cNvSpPr txBox="1"/>
          <p:nvPr/>
        </p:nvSpPr>
        <p:spPr>
          <a:xfrm>
            <a:off x="752172" y="2780251"/>
            <a:ext cx="2160873"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 système fait face à des menaces externes et internes visant à manipuler les alertes ou accéder à des données sensibles.</a:t>
            </a:r>
            <a:endParaRPr lang="en-US" sz="1400" dirty="0">
              <a:latin typeface="Bahnschrift SemiBold" panose="020B0502040204020203" pitchFamily="34" charset="0"/>
            </a:endParaRPr>
          </a:p>
        </p:txBody>
      </p:sp>
      <p:cxnSp>
        <p:nvCxnSpPr>
          <p:cNvPr id="22" name="Straight Connector 21">
            <a:extLst>
              <a:ext uri="{FF2B5EF4-FFF2-40B4-BE49-F238E27FC236}">
                <a16:creationId xmlns:a16="http://schemas.microsoft.com/office/drawing/2014/main" id="{81E4E180-37CA-BDE8-64DC-A0091D6AD500}"/>
              </a:ext>
            </a:extLst>
          </p:cNvPr>
          <p:cNvCxnSpPr/>
          <p:nvPr/>
        </p:nvCxnSpPr>
        <p:spPr>
          <a:xfrm>
            <a:off x="4696753"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 1">
            <a:extLst>
              <a:ext uri="{FF2B5EF4-FFF2-40B4-BE49-F238E27FC236}">
                <a16:creationId xmlns:a16="http://schemas.microsoft.com/office/drawing/2014/main" id="{CEFF65DA-B6C8-C248-41A6-D560E010F3F3}"/>
              </a:ext>
            </a:extLst>
          </p:cNvPr>
          <p:cNvSpPr/>
          <p:nvPr/>
        </p:nvSpPr>
        <p:spPr>
          <a:xfrm>
            <a:off x="5093090" y="2062578"/>
            <a:ext cx="2005820"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Surface d’Attaque </a:t>
            </a:r>
            <a:endParaRPr lang="en-US" sz="2000" dirty="0">
              <a:latin typeface="Bahnschrift SemiBold" panose="020B0502040204020203" pitchFamily="34" charset="0"/>
            </a:endParaRPr>
          </a:p>
        </p:txBody>
      </p:sp>
      <p:sp>
        <p:nvSpPr>
          <p:cNvPr id="25" name="TextBox 24">
            <a:extLst>
              <a:ext uri="{FF2B5EF4-FFF2-40B4-BE49-F238E27FC236}">
                <a16:creationId xmlns:a16="http://schemas.microsoft.com/office/drawing/2014/main" id="{A866B3BE-3A5A-FEA5-2B62-036986C08071}"/>
              </a:ext>
            </a:extLst>
          </p:cNvPr>
          <p:cNvSpPr txBox="1"/>
          <p:nvPr/>
        </p:nvSpPr>
        <p:spPr>
          <a:xfrm>
            <a:off x="4564911" y="2826267"/>
            <a:ext cx="3062177"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L’API REST et le dashboard exposés, ainsi que la base de données, les capteurs et les sirènes, constituent des points critiques à haut risque en cas de compromission interne ou externe.</a:t>
            </a:r>
            <a:endParaRPr lang="en-US" sz="1400" dirty="0">
              <a:latin typeface="Bahnschrift SemiBold" panose="020B0502040204020203" pitchFamily="34" charset="0"/>
            </a:endParaRPr>
          </a:p>
        </p:txBody>
      </p:sp>
      <p:cxnSp>
        <p:nvCxnSpPr>
          <p:cNvPr id="29" name="Straight Connector 28">
            <a:extLst>
              <a:ext uri="{FF2B5EF4-FFF2-40B4-BE49-F238E27FC236}">
                <a16:creationId xmlns:a16="http://schemas.microsoft.com/office/drawing/2014/main" id="{DF64EF63-79FA-E2BF-3D13-2FFEBE7940A9}"/>
              </a:ext>
            </a:extLst>
          </p:cNvPr>
          <p:cNvCxnSpPr/>
          <p:nvPr/>
        </p:nvCxnSpPr>
        <p:spPr>
          <a:xfrm>
            <a:off x="8960143"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 1">
            <a:extLst>
              <a:ext uri="{FF2B5EF4-FFF2-40B4-BE49-F238E27FC236}">
                <a16:creationId xmlns:a16="http://schemas.microsoft.com/office/drawing/2014/main" id="{DAA8C902-C25B-6C52-F1D2-8557BB692BB3}"/>
              </a:ext>
            </a:extLst>
          </p:cNvPr>
          <p:cNvSpPr/>
          <p:nvPr/>
        </p:nvSpPr>
        <p:spPr>
          <a:xfrm>
            <a:off x="9359054" y="2055931"/>
            <a:ext cx="2000665" cy="280359"/>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Méthode DREAD</a:t>
            </a:r>
            <a:endParaRPr lang="en-US" sz="2000" dirty="0">
              <a:latin typeface="Bahnschrift SemiBold" panose="020B0502040204020203" pitchFamily="34" charset="0"/>
            </a:endParaRPr>
          </a:p>
        </p:txBody>
      </p:sp>
      <p:sp>
        <p:nvSpPr>
          <p:cNvPr id="31" name="TextBox 30">
            <a:extLst>
              <a:ext uri="{FF2B5EF4-FFF2-40B4-BE49-F238E27FC236}">
                <a16:creationId xmlns:a16="http://schemas.microsoft.com/office/drawing/2014/main" id="{7975CEC2-358E-4B1B-A3B1-98775D6724C3}"/>
              </a:ext>
            </a:extLst>
          </p:cNvPr>
          <p:cNvSpPr txBox="1"/>
          <p:nvPr/>
        </p:nvSpPr>
        <p:spPr>
          <a:xfrm>
            <a:off x="8828300" y="2703297"/>
            <a:ext cx="3062174" cy="2308324"/>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Les risques les plus élevés sont la falsification des alertes et les injections SQL (8.4), suivis des attaques par déni de service (8.2), puis de l’accès non autorisé, de l’injection de données capteurs (7.2–7.0) et des attaques Man-in-the-Middle (6.8).</a:t>
            </a:r>
          </a:p>
        </p:txBody>
      </p:sp>
      <p:sp>
        <p:nvSpPr>
          <p:cNvPr id="3" name="Image 9">
            <a:extLst>
              <a:ext uri="{FF2B5EF4-FFF2-40B4-BE49-F238E27FC236}">
                <a16:creationId xmlns:a16="http://schemas.microsoft.com/office/drawing/2014/main" id="{DCBD5086-D52F-C35A-9A93-42AB4DD9F85A}"/>
              </a:ext>
            </a:extLst>
          </p:cNvPr>
          <p:cNvSpPr/>
          <p:nvPr/>
        </p:nvSpPr>
        <p:spPr>
          <a:xfrm>
            <a:off x="17830163" y="1318663"/>
            <a:ext cx="4490341" cy="5291488"/>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6983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45A48-BE31-30F3-4054-735E194522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2C31D9-1BB6-5765-1739-4CCEA3F9262C}"/>
              </a:ext>
            </a:extLst>
          </p:cNvPr>
          <p:cNvSpPr txBox="1"/>
          <p:nvPr/>
        </p:nvSpPr>
        <p:spPr>
          <a:xfrm>
            <a:off x="3248669" y="35566"/>
            <a:ext cx="5923313" cy="646331"/>
          </a:xfrm>
          <a:prstGeom prst="rect">
            <a:avLst/>
          </a:prstGeom>
          <a:noFill/>
        </p:spPr>
        <p:txBody>
          <a:bodyPr wrap="square" rtlCol="0">
            <a:spAutoFit/>
          </a:bodyPr>
          <a:lstStyle/>
          <a:p>
            <a:r>
              <a:rPr lang="en-US" sz="3600" b="1" dirty="0">
                <a:latin typeface="Cooper Black" panose="0208090404030B020404" pitchFamily="18" charset="0"/>
                <a:cs typeface="Times New Roman" panose="02020603050405020304" pitchFamily="18" charset="0"/>
              </a:rPr>
              <a:t>ANALYSE DES RISQUES </a:t>
            </a:r>
          </a:p>
        </p:txBody>
      </p:sp>
      <p:sp>
        <p:nvSpPr>
          <p:cNvPr id="8" name="Rectangle: Rounded Corners 7">
            <a:extLst>
              <a:ext uri="{FF2B5EF4-FFF2-40B4-BE49-F238E27FC236}">
                <a16:creationId xmlns:a16="http://schemas.microsoft.com/office/drawing/2014/main" id="{FF49E8CA-8C85-A4BA-7440-32B188FB3BC4}"/>
              </a:ext>
            </a:extLst>
          </p:cNvPr>
          <p:cNvSpPr/>
          <p:nvPr/>
        </p:nvSpPr>
        <p:spPr>
          <a:xfrm>
            <a:off x="301522" y="1717158"/>
            <a:ext cx="3062177" cy="3423683"/>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Rounded Corners 9">
            <a:extLst>
              <a:ext uri="{FF2B5EF4-FFF2-40B4-BE49-F238E27FC236}">
                <a16:creationId xmlns:a16="http://schemas.microsoft.com/office/drawing/2014/main" id="{B5100E31-AF0A-4A26-A8FB-F2BE9F468673}"/>
              </a:ext>
            </a:extLst>
          </p:cNvPr>
          <p:cNvSpPr/>
          <p:nvPr/>
        </p:nvSpPr>
        <p:spPr>
          <a:xfrm>
            <a:off x="4564911" y="1717158"/>
            <a:ext cx="3062177" cy="3423683"/>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Rounded Corners 10">
            <a:extLst>
              <a:ext uri="{FF2B5EF4-FFF2-40B4-BE49-F238E27FC236}">
                <a16:creationId xmlns:a16="http://schemas.microsoft.com/office/drawing/2014/main" id="{2B7EAF49-63D4-EAEA-2615-F01B4C57E4B3}"/>
              </a:ext>
            </a:extLst>
          </p:cNvPr>
          <p:cNvSpPr/>
          <p:nvPr/>
        </p:nvSpPr>
        <p:spPr>
          <a:xfrm>
            <a:off x="8828301" y="1717158"/>
            <a:ext cx="3062177" cy="3423683"/>
          </a:xfrm>
          <a:prstGeom prst="round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Rounded Corners 11">
            <a:extLst>
              <a:ext uri="{FF2B5EF4-FFF2-40B4-BE49-F238E27FC236}">
                <a16:creationId xmlns:a16="http://schemas.microsoft.com/office/drawing/2014/main" id="{82F74279-0AED-770F-2881-5F222F82E8EA}"/>
              </a:ext>
            </a:extLst>
          </p:cNvPr>
          <p:cNvSpPr/>
          <p:nvPr/>
        </p:nvSpPr>
        <p:spPr>
          <a:xfrm>
            <a:off x="301523" y="5656522"/>
            <a:ext cx="11588956" cy="64633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7ED92642-9794-8E70-5965-5F5467539189}"/>
              </a:ext>
            </a:extLst>
          </p:cNvPr>
          <p:cNvSpPr/>
          <p:nvPr/>
        </p:nvSpPr>
        <p:spPr>
          <a:xfrm>
            <a:off x="5431179" y="5585716"/>
            <a:ext cx="1329639" cy="787941"/>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7" name="Straight Connector 16">
            <a:extLst>
              <a:ext uri="{FF2B5EF4-FFF2-40B4-BE49-F238E27FC236}">
                <a16:creationId xmlns:a16="http://schemas.microsoft.com/office/drawing/2014/main" id="{F8A9AECC-1E20-D8D0-D9AF-5B01F18401AC}"/>
              </a:ext>
            </a:extLst>
          </p:cNvPr>
          <p:cNvCxnSpPr/>
          <p:nvPr/>
        </p:nvCxnSpPr>
        <p:spPr>
          <a:xfrm>
            <a:off x="433362"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 1">
            <a:extLst>
              <a:ext uri="{FF2B5EF4-FFF2-40B4-BE49-F238E27FC236}">
                <a16:creationId xmlns:a16="http://schemas.microsoft.com/office/drawing/2014/main" id="{71023A86-2E67-059F-4812-DF3DFF73D097}"/>
              </a:ext>
            </a:extLst>
          </p:cNvPr>
          <p:cNvSpPr/>
          <p:nvPr/>
        </p:nvSpPr>
        <p:spPr>
          <a:xfrm>
            <a:off x="723260" y="2062578"/>
            <a:ext cx="2316954"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Modèle de Menaces</a:t>
            </a:r>
            <a:r>
              <a:rPr lang="en-US" sz="2000" dirty="0">
                <a:latin typeface="Bahnschrift SemiBold" panose="020B0502040204020203" pitchFamily="34" charset="0"/>
                <a:ea typeface="IBM Plex Sans Medium" pitchFamily="34" charset="-122"/>
                <a:cs typeface="IBM Plex Sans Medium" pitchFamily="34" charset="-120"/>
              </a:rPr>
              <a:t> </a:t>
            </a:r>
            <a:endParaRPr lang="en-US" sz="2000" dirty="0">
              <a:latin typeface="Bahnschrift SemiBold" panose="020B0502040204020203" pitchFamily="34" charset="0"/>
            </a:endParaRPr>
          </a:p>
        </p:txBody>
      </p:sp>
      <p:sp>
        <p:nvSpPr>
          <p:cNvPr id="21" name="TextBox 20">
            <a:extLst>
              <a:ext uri="{FF2B5EF4-FFF2-40B4-BE49-F238E27FC236}">
                <a16:creationId xmlns:a16="http://schemas.microsoft.com/office/drawing/2014/main" id="{1681BF7C-4A12-8F0C-986E-BEA794DC06EC}"/>
              </a:ext>
            </a:extLst>
          </p:cNvPr>
          <p:cNvSpPr txBox="1"/>
          <p:nvPr/>
        </p:nvSpPr>
        <p:spPr>
          <a:xfrm>
            <a:off x="752172" y="2780251"/>
            <a:ext cx="2160873"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 système fait face à des menaces externes et internes visant à manipuler les alertes ou accéder à des données sensibles.</a:t>
            </a:r>
            <a:endParaRPr lang="en-US" sz="1400" dirty="0">
              <a:latin typeface="Bahnschrift SemiBold" panose="020B0502040204020203" pitchFamily="34" charset="0"/>
            </a:endParaRPr>
          </a:p>
        </p:txBody>
      </p:sp>
      <p:cxnSp>
        <p:nvCxnSpPr>
          <p:cNvPr id="22" name="Straight Connector 21">
            <a:extLst>
              <a:ext uri="{FF2B5EF4-FFF2-40B4-BE49-F238E27FC236}">
                <a16:creationId xmlns:a16="http://schemas.microsoft.com/office/drawing/2014/main" id="{C534ADED-ACAC-292E-924B-5E0C111A15F5}"/>
              </a:ext>
            </a:extLst>
          </p:cNvPr>
          <p:cNvCxnSpPr/>
          <p:nvPr/>
        </p:nvCxnSpPr>
        <p:spPr>
          <a:xfrm>
            <a:off x="4696753"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 1">
            <a:extLst>
              <a:ext uri="{FF2B5EF4-FFF2-40B4-BE49-F238E27FC236}">
                <a16:creationId xmlns:a16="http://schemas.microsoft.com/office/drawing/2014/main" id="{E452B69E-88A8-46E2-88ED-4115AB53F293}"/>
              </a:ext>
            </a:extLst>
          </p:cNvPr>
          <p:cNvSpPr/>
          <p:nvPr/>
        </p:nvSpPr>
        <p:spPr>
          <a:xfrm>
            <a:off x="5093090" y="2062578"/>
            <a:ext cx="2005820"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Surface d’Attaque </a:t>
            </a:r>
            <a:endParaRPr lang="en-US" sz="2000" dirty="0">
              <a:latin typeface="Bahnschrift SemiBold" panose="020B0502040204020203" pitchFamily="34" charset="0"/>
            </a:endParaRPr>
          </a:p>
        </p:txBody>
      </p:sp>
      <p:sp>
        <p:nvSpPr>
          <p:cNvPr id="25" name="TextBox 24">
            <a:extLst>
              <a:ext uri="{FF2B5EF4-FFF2-40B4-BE49-F238E27FC236}">
                <a16:creationId xmlns:a16="http://schemas.microsoft.com/office/drawing/2014/main" id="{D68E9676-AF35-2999-7EA3-F407A040D81A}"/>
              </a:ext>
            </a:extLst>
          </p:cNvPr>
          <p:cNvSpPr txBox="1"/>
          <p:nvPr/>
        </p:nvSpPr>
        <p:spPr>
          <a:xfrm>
            <a:off x="4564911" y="2826267"/>
            <a:ext cx="3062177"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L’API REST et le dashboard exposés, ainsi que la base de données, les capteurs et les sirènes, constituent des points critiques à haut risque en cas de compromission interne ou externe.</a:t>
            </a:r>
            <a:endParaRPr lang="en-US" sz="1400" dirty="0">
              <a:latin typeface="Bahnschrift SemiBold" panose="020B0502040204020203" pitchFamily="34" charset="0"/>
            </a:endParaRPr>
          </a:p>
        </p:txBody>
      </p:sp>
      <p:cxnSp>
        <p:nvCxnSpPr>
          <p:cNvPr id="29" name="Straight Connector 28">
            <a:extLst>
              <a:ext uri="{FF2B5EF4-FFF2-40B4-BE49-F238E27FC236}">
                <a16:creationId xmlns:a16="http://schemas.microsoft.com/office/drawing/2014/main" id="{E8DCE243-5122-5D62-8B38-4B6984E0C11C}"/>
              </a:ext>
            </a:extLst>
          </p:cNvPr>
          <p:cNvCxnSpPr/>
          <p:nvPr/>
        </p:nvCxnSpPr>
        <p:spPr>
          <a:xfrm>
            <a:off x="8960143"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 1">
            <a:extLst>
              <a:ext uri="{FF2B5EF4-FFF2-40B4-BE49-F238E27FC236}">
                <a16:creationId xmlns:a16="http://schemas.microsoft.com/office/drawing/2014/main" id="{206EB8F7-9A0B-772D-65C2-C70B22320587}"/>
              </a:ext>
            </a:extLst>
          </p:cNvPr>
          <p:cNvSpPr/>
          <p:nvPr/>
        </p:nvSpPr>
        <p:spPr>
          <a:xfrm>
            <a:off x="9359054" y="2055931"/>
            <a:ext cx="2000665" cy="280359"/>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Méthode DREAD</a:t>
            </a:r>
            <a:endParaRPr lang="en-US" sz="2000" dirty="0">
              <a:latin typeface="Bahnschrift SemiBold" panose="020B0502040204020203" pitchFamily="34" charset="0"/>
            </a:endParaRPr>
          </a:p>
        </p:txBody>
      </p:sp>
      <p:sp>
        <p:nvSpPr>
          <p:cNvPr id="31" name="TextBox 30">
            <a:extLst>
              <a:ext uri="{FF2B5EF4-FFF2-40B4-BE49-F238E27FC236}">
                <a16:creationId xmlns:a16="http://schemas.microsoft.com/office/drawing/2014/main" id="{25EC346F-FE87-A0FA-0ED8-1CE5ACE2D3CE}"/>
              </a:ext>
            </a:extLst>
          </p:cNvPr>
          <p:cNvSpPr txBox="1"/>
          <p:nvPr/>
        </p:nvSpPr>
        <p:spPr>
          <a:xfrm>
            <a:off x="8828300" y="2703297"/>
            <a:ext cx="3062174" cy="2308324"/>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Les risques les plus élevés sont la falsification des alertes et les injections SQL (8.4), suivis des attaques par déni de service (8.2), puis de l’accès non autorisé, de l’injection de données capteurs (7.2–7.0) et des attaques Man-in-the-Middle (6.8).</a:t>
            </a:r>
          </a:p>
        </p:txBody>
      </p:sp>
    </p:spTree>
    <p:extLst>
      <p:ext uri="{BB962C8B-B14F-4D97-AF65-F5344CB8AC3E}">
        <p14:creationId xmlns:p14="http://schemas.microsoft.com/office/powerpoint/2010/main" val="3695672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9CD8F-5743-86DB-1CCA-07000CD569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D4A6FD-421D-6414-E927-063E0F8B5D9E}"/>
              </a:ext>
            </a:extLst>
          </p:cNvPr>
          <p:cNvSpPr txBox="1"/>
          <p:nvPr/>
        </p:nvSpPr>
        <p:spPr>
          <a:xfrm>
            <a:off x="3248669" y="35566"/>
            <a:ext cx="5923313" cy="646331"/>
          </a:xfrm>
          <a:prstGeom prst="rect">
            <a:avLst/>
          </a:prstGeom>
          <a:noFill/>
        </p:spPr>
        <p:txBody>
          <a:bodyPr wrap="square" rtlCol="0">
            <a:spAutoFit/>
          </a:bodyPr>
          <a:lstStyle/>
          <a:p>
            <a:r>
              <a:rPr lang="en-US" sz="3600" b="1" dirty="0">
                <a:latin typeface="Cooper Black" panose="0208090404030B020404" pitchFamily="18" charset="0"/>
                <a:cs typeface="Times New Roman" panose="02020603050405020304" pitchFamily="18" charset="0"/>
              </a:rPr>
              <a:t>ANALYSE DES RISQUES </a:t>
            </a:r>
          </a:p>
        </p:txBody>
      </p:sp>
      <p:sp>
        <p:nvSpPr>
          <p:cNvPr id="8" name="Rectangle: Rounded Corners 7">
            <a:extLst>
              <a:ext uri="{FF2B5EF4-FFF2-40B4-BE49-F238E27FC236}">
                <a16:creationId xmlns:a16="http://schemas.microsoft.com/office/drawing/2014/main" id="{6554FE0B-5826-D574-8B54-CCB9CE9498FF}"/>
              </a:ext>
            </a:extLst>
          </p:cNvPr>
          <p:cNvSpPr/>
          <p:nvPr/>
        </p:nvSpPr>
        <p:spPr>
          <a:xfrm>
            <a:off x="301522" y="1717158"/>
            <a:ext cx="3062177" cy="3423683"/>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Rounded Corners 9">
            <a:extLst>
              <a:ext uri="{FF2B5EF4-FFF2-40B4-BE49-F238E27FC236}">
                <a16:creationId xmlns:a16="http://schemas.microsoft.com/office/drawing/2014/main" id="{FBD2C8C9-E275-447F-C65C-2E868D88026E}"/>
              </a:ext>
            </a:extLst>
          </p:cNvPr>
          <p:cNvSpPr/>
          <p:nvPr/>
        </p:nvSpPr>
        <p:spPr>
          <a:xfrm>
            <a:off x="4564911" y="1717158"/>
            <a:ext cx="3062177" cy="3423683"/>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Rounded Corners 10">
            <a:extLst>
              <a:ext uri="{FF2B5EF4-FFF2-40B4-BE49-F238E27FC236}">
                <a16:creationId xmlns:a16="http://schemas.microsoft.com/office/drawing/2014/main" id="{E6180767-77EC-6F62-9D60-07AEEF663C87}"/>
              </a:ext>
            </a:extLst>
          </p:cNvPr>
          <p:cNvSpPr/>
          <p:nvPr/>
        </p:nvSpPr>
        <p:spPr>
          <a:xfrm>
            <a:off x="8828301" y="1717158"/>
            <a:ext cx="3062177" cy="3423683"/>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Rounded Corners 11">
            <a:extLst>
              <a:ext uri="{FF2B5EF4-FFF2-40B4-BE49-F238E27FC236}">
                <a16:creationId xmlns:a16="http://schemas.microsoft.com/office/drawing/2014/main" id="{A3CABB8D-C4F9-A256-E180-1808B6AC3965}"/>
              </a:ext>
            </a:extLst>
          </p:cNvPr>
          <p:cNvSpPr/>
          <p:nvPr/>
        </p:nvSpPr>
        <p:spPr>
          <a:xfrm>
            <a:off x="301523" y="5656522"/>
            <a:ext cx="11588956" cy="64633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7D844961-5DD8-765D-C5FB-2A475418B171}"/>
              </a:ext>
            </a:extLst>
          </p:cNvPr>
          <p:cNvSpPr/>
          <p:nvPr/>
        </p:nvSpPr>
        <p:spPr>
          <a:xfrm>
            <a:off x="9694566" y="5585716"/>
            <a:ext cx="1329639" cy="787941"/>
          </a:xfrm>
          <a:prstGeom prst="ellipse">
            <a:avLst/>
          </a:prstGeom>
          <a:solidFill>
            <a:srgbClr val="2F55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7" name="Straight Connector 16">
            <a:extLst>
              <a:ext uri="{FF2B5EF4-FFF2-40B4-BE49-F238E27FC236}">
                <a16:creationId xmlns:a16="http://schemas.microsoft.com/office/drawing/2014/main" id="{E59F2B31-A937-3142-9999-EAED57A84EAE}"/>
              </a:ext>
            </a:extLst>
          </p:cNvPr>
          <p:cNvCxnSpPr/>
          <p:nvPr/>
        </p:nvCxnSpPr>
        <p:spPr>
          <a:xfrm>
            <a:off x="433362"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 1">
            <a:extLst>
              <a:ext uri="{FF2B5EF4-FFF2-40B4-BE49-F238E27FC236}">
                <a16:creationId xmlns:a16="http://schemas.microsoft.com/office/drawing/2014/main" id="{5217925D-074F-3DCE-6D2C-6FC607E22713}"/>
              </a:ext>
            </a:extLst>
          </p:cNvPr>
          <p:cNvSpPr/>
          <p:nvPr/>
        </p:nvSpPr>
        <p:spPr>
          <a:xfrm>
            <a:off x="723260" y="2062578"/>
            <a:ext cx="2316954"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Modèle de Menaces</a:t>
            </a:r>
            <a:r>
              <a:rPr lang="en-US" sz="2000" dirty="0">
                <a:latin typeface="Bahnschrift SemiBold" panose="020B0502040204020203" pitchFamily="34" charset="0"/>
                <a:ea typeface="IBM Plex Sans Medium" pitchFamily="34" charset="-122"/>
                <a:cs typeface="IBM Plex Sans Medium" pitchFamily="34" charset="-120"/>
              </a:rPr>
              <a:t> </a:t>
            </a:r>
            <a:endParaRPr lang="en-US" sz="2000" dirty="0">
              <a:latin typeface="Bahnschrift SemiBold" panose="020B0502040204020203" pitchFamily="34" charset="0"/>
            </a:endParaRPr>
          </a:p>
        </p:txBody>
      </p:sp>
      <p:sp>
        <p:nvSpPr>
          <p:cNvPr id="21" name="TextBox 20">
            <a:extLst>
              <a:ext uri="{FF2B5EF4-FFF2-40B4-BE49-F238E27FC236}">
                <a16:creationId xmlns:a16="http://schemas.microsoft.com/office/drawing/2014/main" id="{6A007ECC-29AA-4BB3-20C4-007B8F864A08}"/>
              </a:ext>
            </a:extLst>
          </p:cNvPr>
          <p:cNvSpPr txBox="1"/>
          <p:nvPr/>
        </p:nvSpPr>
        <p:spPr>
          <a:xfrm>
            <a:off x="752172" y="2780251"/>
            <a:ext cx="2160873"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 système fait face à des menaces externes et internes visant à manipuler les alertes ou accéder à des données sensibles.</a:t>
            </a:r>
            <a:endParaRPr lang="en-US" sz="1400" dirty="0">
              <a:latin typeface="Bahnschrift SemiBold" panose="020B0502040204020203" pitchFamily="34" charset="0"/>
            </a:endParaRPr>
          </a:p>
        </p:txBody>
      </p:sp>
      <p:cxnSp>
        <p:nvCxnSpPr>
          <p:cNvPr id="22" name="Straight Connector 21">
            <a:extLst>
              <a:ext uri="{FF2B5EF4-FFF2-40B4-BE49-F238E27FC236}">
                <a16:creationId xmlns:a16="http://schemas.microsoft.com/office/drawing/2014/main" id="{A00A149E-4BE3-0503-EA69-BA58383F521E}"/>
              </a:ext>
            </a:extLst>
          </p:cNvPr>
          <p:cNvCxnSpPr/>
          <p:nvPr/>
        </p:nvCxnSpPr>
        <p:spPr>
          <a:xfrm>
            <a:off x="4696753"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 1">
            <a:extLst>
              <a:ext uri="{FF2B5EF4-FFF2-40B4-BE49-F238E27FC236}">
                <a16:creationId xmlns:a16="http://schemas.microsoft.com/office/drawing/2014/main" id="{36A6AC97-07C4-A9F1-D941-A4F27DDAB93B}"/>
              </a:ext>
            </a:extLst>
          </p:cNvPr>
          <p:cNvSpPr/>
          <p:nvPr/>
        </p:nvSpPr>
        <p:spPr>
          <a:xfrm>
            <a:off x="5093090" y="2062578"/>
            <a:ext cx="2005820"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Surface d’Attaque </a:t>
            </a:r>
            <a:endParaRPr lang="en-US" sz="2000" dirty="0">
              <a:latin typeface="Bahnschrift SemiBold" panose="020B0502040204020203" pitchFamily="34" charset="0"/>
            </a:endParaRPr>
          </a:p>
        </p:txBody>
      </p:sp>
      <p:sp>
        <p:nvSpPr>
          <p:cNvPr id="25" name="TextBox 24">
            <a:extLst>
              <a:ext uri="{FF2B5EF4-FFF2-40B4-BE49-F238E27FC236}">
                <a16:creationId xmlns:a16="http://schemas.microsoft.com/office/drawing/2014/main" id="{1F61D4F7-D3F6-11AF-B42E-D6B4A861D191}"/>
              </a:ext>
            </a:extLst>
          </p:cNvPr>
          <p:cNvSpPr txBox="1"/>
          <p:nvPr/>
        </p:nvSpPr>
        <p:spPr>
          <a:xfrm>
            <a:off x="4564911" y="2826267"/>
            <a:ext cx="3062177"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L’API REST et le dashboard exposés, ainsi que la base de données, les capteurs et les sirènes, constituent des points critiques à haut risque en cas de compromission interne ou externe.</a:t>
            </a:r>
            <a:endParaRPr lang="en-US" sz="1400" dirty="0">
              <a:latin typeface="Bahnschrift SemiBold" panose="020B0502040204020203" pitchFamily="34" charset="0"/>
            </a:endParaRPr>
          </a:p>
        </p:txBody>
      </p:sp>
      <p:cxnSp>
        <p:nvCxnSpPr>
          <p:cNvPr id="29" name="Straight Connector 28">
            <a:extLst>
              <a:ext uri="{FF2B5EF4-FFF2-40B4-BE49-F238E27FC236}">
                <a16:creationId xmlns:a16="http://schemas.microsoft.com/office/drawing/2014/main" id="{7D6C24F4-F5D7-984A-505F-22236C3887DA}"/>
              </a:ext>
            </a:extLst>
          </p:cNvPr>
          <p:cNvCxnSpPr/>
          <p:nvPr/>
        </p:nvCxnSpPr>
        <p:spPr>
          <a:xfrm>
            <a:off x="8960143" y="2504930"/>
            <a:ext cx="280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 1">
            <a:extLst>
              <a:ext uri="{FF2B5EF4-FFF2-40B4-BE49-F238E27FC236}">
                <a16:creationId xmlns:a16="http://schemas.microsoft.com/office/drawing/2014/main" id="{F393DAFC-29D9-AC1A-40FE-B460B1FE7E9A}"/>
              </a:ext>
            </a:extLst>
          </p:cNvPr>
          <p:cNvSpPr/>
          <p:nvPr/>
        </p:nvSpPr>
        <p:spPr>
          <a:xfrm>
            <a:off x="9359054" y="2055931"/>
            <a:ext cx="2000665" cy="280359"/>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Méthode DREAD</a:t>
            </a:r>
            <a:endParaRPr lang="en-US" sz="2000" dirty="0">
              <a:latin typeface="Bahnschrift SemiBold" panose="020B0502040204020203" pitchFamily="34" charset="0"/>
            </a:endParaRPr>
          </a:p>
        </p:txBody>
      </p:sp>
      <p:sp>
        <p:nvSpPr>
          <p:cNvPr id="31" name="TextBox 30">
            <a:extLst>
              <a:ext uri="{FF2B5EF4-FFF2-40B4-BE49-F238E27FC236}">
                <a16:creationId xmlns:a16="http://schemas.microsoft.com/office/drawing/2014/main" id="{EDF05B8E-E884-F40D-D0C1-9270846E65D5}"/>
              </a:ext>
            </a:extLst>
          </p:cNvPr>
          <p:cNvSpPr txBox="1"/>
          <p:nvPr/>
        </p:nvSpPr>
        <p:spPr>
          <a:xfrm>
            <a:off x="8828300" y="2703297"/>
            <a:ext cx="3062174" cy="2308324"/>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Les risques les plus élevés sont la falsification des alertes et les injections SQL (8.4), suivis des attaques par déni de service (8.2), puis de l’accès non autorisé, de l’injection de données capteurs (7.2–7.0) et des attaques Man-in-the-Middle (6.8).</a:t>
            </a:r>
          </a:p>
        </p:txBody>
      </p:sp>
      <p:sp>
        <p:nvSpPr>
          <p:cNvPr id="3" name="TextBox 2">
            <a:extLst>
              <a:ext uri="{FF2B5EF4-FFF2-40B4-BE49-F238E27FC236}">
                <a16:creationId xmlns:a16="http://schemas.microsoft.com/office/drawing/2014/main" id="{55605261-DEE1-ADF0-F207-A28D8BD31CC7}"/>
              </a:ext>
            </a:extLst>
          </p:cNvPr>
          <p:cNvSpPr txBox="1"/>
          <p:nvPr/>
        </p:nvSpPr>
        <p:spPr>
          <a:xfrm>
            <a:off x="2339900" y="-748824"/>
            <a:ext cx="7634119" cy="646331"/>
          </a:xfrm>
          <a:prstGeom prst="rect">
            <a:avLst/>
          </a:prstGeom>
          <a:noFill/>
        </p:spPr>
        <p:txBody>
          <a:bodyPr wrap="square">
            <a:spAutoFit/>
          </a:bodyPr>
          <a:lstStyle/>
          <a:p>
            <a:r>
              <a:rPr lang="en-US" sz="3600" dirty="0">
                <a:latin typeface="Cooper Black" panose="0208090404030B020404" pitchFamily="18" charset="0"/>
              </a:rPr>
              <a:t>VULNÉRABILITÉS DÉTECTÉES</a:t>
            </a:r>
          </a:p>
        </p:txBody>
      </p:sp>
      <p:grpSp>
        <p:nvGrpSpPr>
          <p:cNvPr id="4" name="Group 17">
            <a:extLst>
              <a:ext uri="{FF2B5EF4-FFF2-40B4-BE49-F238E27FC236}">
                <a16:creationId xmlns:a16="http://schemas.microsoft.com/office/drawing/2014/main" id="{094611D7-99E8-327F-173D-39FB818428EF}"/>
              </a:ext>
            </a:extLst>
          </p:cNvPr>
          <p:cNvGrpSpPr/>
          <p:nvPr/>
        </p:nvGrpSpPr>
        <p:grpSpPr>
          <a:xfrm rot="3774288">
            <a:off x="-7297514" y="-577400"/>
            <a:ext cx="7200000" cy="7209000"/>
            <a:chOff x="-4274914" y="-171000"/>
            <a:chExt cx="7200000" cy="7209000"/>
          </a:xfrm>
        </p:grpSpPr>
        <p:sp>
          <p:nvSpPr>
            <p:cNvPr id="5" name="Oval 2">
              <a:extLst>
                <a:ext uri="{FF2B5EF4-FFF2-40B4-BE49-F238E27FC236}">
                  <a16:creationId xmlns:a16="http://schemas.microsoft.com/office/drawing/2014/main" id="{419DEB73-3F2C-A9B0-2C6B-0FE9458D2319}"/>
                </a:ext>
              </a:extLst>
            </p:cNvPr>
            <p:cNvSpPr/>
            <p:nvPr/>
          </p:nvSpPr>
          <p:spPr>
            <a:xfrm>
              <a:off x="-2618914" y="1485000"/>
              <a:ext cx="3888000" cy="3888000"/>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16">
              <a:extLst>
                <a:ext uri="{FF2B5EF4-FFF2-40B4-BE49-F238E27FC236}">
                  <a16:creationId xmlns:a16="http://schemas.microsoft.com/office/drawing/2014/main" id="{315C322A-81AA-D89C-B971-B4E32CD96F22}"/>
                </a:ext>
              </a:extLst>
            </p:cNvPr>
            <p:cNvGrpSpPr/>
            <p:nvPr/>
          </p:nvGrpSpPr>
          <p:grpSpPr>
            <a:xfrm>
              <a:off x="-4274914" y="-171000"/>
              <a:ext cx="7200000" cy="7209000"/>
              <a:chOff x="-4274914" y="-171000"/>
              <a:chExt cx="7200000" cy="7209000"/>
            </a:xfrm>
          </p:grpSpPr>
          <p:sp>
            <p:nvSpPr>
              <p:cNvPr id="7" name="Circle: Hollow 3">
                <a:extLst>
                  <a:ext uri="{FF2B5EF4-FFF2-40B4-BE49-F238E27FC236}">
                    <a16:creationId xmlns:a16="http://schemas.microsoft.com/office/drawing/2014/main" id="{5AEE2E99-0E74-D470-30E0-BDF88CF607EE}"/>
                  </a:ext>
                </a:extLst>
              </p:cNvPr>
              <p:cNvSpPr/>
              <p:nvPr/>
            </p:nvSpPr>
            <p:spPr>
              <a:xfrm>
                <a:off x="-4274914" y="-171000"/>
                <a:ext cx="7200000" cy="7200000"/>
              </a:xfrm>
              <a:prstGeom prst="donut">
                <a:avLst>
                  <a:gd name="adj" fmla="val 17674"/>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Flowchart: Connector 4">
                <a:extLst>
                  <a:ext uri="{FF2B5EF4-FFF2-40B4-BE49-F238E27FC236}">
                    <a16:creationId xmlns:a16="http://schemas.microsoft.com/office/drawing/2014/main" id="{AE2AAB19-EBC1-082A-A823-8724B3EFEB0B}"/>
                  </a:ext>
                </a:extLst>
              </p:cNvPr>
              <p:cNvSpPr/>
              <p:nvPr/>
            </p:nvSpPr>
            <p:spPr>
              <a:xfrm>
                <a:off x="1629086" y="2781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01</a:t>
                </a:r>
              </a:p>
            </p:txBody>
          </p:sp>
          <p:sp>
            <p:nvSpPr>
              <p:cNvPr id="14" name="Flowchart: Connector 5">
                <a:extLst>
                  <a:ext uri="{FF2B5EF4-FFF2-40B4-BE49-F238E27FC236}">
                    <a16:creationId xmlns:a16="http://schemas.microsoft.com/office/drawing/2014/main" id="{DCADE347-7BF2-6384-2614-9687EF32E320}"/>
                  </a:ext>
                </a:extLst>
              </p:cNvPr>
              <p:cNvSpPr/>
              <p:nvPr/>
            </p:nvSpPr>
            <p:spPr>
              <a:xfrm rot="5400000">
                <a:off x="-1322914" y="5742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02</a:t>
                </a:r>
              </a:p>
            </p:txBody>
          </p:sp>
          <p:sp>
            <p:nvSpPr>
              <p:cNvPr id="15" name="Flowchart: Connector 7">
                <a:extLst>
                  <a:ext uri="{FF2B5EF4-FFF2-40B4-BE49-F238E27FC236}">
                    <a16:creationId xmlns:a16="http://schemas.microsoft.com/office/drawing/2014/main" id="{FFC14774-D8B2-FD75-D82E-73DA48CFCE56}"/>
                  </a:ext>
                </a:extLst>
              </p:cNvPr>
              <p:cNvSpPr/>
              <p:nvPr/>
            </p:nvSpPr>
            <p:spPr>
              <a:xfrm rot="10800000">
                <a:off x="-4274914" y="2781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00" dirty="0">
                    <a:latin typeface="Bahnschrift SemiBold" panose="020B0502040204020203" pitchFamily="34" charset="0"/>
                  </a:rPr>
                  <a:t>03</a:t>
                </a:r>
              </a:p>
            </p:txBody>
          </p:sp>
          <p:sp>
            <p:nvSpPr>
              <p:cNvPr id="16" name="Flowchart: Connector 8">
                <a:extLst>
                  <a:ext uri="{FF2B5EF4-FFF2-40B4-BE49-F238E27FC236}">
                    <a16:creationId xmlns:a16="http://schemas.microsoft.com/office/drawing/2014/main" id="{B91F60C3-514D-E324-BC23-3BA4910167C4}"/>
                  </a:ext>
                </a:extLst>
              </p:cNvPr>
              <p:cNvSpPr/>
              <p:nvPr/>
            </p:nvSpPr>
            <p:spPr>
              <a:xfrm rot="16200000">
                <a:off x="-1322914" y="-171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100" dirty="0">
                    <a:latin typeface="Bahnschrift SemiBold" panose="020B0502040204020203" pitchFamily="34" charset="0"/>
                  </a:rPr>
                  <a:t>04</a:t>
                </a:r>
              </a:p>
            </p:txBody>
          </p:sp>
        </p:grpSp>
      </p:grpSp>
      <p:grpSp>
        <p:nvGrpSpPr>
          <p:cNvPr id="20" name="Group 22">
            <a:extLst>
              <a:ext uri="{FF2B5EF4-FFF2-40B4-BE49-F238E27FC236}">
                <a16:creationId xmlns:a16="http://schemas.microsoft.com/office/drawing/2014/main" id="{3783F569-29AE-E522-DED2-6FF9C4E5AE19}"/>
              </a:ext>
            </a:extLst>
          </p:cNvPr>
          <p:cNvGrpSpPr/>
          <p:nvPr/>
        </p:nvGrpSpPr>
        <p:grpSpPr>
          <a:xfrm>
            <a:off x="12333420" y="-1270000"/>
            <a:ext cx="1839780" cy="1872944"/>
            <a:chOff x="10352220" y="0"/>
            <a:chExt cx="1839780" cy="1872944"/>
          </a:xfrm>
          <a:solidFill>
            <a:schemeClr val="accent4">
              <a:lumMod val="75000"/>
            </a:schemeClr>
          </a:solidFill>
        </p:grpSpPr>
        <p:sp>
          <p:nvSpPr>
            <p:cNvPr id="24" name="Isosceles Triangle 20">
              <a:extLst>
                <a:ext uri="{FF2B5EF4-FFF2-40B4-BE49-F238E27FC236}">
                  <a16:creationId xmlns:a16="http://schemas.microsoft.com/office/drawing/2014/main" id="{46D4DBC0-7F9D-C8A7-2215-B2B646D044C7}"/>
                </a:ext>
              </a:extLst>
            </p:cNvPr>
            <p:cNvSpPr/>
            <p:nvPr/>
          </p:nvSpPr>
          <p:spPr>
            <a:xfrm rot="16200000">
              <a:off x="10707000" y="0"/>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1">
              <a:extLst>
                <a:ext uri="{FF2B5EF4-FFF2-40B4-BE49-F238E27FC236}">
                  <a16:creationId xmlns:a16="http://schemas.microsoft.com/office/drawing/2014/main" id="{929D8011-E72D-5D61-E6A5-336473359E56}"/>
                </a:ext>
              </a:extLst>
            </p:cNvPr>
            <p:cNvSpPr/>
            <p:nvPr/>
          </p:nvSpPr>
          <p:spPr>
            <a:xfrm rot="16200000">
              <a:off x="10352220" y="387944"/>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4" name="Picture 5">
            <a:extLst>
              <a:ext uri="{FF2B5EF4-FFF2-40B4-BE49-F238E27FC236}">
                <a16:creationId xmlns:a16="http://schemas.microsoft.com/office/drawing/2014/main" id="{DCE78D02-A2B6-B5B8-AB90-1956DB4D429C}"/>
              </a:ext>
            </a:extLst>
          </p:cNvPr>
          <p:cNvPicPr>
            <a:picLocks noChangeAspect="1"/>
          </p:cNvPicPr>
          <p:nvPr/>
        </p:nvPicPr>
        <p:blipFill>
          <a:blip r:embed="rId3"/>
          <a:stretch>
            <a:fillRect/>
          </a:stretch>
        </p:blipFill>
        <p:spPr>
          <a:xfrm>
            <a:off x="13099719" y="1736038"/>
            <a:ext cx="1463000" cy="1463000"/>
          </a:xfrm>
          <a:prstGeom prst="rect">
            <a:avLst/>
          </a:prstGeom>
        </p:spPr>
      </p:pic>
      <p:sp>
        <p:nvSpPr>
          <p:cNvPr id="36" name="TextBox 10">
            <a:extLst>
              <a:ext uri="{FF2B5EF4-FFF2-40B4-BE49-F238E27FC236}">
                <a16:creationId xmlns:a16="http://schemas.microsoft.com/office/drawing/2014/main" id="{3FAB43C6-6972-B96F-39CF-078CE4562FE3}"/>
              </a:ext>
            </a:extLst>
          </p:cNvPr>
          <p:cNvSpPr txBox="1"/>
          <p:nvPr/>
        </p:nvSpPr>
        <p:spPr>
          <a:xfrm>
            <a:off x="2876531" y="-1864961"/>
            <a:ext cx="8337647" cy="923330"/>
          </a:xfrm>
          <a:prstGeom prst="rect">
            <a:avLst/>
          </a:prstGeom>
          <a:noFill/>
        </p:spPr>
        <p:txBody>
          <a:bodyPr wrap="square" rtlCol="0">
            <a:spAutoFit/>
          </a:bodyPr>
          <a:lstStyle/>
          <a:p>
            <a:pPr algn="ctr"/>
            <a:r>
              <a:rPr lang="fr-FR" sz="5400" b="1" dirty="0">
                <a:solidFill>
                  <a:schemeClr val="accent4">
                    <a:lumMod val="50000"/>
                  </a:schemeClr>
                </a:solidFill>
                <a:latin typeface="Rockwell" panose="02060603020205020403" pitchFamily="18" charset="0"/>
              </a:rPr>
              <a:t>SQL Injection </a:t>
            </a:r>
          </a:p>
        </p:txBody>
      </p:sp>
      <p:sp>
        <p:nvSpPr>
          <p:cNvPr id="37" name="Rectangle: Rounded Corners 6">
            <a:extLst>
              <a:ext uri="{FF2B5EF4-FFF2-40B4-BE49-F238E27FC236}">
                <a16:creationId xmlns:a16="http://schemas.microsoft.com/office/drawing/2014/main" id="{61B2D310-76EB-7F98-5B11-A990B2BDF32F}"/>
              </a:ext>
            </a:extLst>
          </p:cNvPr>
          <p:cNvSpPr/>
          <p:nvPr/>
        </p:nvSpPr>
        <p:spPr>
          <a:xfrm>
            <a:off x="3345693" y="7180638"/>
            <a:ext cx="8570353" cy="2324124"/>
          </a:xfrm>
          <a:prstGeom prst="roundRect">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43795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052A-A0A8-2978-D613-33025B5B163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73A0A98-46A1-F81B-4573-100747A9F305}"/>
              </a:ext>
            </a:extLst>
          </p:cNvPr>
          <p:cNvGrpSpPr/>
          <p:nvPr/>
        </p:nvGrpSpPr>
        <p:grpSpPr>
          <a:xfrm>
            <a:off x="-4274914" y="-171000"/>
            <a:ext cx="7200000" cy="7209000"/>
            <a:chOff x="-4274914" y="-171000"/>
            <a:chExt cx="7200000" cy="7209000"/>
          </a:xfrm>
        </p:grpSpPr>
        <p:sp>
          <p:nvSpPr>
            <p:cNvPr id="3" name="Oval 2">
              <a:extLst>
                <a:ext uri="{FF2B5EF4-FFF2-40B4-BE49-F238E27FC236}">
                  <a16:creationId xmlns:a16="http://schemas.microsoft.com/office/drawing/2014/main" id="{4AAB1F15-1151-867E-3475-0D2898209EF5}"/>
                </a:ext>
              </a:extLst>
            </p:cNvPr>
            <p:cNvSpPr/>
            <p:nvPr/>
          </p:nvSpPr>
          <p:spPr>
            <a:xfrm>
              <a:off x="-2618914" y="1485000"/>
              <a:ext cx="3888000" cy="3888000"/>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93D1631E-2451-CDC9-3A62-7358F7889F4A}"/>
                </a:ext>
              </a:extLst>
            </p:cNvPr>
            <p:cNvGrpSpPr/>
            <p:nvPr/>
          </p:nvGrpSpPr>
          <p:grpSpPr>
            <a:xfrm>
              <a:off x="-4274914" y="-171000"/>
              <a:ext cx="7200000" cy="7209000"/>
              <a:chOff x="-4274914" y="-171000"/>
              <a:chExt cx="7200000" cy="7209000"/>
            </a:xfrm>
          </p:grpSpPr>
          <p:sp>
            <p:nvSpPr>
              <p:cNvPr id="4" name="Circle: Hollow 3">
                <a:extLst>
                  <a:ext uri="{FF2B5EF4-FFF2-40B4-BE49-F238E27FC236}">
                    <a16:creationId xmlns:a16="http://schemas.microsoft.com/office/drawing/2014/main" id="{BFE0DD54-B068-583E-D10F-BCE2B669851A}"/>
                  </a:ext>
                </a:extLst>
              </p:cNvPr>
              <p:cNvSpPr/>
              <p:nvPr/>
            </p:nvSpPr>
            <p:spPr>
              <a:xfrm>
                <a:off x="-4274914" y="-171000"/>
                <a:ext cx="7200000" cy="7200000"/>
              </a:xfrm>
              <a:prstGeom prst="donut">
                <a:avLst>
                  <a:gd name="adj" fmla="val 17674"/>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Flowchart: Connector 4">
                <a:extLst>
                  <a:ext uri="{FF2B5EF4-FFF2-40B4-BE49-F238E27FC236}">
                    <a16:creationId xmlns:a16="http://schemas.microsoft.com/office/drawing/2014/main" id="{4A30F873-F984-7F03-F67F-0574B1E6341F}"/>
                  </a:ext>
                </a:extLst>
              </p:cNvPr>
              <p:cNvSpPr/>
              <p:nvPr/>
            </p:nvSpPr>
            <p:spPr>
              <a:xfrm>
                <a:off x="1629086" y="2781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01</a:t>
                </a:r>
              </a:p>
            </p:txBody>
          </p:sp>
          <p:sp>
            <p:nvSpPr>
              <p:cNvPr id="6" name="Flowchart: Connector 5">
                <a:extLst>
                  <a:ext uri="{FF2B5EF4-FFF2-40B4-BE49-F238E27FC236}">
                    <a16:creationId xmlns:a16="http://schemas.microsoft.com/office/drawing/2014/main" id="{CD024740-134B-021A-0BD0-84CB8DCAEE9C}"/>
                  </a:ext>
                </a:extLst>
              </p:cNvPr>
              <p:cNvSpPr/>
              <p:nvPr/>
            </p:nvSpPr>
            <p:spPr>
              <a:xfrm rot="5400000">
                <a:off x="-1322914" y="5742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02</a:t>
                </a:r>
              </a:p>
            </p:txBody>
          </p:sp>
          <p:sp>
            <p:nvSpPr>
              <p:cNvPr id="8" name="Flowchart: Connector 7">
                <a:extLst>
                  <a:ext uri="{FF2B5EF4-FFF2-40B4-BE49-F238E27FC236}">
                    <a16:creationId xmlns:a16="http://schemas.microsoft.com/office/drawing/2014/main" id="{E5A24ABE-B1D9-1E4F-8ABB-36A207290DB2}"/>
                  </a:ext>
                </a:extLst>
              </p:cNvPr>
              <p:cNvSpPr/>
              <p:nvPr/>
            </p:nvSpPr>
            <p:spPr>
              <a:xfrm rot="10800000">
                <a:off x="-4274914" y="2781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00" dirty="0">
                    <a:latin typeface="Bahnschrift SemiBold" panose="020B0502040204020203" pitchFamily="34" charset="0"/>
                  </a:rPr>
                  <a:t>03</a:t>
                </a:r>
              </a:p>
            </p:txBody>
          </p:sp>
          <p:sp>
            <p:nvSpPr>
              <p:cNvPr id="9" name="Flowchart: Connector 8">
                <a:extLst>
                  <a:ext uri="{FF2B5EF4-FFF2-40B4-BE49-F238E27FC236}">
                    <a16:creationId xmlns:a16="http://schemas.microsoft.com/office/drawing/2014/main" id="{0BB41042-7D46-7DC6-13A5-76724ABBC52E}"/>
                  </a:ext>
                </a:extLst>
              </p:cNvPr>
              <p:cNvSpPr/>
              <p:nvPr/>
            </p:nvSpPr>
            <p:spPr>
              <a:xfrm rot="16200000">
                <a:off x="-1322914" y="-171000"/>
                <a:ext cx="1296000" cy="1296000"/>
              </a:xfrm>
              <a:prstGeom prst="flowChartConnector">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100" dirty="0">
                    <a:latin typeface="Bahnschrift SemiBold" panose="020B0502040204020203" pitchFamily="34" charset="0"/>
                  </a:rPr>
                  <a:t>04</a:t>
                </a:r>
              </a:p>
            </p:txBody>
          </p:sp>
        </p:grpSp>
      </p:grpSp>
      <p:sp>
        <p:nvSpPr>
          <p:cNvPr id="11" name="TextBox 10">
            <a:extLst>
              <a:ext uri="{FF2B5EF4-FFF2-40B4-BE49-F238E27FC236}">
                <a16:creationId xmlns:a16="http://schemas.microsoft.com/office/drawing/2014/main" id="{61FEDEB6-6739-17C0-D1D8-3B69DFC1C577}"/>
              </a:ext>
            </a:extLst>
          </p:cNvPr>
          <p:cNvSpPr txBox="1"/>
          <p:nvPr/>
        </p:nvSpPr>
        <p:spPr>
          <a:xfrm>
            <a:off x="2857076" y="1559176"/>
            <a:ext cx="8337647" cy="923330"/>
          </a:xfrm>
          <a:prstGeom prst="rect">
            <a:avLst/>
          </a:prstGeom>
          <a:noFill/>
        </p:spPr>
        <p:txBody>
          <a:bodyPr wrap="square" rtlCol="0">
            <a:spAutoFit/>
          </a:bodyPr>
          <a:lstStyle/>
          <a:p>
            <a:pPr algn="ctr"/>
            <a:r>
              <a:rPr lang="fr-FR" sz="5400" b="1" dirty="0">
                <a:solidFill>
                  <a:schemeClr val="accent4">
                    <a:lumMod val="50000"/>
                  </a:schemeClr>
                </a:solidFill>
                <a:latin typeface="Rockwell" panose="02060603020205020403" pitchFamily="18" charset="0"/>
              </a:rPr>
              <a:t>SQL Injection </a:t>
            </a:r>
          </a:p>
        </p:txBody>
      </p:sp>
      <p:grpSp>
        <p:nvGrpSpPr>
          <p:cNvPr id="23" name="Group 22">
            <a:extLst>
              <a:ext uri="{FF2B5EF4-FFF2-40B4-BE49-F238E27FC236}">
                <a16:creationId xmlns:a16="http://schemas.microsoft.com/office/drawing/2014/main" id="{1AAE00A8-9181-5BE0-4093-CEE2D5CD6E1B}"/>
              </a:ext>
            </a:extLst>
          </p:cNvPr>
          <p:cNvGrpSpPr/>
          <p:nvPr/>
        </p:nvGrpSpPr>
        <p:grpSpPr>
          <a:xfrm>
            <a:off x="10352220" y="0"/>
            <a:ext cx="1839780" cy="1872944"/>
            <a:chOff x="10352220" y="0"/>
            <a:chExt cx="1839780" cy="1872944"/>
          </a:xfrm>
          <a:solidFill>
            <a:schemeClr val="accent4">
              <a:lumMod val="75000"/>
            </a:schemeClr>
          </a:solidFill>
        </p:grpSpPr>
        <p:sp>
          <p:nvSpPr>
            <p:cNvPr id="21" name="Isosceles Triangle 20">
              <a:extLst>
                <a:ext uri="{FF2B5EF4-FFF2-40B4-BE49-F238E27FC236}">
                  <a16:creationId xmlns:a16="http://schemas.microsoft.com/office/drawing/2014/main" id="{75C1A65E-D4E3-F381-1D49-557CE94D79B9}"/>
                </a:ext>
              </a:extLst>
            </p:cNvPr>
            <p:cNvSpPr/>
            <p:nvPr/>
          </p:nvSpPr>
          <p:spPr>
            <a:xfrm rot="16200000">
              <a:off x="10707000" y="0"/>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7F015C43-CEE5-7136-9453-73F43EDCD08B}"/>
                </a:ext>
              </a:extLst>
            </p:cNvPr>
            <p:cNvSpPr/>
            <p:nvPr/>
          </p:nvSpPr>
          <p:spPr>
            <a:xfrm rot="16200000">
              <a:off x="10352220" y="387944"/>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5">
            <a:extLst>
              <a:ext uri="{FF2B5EF4-FFF2-40B4-BE49-F238E27FC236}">
                <a16:creationId xmlns:a16="http://schemas.microsoft.com/office/drawing/2014/main" id="{B872D1E7-581A-2ACF-0967-4588C22F2266}"/>
              </a:ext>
            </a:extLst>
          </p:cNvPr>
          <p:cNvPicPr>
            <a:picLocks noChangeAspect="1"/>
          </p:cNvPicPr>
          <p:nvPr/>
        </p:nvPicPr>
        <p:blipFill>
          <a:blip r:embed="rId2"/>
          <a:stretch>
            <a:fillRect/>
          </a:stretch>
        </p:blipFill>
        <p:spPr>
          <a:xfrm>
            <a:off x="10430933" y="1548004"/>
            <a:ext cx="1148510" cy="1148510"/>
          </a:xfrm>
          <a:prstGeom prst="rect">
            <a:avLst/>
          </a:prstGeom>
        </p:spPr>
      </p:pic>
      <p:sp>
        <p:nvSpPr>
          <p:cNvPr id="14" name="Rectangle: Rounded Corners 6">
            <a:extLst>
              <a:ext uri="{FF2B5EF4-FFF2-40B4-BE49-F238E27FC236}">
                <a16:creationId xmlns:a16="http://schemas.microsoft.com/office/drawing/2014/main" id="{1BD18C34-067C-99EF-EDAD-556EB0A7A80D}"/>
              </a:ext>
            </a:extLst>
          </p:cNvPr>
          <p:cNvSpPr/>
          <p:nvPr/>
        </p:nvSpPr>
        <p:spPr>
          <a:xfrm>
            <a:off x="3345693" y="3429000"/>
            <a:ext cx="8570353" cy="2437617"/>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5" name="Picture 4">
            <a:extLst>
              <a:ext uri="{FF2B5EF4-FFF2-40B4-BE49-F238E27FC236}">
                <a16:creationId xmlns:a16="http://schemas.microsoft.com/office/drawing/2014/main" id="{7F2B67EC-11FF-EEEA-CC5B-83E9411013AA}"/>
              </a:ext>
            </a:extLst>
          </p:cNvPr>
          <p:cNvPicPr>
            <a:picLocks noChangeAspect="1"/>
          </p:cNvPicPr>
          <p:nvPr/>
        </p:nvPicPr>
        <p:blipFill>
          <a:blip r:embed="rId4"/>
          <a:stretch>
            <a:fillRect/>
          </a:stretch>
        </p:blipFill>
        <p:spPr>
          <a:xfrm>
            <a:off x="12801903" y="1479683"/>
            <a:ext cx="1091378" cy="1091378"/>
          </a:xfrm>
          <a:prstGeom prst="rect">
            <a:avLst/>
          </a:prstGeom>
        </p:spPr>
      </p:pic>
      <p:sp>
        <p:nvSpPr>
          <p:cNvPr id="16" name="TextBox 10">
            <a:extLst>
              <a:ext uri="{FF2B5EF4-FFF2-40B4-BE49-F238E27FC236}">
                <a16:creationId xmlns:a16="http://schemas.microsoft.com/office/drawing/2014/main" id="{6632C8B4-34E0-5128-71BA-FEF33B599E86}"/>
              </a:ext>
            </a:extLst>
          </p:cNvPr>
          <p:cNvSpPr txBox="1"/>
          <p:nvPr/>
        </p:nvSpPr>
        <p:spPr>
          <a:xfrm>
            <a:off x="2490896" y="-2017558"/>
            <a:ext cx="8337647" cy="769441"/>
          </a:xfrm>
          <a:prstGeom prst="rect">
            <a:avLst/>
          </a:prstGeom>
          <a:noFill/>
        </p:spPr>
        <p:txBody>
          <a:bodyPr wrap="square" rtlCol="0">
            <a:spAutoFit/>
          </a:bodyPr>
          <a:lstStyle/>
          <a:p>
            <a:pPr algn="ctr"/>
            <a:r>
              <a:rPr lang="fr-FR" sz="4400" b="1" dirty="0">
                <a:solidFill>
                  <a:schemeClr val="accent6">
                    <a:lumMod val="50000"/>
                  </a:schemeClr>
                </a:solidFill>
                <a:latin typeface="Rockwell" panose="02060603020205020403" pitchFamily="18" charset="0"/>
              </a:rPr>
              <a:t>Man-in-the-Middle </a:t>
            </a:r>
          </a:p>
        </p:txBody>
      </p:sp>
      <p:sp>
        <p:nvSpPr>
          <p:cNvPr id="20" name="Rectangle: Rounded Corners 6">
            <a:extLst>
              <a:ext uri="{FF2B5EF4-FFF2-40B4-BE49-F238E27FC236}">
                <a16:creationId xmlns:a16="http://schemas.microsoft.com/office/drawing/2014/main" id="{E1360A89-00ED-A802-92A7-271B43DE4EC7}"/>
              </a:ext>
            </a:extLst>
          </p:cNvPr>
          <p:cNvSpPr/>
          <p:nvPr/>
        </p:nvSpPr>
        <p:spPr>
          <a:xfrm>
            <a:off x="3144402" y="7598729"/>
            <a:ext cx="8406381" cy="2460865"/>
          </a:xfrm>
          <a:prstGeom prst="roundRect">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Rectangle: Rounded Corners 7">
            <a:extLst>
              <a:ext uri="{FF2B5EF4-FFF2-40B4-BE49-F238E27FC236}">
                <a16:creationId xmlns:a16="http://schemas.microsoft.com/office/drawing/2014/main" id="{25728B56-622E-C030-2426-1C66447EA8EA}"/>
              </a:ext>
            </a:extLst>
          </p:cNvPr>
          <p:cNvSpPr/>
          <p:nvPr/>
        </p:nvSpPr>
        <p:spPr>
          <a:xfrm>
            <a:off x="16449424" y="1717158"/>
            <a:ext cx="3062177" cy="3423683"/>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Rounded Corners 9">
            <a:extLst>
              <a:ext uri="{FF2B5EF4-FFF2-40B4-BE49-F238E27FC236}">
                <a16:creationId xmlns:a16="http://schemas.microsoft.com/office/drawing/2014/main" id="{7CBC0032-02D2-5F86-85F6-95AC082E4F5B}"/>
              </a:ext>
            </a:extLst>
          </p:cNvPr>
          <p:cNvSpPr/>
          <p:nvPr/>
        </p:nvSpPr>
        <p:spPr>
          <a:xfrm>
            <a:off x="20712813" y="1717158"/>
            <a:ext cx="3062177" cy="3423683"/>
          </a:xfrm>
          <a:prstGeom prst="round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Rectangle: Rounded Corners 10">
            <a:extLst>
              <a:ext uri="{FF2B5EF4-FFF2-40B4-BE49-F238E27FC236}">
                <a16:creationId xmlns:a16="http://schemas.microsoft.com/office/drawing/2014/main" id="{835264BC-E8D8-F454-34E3-6845BD0B1A39}"/>
              </a:ext>
            </a:extLst>
          </p:cNvPr>
          <p:cNvSpPr/>
          <p:nvPr/>
        </p:nvSpPr>
        <p:spPr>
          <a:xfrm>
            <a:off x="24976203" y="1717158"/>
            <a:ext cx="3062177" cy="3423683"/>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 1">
            <a:extLst>
              <a:ext uri="{FF2B5EF4-FFF2-40B4-BE49-F238E27FC236}">
                <a16:creationId xmlns:a16="http://schemas.microsoft.com/office/drawing/2014/main" id="{97735627-FCD2-F06A-28FB-6E0BCE094BC6}"/>
              </a:ext>
            </a:extLst>
          </p:cNvPr>
          <p:cNvSpPr/>
          <p:nvPr/>
        </p:nvSpPr>
        <p:spPr>
          <a:xfrm>
            <a:off x="16871162" y="2062578"/>
            <a:ext cx="2316954"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Modèle de Menaces</a:t>
            </a:r>
            <a:r>
              <a:rPr lang="en-US" sz="2000" dirty="0">
                <a:latin typeface="Bahnschrift SemiBold" panose="020B0502040204020203" pitchFamily="34" charset="0"/>
                <a:ea typeface="IBM Plex Sans Medium" pitchFamily="34" charset="-122"/>
                <a:cs typeface="IBM Plex Sans Medium" pitchFamily="34" charset="-120"/>
              </a:rPr>
              <a:t> </a:t>
            </a:r>
            <a:endParaRPr lang="en-US" sz="2000" dirty="0">
              <a:latin typeface="Bahnschrift SemiBold" panose="020B0502040204020203" pitchFamily="34" charset="0"/>
            </a:endParaRPr>
          </a:p>
        </p:txBody>
      </p:sp>
      <p:sp>
        <p:nvSpPr>
          <p:cNvPr id="33" name="TextBox 20">
            <a:extLst>
              <a:ext uri="{FF2B5EF4-FFF2-40B4-BE49-F238E27FC236}">
                <a16:creationId xmlns:a16="http://schemas.microsoft.com/office/drawing/2014/main" id="{78CBC6B5-1637-961B-5EC4-E3C906F13A8A}"/>
              </a:ext>
            </a:extLst>
          </p:cNvPr>
          <p:cNvSpPr txBox="1"/>
          <p:nvPr/>
        </p:nvSpPr>
        <p:spPr>
          <a:xfrm>
            <a:off x="16900074" y="2780251"/>
            <a:ext cx="2160873"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 système fait face à des menaces externes et internes visant à manipuler les alertes ou accéder à des données sensibles.</a:t>
            </a:r>
            <a:endParaRPr lang="en-US" sz="1400" dirty="0">
              <a:latin typeface="Bahnschrift SemiBold" panose="020B0502040204020203" pitchFamily="34" charset="0"/>
            </a:endParaRPr>
          </a:p>
        </p:txBody>
      </p:sp>
      <p:sp>
        <p:nvSpPr>
          <p:cNvPr id="34" name="Text 1">
            <a:extLst>
              <a:ext uri="{FF2B5EF4-FFF2-40B4-BE49-F238E27FC236}">
                <a16:creationId xmlns:a16="http://schemas.microsoft.com/office/drawing/2014/main" id="{60924FB9-1E13-BE1A-A502-136445F19D5E}"/>
              </a:ext>
            </a:extLst>
          </p:cNvPr>
          <p:cNvSpPr/>
          <p:nvPr/>
        </p:nvSpPr>
        <p:spPr>
          <a:xfrm>
            <a:off x="21240992" y="2062578"/>
            <a:ext cx="2005820" cy="276177"/>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Surface d’Attaque </a:t>
            </a:r>
            <a:endParaRPr lang="en-US" sz="2000" dirty="0">
              <a:latin typeface="Bahnschrift SemiBold" panose="020B0502040204020203" pitchFamily="34" charset="0"/>
            </a:endParaRPr>
          </a:p>
        </p:txBody>
      </p:sp>
      <p:sp>
        <p:nvSpPr>
          <p:cNvPr id="35" name="TextBox 24">
            <a:extLst>
              <a:ext uri="{FF2B5EF4-FFF2-40B4-BE49-F238E27FC236}">
                <a16:creationId xmlns:a16="http://schemas.microsoft.com/office/drawing/2014/main" id="{EB98D6FD-C071-9F28-C1BC-1A2ADEF9C79D}"/>
              </a:ext>
            </a:extLst>
          </p:cNvPr>
          <p:cNvSpPr txBox="1"/>
          <p:nvPr/>
        </p:nvSpPr>
        <p:spPr>
          <a:xfrm>
            <a:off x="20712813" y="2826267"/>
            <a:ext cx="3062177" cy="1815882"/>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L’API REST et le dashboard exposés, ainsi que la base de données, les capteurs et les sirènes, constituent des points critiques à haut risque en cas de compromission interne ou externe.</a:t>
            </a:r>
            <a:endParaRPr lang="en-US" sz="1400" dirty="0">
              <a:latin typeface="Bahnschrift SemiBold" panose="020B0502040204020203" pitchFamily="34" charset="0"/>
            </a:endParaRPr>
          </a:p>
        </p:txBody>
      </p:sp>
      <p:sp>
        <p:nvSpPr>
          <p:cNvPr id="36" name="Text 1">
            <a:extLst>
              <a:ext uri="{FF2B5EF4-FFF2-40B4-BE49-F238E27FC236}">
                <a16:creationId xmlns:a16="http://schemas.microsoft.com/office/drawing/2014/main" id="{5B8119C4-D082-CBA6-1C9B-2B911237FDE3}"/>
              </a:ext>
            </a:extLst>
          </p:cNvPr>
          <p:cNvSpPr/>
          <p:nvPr/>
        </p:nvSpPr>
        <p:spPr>
          <a:xfrm>
            <a:off x="25506956" y="2055931"/>
            <a:ext cx="2000665" cy="280359"/>
          </a:xfrm>
          <a:prstGeom prst="rect">
            <a:avLst/>
          </a:prstGeom>
          <a:noFill/>
          <a:ln/>
        </p:spPr>
        <p:txBody>
          <a:bodyPr wrap="none" lIns="0" tIns="0" rIns="0" bIns="0" rtlCol="0" anchor="t"/>
          <a:lstStyle/>
          <a:p>
            <a:pPr marL="0" indent="0" algn="l">
              <a:lnSpc>
                <a:spcPts val="1950"/>
              </a:lnSpc>
              <a:buNone/>
            </a:pPr>
            <a:r>
              <a:rPr lang="en-US" sz="2000" dirty="0">
                <a:solidFill>
                  <a:schemeClr val="bg1"/>
                </a:solidFill>
                <a:latin typeface="Bahnschrift SemiBold" panose="020B0502040204020203" pitchFamily="34" charset="0"/>
                <a:ea typeface="IBM Plex Sans Medium" pitchFamily="34" charset="-122"/>
                <a:cs typeface="IBM Plex Sans Medium" pitchFamily="34" charset="-120"/>
              </a:rPr>
              <a:t>Méthode DREAD</a:t>
            </a:r>
            <a:endParaRPr lang="en-US" sz="2000" dirty="0">
              <a:latin typeface="Bahnschrift SemiBold" panose="020B0502040204020203" pitchFamily="34" charset="0"/>
            </a:endParaRPr>
          </a:p>
        </p:txBody>
      </p:sp>
      <p:sp>
        <p:nvSpPr>
          <p:cNvPr id="37" name="TextBox 30">
            <a:extLst>
              <a:ext uri="{FF2B5EF4-FFF2-40B4-BE49-F238E27FC236}">
                <a16:creationId xmlns:a16="http://schemas.microsoft.com/office/drawing/2014/main" id="{9212A7F4-0BF3-340F-A838-6FBA5E1837CE}"/>
              </a:ext>
            </a:extLst>
          </p:cNvPr>
          <p:cNvSpPr txBox="1"/>
          <p:nvPr/>
        </p:nvSpPr>
        <p:spPr>
          <a:xfrm>
            <a:off x="24976202" y="2703297"/>
            <a:ext cx="3062174" cy="2308324"/>
          </a:xfrm>
          <a:prstGeom prst="rect">
            <a:avLst/>
          </a:prstGeom>
          <a:noFill/>
        </p:spPr>
        <p:txBody>
          <a:bodyPr wrap="square" rtlCol="0">
            <a:spAutoFit/>
          </a:bodyPr>
          <a:lstStyle/>
          <a:p>
            <a:pPr algn="ctr"/>
            <a:r>
              <a:rPr lang="fr-FR" sz="1600" dirty="0">
                <a:solidFill>
                  <a:schemeClr val="bg1"/>
                </a:solidFill>
                <a:latin typeface="Bahnschrift SemiBold" panose="020B0502040204020203" pitchFamily="34" charset="0"/>
                <a:ea typeface="Roboto" pitchFamily="34" charset="-122"/>
                <a:cs typeface="Roboto" pitchFamily="34" charset="-120"/>
              </a:rPr>
              <a:t>Les risques les plus élevés sont la falsification des alertes et les injections SQL (8.4), suivis des attaques par déni de service (8.2), puis de l’accès non autorisé, de l’injection de données capteurs (7.2–7.0) et des attaques Man-in-the-Middle (6.8).</a:t>
            </a:r>
          </a:p>
        </p:txBody>
      </p:sp>
      <p:sp>
        <p:nvSpPr>
          <p:cNvPr id="39" name="Rectangle: Rounded Corners 11">
            <a:extLst>
              <a:ext uri="{FF2B5EF4-FFF2-40B4-BE49-F238E27FC236}">
                <a16:creationId xmlns:a16="http://schemas.microsoft.com/office/drawing/2014/main" id="{91D6FB96-D677-888F-2087-6884481537C7}"/>
              </a:ext>
            </a:extLst>
          </p:cNvPr>
          <p:cNvSpPr/>
          <p:nvPr/>
        </p:nvSpPr>
        <p:spPr>
          <a:xfrm>
            <a:off x="16235418" y="5656522"/>
            <a:ext cx="11588956" cy="64633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Oval 12">
            <a:extLst>
              <a:ext uri="{FF2B5EF4-FFF2-40B4-BE49-F238E27FC236}">
                <a16:creationId xmlns:a16="http://schemas.microsoft.com/office/drawing/2014/main" id="{6A016602-8DBF-0F36-F342-7B8D37D9C242}"/>
              </a:ext>
            </a:extLst>
          </p:cNvPr>
          <p:cNvSpPr/>
          <p:nvPr/>
        </p:nvSpPr>
        <p:spPr>
          <a:xfrm>
            <a:off x="25239355" y="5585716"/>
            <a:ext cx="1329639" cy="787941"/>
          </a:xfrm>
          <a:prstGeom prst="ellipse">
            <a:avLst/>
          </a:prstGeom>
          <a:solidFill>
            <a:srgbClr val="2F55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82039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99F4D-4844-720E-D286-72F44FF9CE3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490183-73D5-CD75-4A23-0386E08254E0}"/>
              </a:ext>
            </a:extLst>
          </p:cNvPr>
          <p:cNvSpPr txBox="1"/>
          <p:nvPr/>
        </p:nvSpPr>
        <p:spPr>
          <a:xfrm>
            <a:off x="2490896" y="1795685"/>
            <a:ext cx="8337647" cy="769441"/>
          </a:xfrm>
          <a:prstGeom prst="rect">
            <a:avLst/>
          </a:prstGeom>
          <a:noFill/>
        </p:spPr>
        <p:txBody>
          <a:bodyPr wrap="square" rtlCol="0">
            <a:spAutoFit/>
          </a:bodyPr>
          <a:lstStyle/>
          <a:p>
            <a:pPr algn="ctr"/>
            <a:r>
              <a:rPr lang="fr-FR" sz="4400" b="1" dirty="0">
                <a:solidFill>
                  <a:schemeClr val="accent6">
                    <a:lumMod val="50000"/>
                  </a:schemeClr>
                </a:solidFill>
                <a:latin typeface="Rockwell" panose="02060603020205020403" pitchFamily="18" charset="0"/>
              </a:rPr>
              <a:t>Man-in-the-Middle </a:t>
            </a:r>
          </a:p>
        </p:txBody>
      </p:sp>
      <p:grpSp>
        <p:nvGrpSpPr>
          <p:cNvPr id="17" name="Group 16">
            <a:extLst>
              <a:ext uri="{FF2B5EF4-FFF2-40B4-BE49-F238E27FC236}">
                <a16:creationId xmlns:a16="http://schemas.microsoft.com/office/drawing/2014/main" id="{8B1641C2-8D86-F708-B7BC-DCBF78AFD861}"/>
              </a:ext>
            </a:extLst>
          </p:cNvPr>
          <p:cNvGrpSpPr/>
          <p:nvPr/>
        </p:nvGrpSpPr>
        <p:grpSpPr>
          <a:xfrm rot="16200000">
            <a:off x="-4274914" y="-171000"/>
            <a:ext cx="7200000" cy="7209000"/>
            <a:chOff x="-4274914" y="-171000"/>
            <a:chExt cx="7200000" cy="7209000"/>
          </a:xfrm>
        </p:grpSpPr>
        <p:sp>
          <p:nvSpPr>
            <p:cNvPr id="18" name="Oval 17">
              <a:extLst>
                <a:ext uri="{FF2B5EF4-FFF2-40B4-BE49-F238E27FC236}">
                  <a16:creationId xmlns:a16="http://schemas.microsoft.com/office/drawing/2014/main" id="{DBC55ED4-6617-8E8A-0872-23C9645AA87F}"/>
                </a:ext>
              </a:extLst>
            </p:cNvPr>
            <p:cNvSpPr/>
            <p:nvPr/>
          </p:nvSpPr>
          <p:spPr>
            <a:xfrm>
              <a:off x="-2618914" y="1485000"/>
              <a:ext cx="3888000" cy="3888000"/>
            </a:xfrm>
            <a:prstGeom prst="ellipse">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275673D2-136C-D8E5-48EA-A50C0DFB8B91}"/>
                </a:ext>
              </a:extLst>
            </p:cNvPr>
            <p:cNvGrpSpPr/>
            <p:nvPr/>
          </p:nvGrpSpPr>
          <p:grpSpPr>
            <a:xfrm>
              <a:off x="-4274914" y="-171000"/>
              <a:ext cx="7200000" cy="7209000"/>
              <a:chOff x="-4274914" y="-171000"/>
              <a:chExt cx="7200000" cy="7209000"/>
            </a:xfrm>
          </p:grpSpPr>
          <p:sp>
            <p:nvSpPr>
              <p:cNvPr id="20" name="Circle: Hollow 19">
                <a:extLst>
                  <a:ext uri="{FF2B5EF4-FFF2-40B4-BE49-F238E27FC236}">
                    <a16:creationId xmlns:a16="http://schemas.microsoft.com/office/drawing/2014/main" id="{632821FC-3B0D-4983-4045-550A2AA7F12A}"/>
                  </a:ext>
                </a:extLst>
              </p:cNvPr>
              <p:cNvSpPr/>
              <p:nvPr/>
            </p:nvSpPr>
            <p:spPr>
              <a:xfrm>
                <a:off x="-4274914" y="-171000"/>
                <a:ext cx="7200000" cy="7200000"/>
              </a:xfrm>
              <a:prstGeom prst="donut">
                <a:avLst>
                  <a:gd name="adj" fmla="val 17674"/>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Flowchart: Connector 20">
                <a:extLst>
                  <a:ext uri="{FF2B5EF4-FFF2-40B4-BE49-F238E27FC236}">
                    <a16:creationId xmlns:a16="http://schemas.microsoft.com/office/drawing/2014/main" id="{BFCD9899-AE3C-B135-6CAF-F030ECA06A76}"/>
                  </a:ext>
                </a:extLst>
              </p:cNvPr>
              <p:cNvSpPr/>
              <p:nvPr/>
            </p:nvSpPr>
            <p:spPr>
              <a:xfrm>
                <a:off x="1629086" y="2781000"/>
                <a:ext cx="1296000" cy="1296000"/>
              </a:xfrm>
              <a:prstGeom prst="flowChartConnector">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01</a:t>
                </a:r>
              </a:p>
            </p:txBody>
          </p:sp>
          <p:sp>
            <p:nvSpPr>
              <p:cNvPr id="22" name="Flowchart: Connector 21">
                <a:extLst>
                  <a:ext uri="{FF2B5EF4-FFF2-40B4-BE49-F238E27FC236}">
                    <a16:creationId xmlns:a16="http://schemas.microsoft.com/office/drawing/2014/main" id="{6414124B-3D11-3C2B-9CBF-909FBD4F8588}"/>
                  </a:ext>
                </a:extLst>
              </p:cNvPr>
              <p:cNvSpPr/>
              <p:nvPr/>
            </p:nvSpPr>
            <p:spPr>
              <a:xfrm rot="5400000">
                <a:off x="-1322914" y="5742000"/>
                <a:ext cx="1296000" cy="1296000"/>
              </a:xfrm>
              <a:prstGeom prst="flowChartConnector">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02</a:t>
                </a:r>
              </a:p>
            </p:txBody>
          </p:sp>
          <p:sp>
            <p:nvSpPr>
              <p:cNvPr id="23" name="Flowchart: Connector 22">
                <a:extLst>
                  <a:ext uri="{FF2B5EF4-FFF2-40B4-BE49-F238E27FC236}">
                    <a16:creationId xmlns:a16="http://schemas.microsoft.com/office/drawing/2014/main" id="{EF5D3D60-644B-E48C-936A-277C9010E60F}"/>
                  </a:ext>
                </a:extLst>
              </p:cNvPr>
              <p:cNvSpPr/>
              <p:nvPr/>
            </p:nvSpPr>
            <p:spPr>
              <a:xfrm rot="10800000">
                <a:off x="-4274914" y="2781000"/>
                <a:ext cx="1296000" cy="1296000"/>
              </a:xfrm>
              <a:prstGeom prst="flowChartConnector">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00" dirty="0">
                    <a:latin typeface="Bahnschrift SemiBold" panose="020B0502040204020203" pitchFamily="34" charset="0"/>
                  </a:rPr>
                  <a:t>03</a:t>
                </a:r>
              </a:p>
            </p:txBody>
          </p:sp>
          <p:sp>
            <p:nvSpPr>
              <p:cNvPr id="24" name="Flowchart: Connector 23">
                <a:extLst>
                  <a:ext uri="{FF2B5EF4-FFF2-40B4-BE49-F238E27FC236}">
                    <a16:creationId xmlns:a16="http://schemas.microsoft.com/office/drawing/2014/main" id="{47BAB809-2C75-1DCE-88DE-C4832A93AA0C}"/>
                  </a:ext>
                </a:extLst>
              </p:cNvPr>
              <p:cNvSpPr/>
              <p:nvPr/>
            </p:nvSpPr>
            <p:spPr>
              <a:xfrm rot="16200000">
                <a:off x="-1322914" y="-171000"/>
                <a:ext cx="1296000" cy="1296000"/>
              </a:xfrm>
              <a:prstGeom prst="flowChartConnector">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100" dirty="0">
                    <a:latin typeface="Bahnschrift SemiBold" panose="020B0502040204020203" pitchFamily="34" charset="0"/>
                  </a:rPr>
                  <a:t>04</a:t>
                </a:r>
              </a:p>
            </p:txBody>
          </p:sp>
        </p:grpSp>
      </p:grpSp>
      <p:grpSp>
        <p:nvGrpSpPr>
          <p:cNvPr id="27" name="Group 26">
            <a:extLst>
              <a:ext uri="{FF2B5EF4-FFF2-40B4-BE49-F238E27FC236}">
                <a16:creationId xmlns:a16="http://schemas.microsoft.com/office/drawing/2014/main" id="{A433564C-F6C2-66B7-C645-DA890AA3B00F}"/>
              </a:ext>
            </a:extLst>
          </p:cNvPr>
          <p:cNvGrpSpPr/>
          <p:nvPr/>
        </p:nvGrpSpPr>
        <p:grpSpPr>
          <a:xfrm>
            <a:off x="10352220" y="0"/>
            <a:ext cx="1839780" cy="1872944"/>
            <a:chOff x="10352220" y="0"/>
            <a:chExt cx="1839780" cy="1872944"/>
          </a:xfrm>
          <a:solidFill>
            <a:schemeClr val="accent6">
              <a:lumMod val="75000"/>
            </a:schemeClr>
          </a:solidFill>
        </p:grpSpPr>
        <p:sp>
          <p:nvSpPr>
            <p:cNvPr id="28" name="Isosceles Triangle 27">
              <a:extLst>
                <a:ext uri="{FF2B5EF4-FFF2-40B4-BE49-F238E27FC236}">
                  <a16:creationId xmlns:a16="http://schemas.microsoft.com/office/drawing/2014/main" id="{40232BAA-F74D-422E-9293-1B4D2FA5F6DA}"/>
                </a:ext>
              </a:extLst>
            </p:cNvPr>
            <p:cNvSpPr/>
            <p:nvPr/>
          </p:nvSpPr>
          <p:spPr>
            <a:xfrm rot="16200000">
              <a:off x="10707000" y="0"/>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97A76B62-2F79-4A1E-123B-4382819EF6C6}"/>
                </a:ext>
              </a:extLst>
            </p:cNvPr>
            <p:cNvSpPr/>
            <p:nvPr/>
          </p:nvSpPr>
          <p:spPr>
            <a:xfrm rot="16200000">
              <a:off x="10352220" y="387944"/>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FFD99FC1-07BB-1580-04F0-B3A6CDD617BD}"/>
              </a:ext>
            </a:extLst>
          </p:cNvPr>
          <p:cNvSpPr txBox="1"/>
          <p:nvPr/>
        </p:nvSpPr>
        <p:spPr>
          <a:xfrm>
            <a:off x="4911807" y="7839286"/>
            <a:ext cx="4813117" cy="769441"/>
          </a:xfrm>
          <a:prstGeom prst="rect">
            <a:avLst/>
          </a:prstGeom>
          <a:noFill/>
        </p:spPr>
        <p:txBody>
          <a:bodyPr wrap="square" rtlCol="0">
            <a:spAutoFit/>
          </a:bodyPr>
          <a:lstStyle/>
          <a:p>
            <a:r>
              <a:rPr lang="en-US" sz="4400" dirty="0">
                <a:solidFill>
                  <a:srgbClr val="7030A0"/>
                </a:solidFill>
                <a:latin typeface="Arial Rounded MT Bold" panose="020F0704030504030204" pitchFamily="34" charset="0"/>
              </a:rPr>
              <a:t>Supply Chain 4.0</a:t>
            </a:r>
            <a:endParaRPr lang="en-US" sz="4800" dirty="0">
              <a:solidFill>
                <a:srgbClr val="7030A0"/>
              </a:solidFill>
              <a:latin typeface="Arial Rounded MT Bold" panose="020F0704030504030204" pitchFamily="34" charset="0"/>
            </a:endParaRPr>
          </a:p>
        </p:txBody>
      </p:sp>
      <p:sp>
        <p:nvSpPr>
          <p:cNvPr id="3" name="Rectangle: Rounded Corners 6">
            <a:extLst>
              <a:ext uri="{FF2B5EF4-FFF2-40B4-BE49-F238E27FC236}">
                <a16:creationId xmlns:a16="http://schemas.microsoft.com/office/drawing/2014/main" id="{2612A992-3166-8B02-24F1-B4F9D0687A66}"/>
              </a:ext>
            </a:extLst>
          </p:cNvPr>
          <p:cNvSpPr/>
          <p:nvPr/>
        </p:nvSpPr>
        <p:spPr>
          <a:xfrm>
            <a:off x="3144402" y="3396380"/>
            <a:ext cx="8406381" cy="2460865"/>
          </a:xfrm>
          <a:prstGeom prst="roundRect">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4">
            <a:extLst>
              <a:ext uri="{FF2B5EF4-FFF2-40B4-BE49-F238E27FC236}">
                <a16:creationId xmlns:a16="http://schemas.microsoft.com/office/drawing/2014/main" id="{E47B22F2-3B18-7264-3DA0-E16514B853E7}"/>
              </a:ext>
            </a:extLst>
          </p:cNvPr>
          <p:cNvPicPr>
            <a:picLocks noChangeAspect="1"/>
          </p:cNvPicPr>
          <p:nvPr/>
        </p:nvPicPr>
        <p:blipFill>
          <a:blip r:embed="rId3"/>
          <a:stretch>
            <a:fillRect/>
          </a:stretch>
        </p:blipFill>
        <p:spPr>
          <a:xfrm>
            <a:off x="10331076" y="1479683"/>
            <a:ext cx="1091378" cy="1091378"/>
          </a:xfrm>
          <a:prstGeom prst="rect">
            <a:avLst/>
          </a:prstGeom>
        </p:spPr>
      </p:pic>
      <p:sp>
        <p:nvSpPr>
          <p:cNvPr id="9" name="Rectangle: Rounded Corners 6">
            <a:extLst>
              <a:ext uri="{FF2B5EF4-FFF2-40B4-BE49-F238E27FC236}">
                <a16:creationId xmlns:a16="http://schemas.microsoft.com/office/drawing/2014/main" id="{E0700AAD-CABF-D725-5F6F-9F9758E31435}"/>
              </a:ext>
            </a:extLst>
          </p:cNvPr>
          <p:cNvSpPr/>
          <p:nvPr/>
        </p:nvSpPr>
        <p:spPr>
          <a:xfrm>
            <a:off x="3345693" y="7825902"/>
            <a:ext cx="8570353" cy="2437617"/>
          </a:xfrm>
          <a:prstGeom prst="roundRect">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10">
            <a:extLst>
              <a:ext uri="{FF2B5EF4-FFF2-40B4-BE49-F238E27FC236}">
                <a16:creationId xmlns:a16="http://schemas.microsoft.com/office/drawing/2014/main" id="{31F81DF0-F50D-FB17-57A0-4FEFC41CD679}"/>
              </a:ext>
            </a:extLst>
          </p:cNvPr>
          <p:cNvSpPr txBox="1"/>
          <p:nvPr/>
        </p:nvSpPr>
        <p:spPr>
          <a:xfrm>
            <a:off x="2857076" y="-2059514"/>
            <a:ext cx="8337647" cy="923330"/>
          </a:xfrm>
          <a:prstGeom prst="rect">
            <a:avLst/>
          </a:prstGeom>
          <a:noFill/>
        </p:spPr>
        <p:txBody>
          <a:bodyPr wrap="square" rtlCol="0">
            <a:spAutoFit/>
          </a:bodyPr>
          <a:lstStyle/>
          <a:p>
            <a:pPr algn="ctr"/>
            <a:r>
              <a:rPr lang="fr-FR" sz="5400" b="1" dirty="0">
                <a:solidFill>
                  <a:schemeClr val="accent4">
                    <a:lumMod val="50000"/>
                  </a:schemeClr>
                </a:solidFill>
                <a:latin typeface="Rockwell" panose="02060603020205020403" pitchFamily="18" charset="0"/>
              </a:rPr>
              <a:t>SQL Injection </a:t>
            </a:r>
          </a:p>
        </p:txBody>
      </p:sp>
      <p:pic>
        <p:nvPicPr>
          <p:cNvPr id="12" name="Picture 5">
            <a:extLst>
              <a:ext uri="{FF2B5EF4-FFF2-40B4-BE49-F238E27FC236}">
                <a16:creationId xmlns:a16="http://schemas.microsoft.com/office/drawing/2014/main" id="{88A963ED-0744-C853-9891-908BC5F340E7}"/>
              </a:ext>
            </a:extLst>
          </p:cNvPr>
          <p:cNvPicPr>
            <a:picLocks noChangeAspect="1"/>
          </p:cNvPicPr>
          <p:nvPr/>
        </p:nvPicPr>
        <p:blipFill>
          <a:blip r:embed="rId5"/>
          <a:stretch>
            <a:fillRect/>
          </a:stretch>
        </p:blipFill>
        <p:spPr>
          <a:xfrm>
            <a:off x="13271411" y="1548004"/>
            <a:ext cx="1148510" cy="1148510"/>
          </a:xfrm>
          <a:prstGeom prst="rect">
            <a:avLst/>
          </a:prstGeom>
        </p:spPr>
      </p:pic>
      <p:pic>
        <p:nvPicPr>
          <p:cNvPr id="13" name="Picture 4">
            <a:extLst>
              <a:ext uri="{FF2B5EF4-FFF2-40B4-BE49-F238E27FC236}">
                <a16:creationId xmlns:a16="http://schemas.microsoft.com/office/drawing/2014/main" id="{AD217F7E-6C5A-60F7-8632-E25BFA815F4B}"/>
              </a:ext>
            </a:extLst>
          </p:cNvPr>
          <p:cNvPicPr>
            <a:picLocks noChangeAspect="1"/>
          </p:cNvPicPr>
          <p:nvPr/>
        </p:nvPicPr>
        <p:blipFill>
          <a:blip r:embed="rId6"/>
          <a:stretch>
            <a:fillRect/>
          </a:stretch>
        </p:blipFill>
        <p:spPr>
          <a:xfrm rot="19471346">
            <a:off x="13640831" y="2150917"/>
            <a:ext cx="1278167" cy="1278167"/>
          </a:xfrm>
          <a:prstGeom prst="rect">
            <a:avLst/>
          </a:prstGeom>
        </p:spPr>
      </p:pic>
      <p:sp>
        <p:nvSpPr>
          <p:cNvPr id="14" name="TextBox 11">
            <a:extLst>
              <a:ext uri="{FF2B5EF4-FFF2-40B4-BE49-F238E27FC236}">
                <a16:creationId xmlns:a16="http://schemas.microsoft.com/office/drawing/2014/main" id="{A136D188-6EAD-84E2-EED5-AC03B202BDF7}"/>
              </a:ext>
            </a:extLst>
          </p:cNvPr>
          <p:cNvSpPr txBox="1"/>
          <p:nvPr/>
        </p:nvSpPr>
        <p:spPr>
          <a:xfrm>
            <a:off x="4172504" y="-915609"/>
            <a:ext cx="4813117" cy="769441"/>
          </a:xfrm>
          <a:prstGeom prst="rect">
            <a:avLst/>
          </a:prstGeom>
          <a:noFill/>
        </p:spPr>
        <p:txBody>
          <a:bodyPr wrap="square" rtlCol="0">
            <a:spAutoFit/>
          </a:bodyPr>
          <a:lstStyle/>
          <a:p>
            <a:pPr algn="ctr"/>
            <a:r>
              <a:rPr lang="fr-FR" sz="4400" b="1" dirty="0">
                <a:solidFill>
                  <a:schemeClr val="accent5">
                    <a:lumMod val="75000"/>
                  </a:schemeClr>
                </a:solidFill>
                <a:latin typeface="Rockwell" panose="02060603020205020403" pitchFamily="18" charset="0"/>
              </a:rPr>
              <a:t>Déni de Service</a:t>
            </a:r>
          </a:p>
        </p:txBody>
      </p:sp>
      <p:sp>
        <p:nvSpPr>
          <p:cNvPr id="15" name="Rectangle: Rounded Corners 6">
            <a:extLst>
              <a:ext uri="{FF2B5EF4-FFF2-40B4-BE49-F238E27FC236}">
                <a16:creationId xmlns:a16="http://schemas.microsoft.com/office/drawing/2014/main" id="{A3EB3ACD-9A37-A144-0A54-65DD3AF060CD}"/>
              </a:ext>
            </a:extLst>
          </p:cNvPr>
          <p:cNvSpPr/>
          <p:nvPr/>
        </p:nvSpPr>
        <p:spPr>
          <a:xfrm>
            <a:off x="5267288" y="13281754"/>
            <a:ext cx="3841550" cy="3256597"/>
          </a:xfrm>
          <a:prstGeom prst="roundRect">
            <a:avLst/>
          </a:prstGeom>
          <a:blipFill>
            <a:blip r:embed="rId7"/>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60023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C299E-555E-AE2F-B55B-091C64E64232}"/>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4009C6D7-4E7F-38D7-6390-733E77AC9F20}"/>
              </a:ext>
            </a:extLst>
          </p:cNvPr>
          <p:cNvSpPr txBox="1"/>
          <p:nvPr/>
        </p:nvSpPr>
        <p:spPr>
          <a:xfrm>
            <a:off x="4289234" y="1749774"/>
            <a:ext cx="4813117" cy="769441"/>
          </a:xfrm>
          <a:prstGeom prst="rect">
            <a:avLst/>
          </a:prstGeom>
          <a:noFill/>
        </p:spPr>
        <p:txBody>
          <a:bodyPr wrap="square" rtlCol="0">
            <a:spAutoFit/>
          </a:bodyPr>
          <a:lstStyle/>
          <a:p>
            <a:pPr algn="ctr"/>
            <a:r>
              <a:rPr lang="fr-FR" sz="4400" b="1" dirty="0">
                <a:solidFill>
                  <a:schemeClr val="accent5">
                    <a:lumMod val="75000"/>
                  </a:schemeClr>
                </a:solidFill>
                <a:latin typeface="Rockwell" panose="02060603020205020403" pitchFamily="18" charset="0"/>
              </a:rPr>
              <a:t>Déni de Service</a:t>
            </a:r>
          </a:p>
        </p:txBody>
      </p:sp>
      <p:grpSp>
        <p:nvGrpSpPr>
          <p:cNvPr id="17" name="Group 16">
            <a:extLst>
              <a:ext uri="{FF2B5EF4-FFF2-40B4-BE49-F238E27FC236}">
                <a16:creationId xmlns:a16="http://schemas.microsoft.com/office/drawing/2014/main" id="{1AB982E4-31F4-1E5A-EB0D-F1EE463A7D99}"/>
              </a:ext>
            </a:extLst>
          </p:cNvPr>
          <p:cNvGrpSpPr/>
          <p:nvPr/>
        </p:nvGrpSpPr>
        <p:grpSpPr>
          <a:xfrm rot="10800000">
            <a:off x="-4274914" y="-171000"/>
            <a:ext cx="7200000" cy="7209000"/>
            <a:chOff x="-4274914" y="-171000"/>
            <a:chExt cx="7200000" cy="7209000"/>
          </a:xfrm>
        </p:grpSpPr>
        <p:sp>
          <p:nvSpPr>
            <p:cNvPr id="18" name="Oval 17">
              <a:extLst>
                <a:ext uri="{FF2B5EF4-FFF2-40B4-BE49-F238E27FC236}">
                  <a16:creationId xmlns:a16="http://schemas.microsoft.com/office/drawing/2014/main" id="{06239222-ED31-9415-B4A8-234C39A298FB}"/>
                </a:ext>
              </a:extLst>
            </p:cNvPr>
            <p:cNvSpPr/>
            <p:nvPr/>
          </p:nvSpPr>
          <p:spPr>
            <a:xfrm>
              <a:off x="-2618914" y="1485000"/>
              <a:ext cx="3888000" cy="3888000"/>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4EF3471D-0385-DA19-9D6B-2B5200A10E28}"/>
                </a:ext>
              </a:extLst>
            </p:cNvPr>
            <p:cNvGrpSpPr/>
            <p:nvPr/>
          </p:nvGrpSpPr>
          <p:grpSpPr>
            <a:xfrm>
              <a:off x="-4274914" y="-171000"/>
              <a:ext cx="7200000" cy="7209000"/>
              <a:chOff x="-4274914" y="-171000"/>
              <a:chExt cx="7200000" cy="7209000"/>
            </a:xfrm>
          </p:grpSpPr>
          <p:sp>
            <p:nvSpPr>
              <p:cNvPr id="20" name="Circle: Hollow 19">
                <a:extLst>
                  <a:ext uri="{FF2B5EF4-FFF2-40B4-BE49-F238E27FC236}">
                    <a16:creationId xmlns:a16="http://schemas.microsoft.com/office/drawing/2014/main" id="{6955DF8F-7DAF-4CEA-9504-4C30D162F4EC}"/>
                  </a:ext>
                </a:extLst>
              </p:cNvPr>
              <p:cNvSpPr/>
              <p:nvPr/>
            </p:nvSpPr>
            <p:spPr>
              <a:xfrm>
                <a:off x="-4274914" y="-171000"/>
                <a:ext cx="7200000" cy="7200000"/>
              </a:xfrm>
              <a:prstGeom prst="donut">
                <a:avLst>
                  <a:gd name="adj" fmla="val 17674"/>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Flowchart: Connector 20">
                <a:extLst>
                  <a:ext uri="{FF2B5EF4-FFF2-40B4-BE49-F238E27FC236}">
                    <a16:creationId xmlns:a16="http://schemas.microsoft.com/office/drawing/2014/main" id="{7B3C93F9-9DE4-F140-1FB7-5EAF5C19DB6D}"/>
                  </a:ext>
                </a:extLst>
              </p:cNvPr>
              <p:cNvSpPr/>
              <p:nvPr/>
            </p:nvSpPr>
            <p:spPr>
              <a:xfrm>
                <a:off x="1629086" y="2781000"/>
                <a:ext cx="1296000" cy="1296000"/>
              </a:xfrm>
              <a:prstGeom prst="flowChartConnec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01</a:t>
                </a:r>
              </a:p>
            </p:txBody>
          </p:sp>
          <p:sp>
            <p:nvSpPr>
              <p:cNvPr id="22" name="Flowchart: Connector 21">
                <a:extLst>
                  <a:ext uri="{FF2B5EF4-FFF2-40B4-BE49-F238E27FC236}">
                    <a16:creationId xmlns:a16="http://schemas.microsoft.com/office/drawing/2014/main" id="{7F71D3EA-B3EC-ED91-A2D9-6FDCA15A4418}"/>
                  </a:ext>
                </a:extLst>
              </p:cNvPr>
              <p:cNvSpPr/>
              <p:nvPr/>
            </p:nvSpPr>
            <p:spPr>
              <a:xfrm rot="5400000">
                <a:off x="-1322914" y="5742000"/>
                <a:ext cx="1296000" cy="1296000"/>
              </a:xfrm>
              <a:prstGeom prst="flowChartConnec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02</a:t>
                </a:r>
              </a:p>
            </p:txBody>
          </p:sp>
          <p:sp>
            <p:nvSpPr>
              <p:cNvPr id="23" name="Flowchart: Connector 22">
                <a:extLst>
                  <a:ext uri="{FF2B5EF4-FFF2-40B4-BE49-F238E27FC236}">
                    <a16:creationId xmlns:a16="http://schemas.microsoft.com/office/drawing/2014/main" id="{5C4BA23D-3D1D-1CE0-4AB0-A2B812F427AB}"/>
                  </a:ext>
                </a:extLst>
              </p:cNvPr>
              <p:cNvSpPr/>
              <p:nvPr/>
            </p:nvSpPr>
            <p:spPr>
              <a:xfrm rot="10800000">
                <a:off x="-4274914" y="2781000"/>
                <a:ext cx="1296000" cy="1296000"/>
              </a:xfrm>
              <a:prstGeom prst="flowChartConnec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00" dirty="0">
                    <a:latin typeface="Bahnschrift SemiBold" panose="020B0502040204020203" pitchFamily="34" charset="0"/>
                  </a:rPr>
                  <a:t>03</a:t>
                </a:r>
              </a:p>
            </p:txBody>
          </p:sp>
          <p:sp>
            <p:nvSpPr>
              <p:cNvPr id="24" name="Flowchart: Connector 23">
                <a:extLst>
                  <a:ext uri="{FF2B5EF4-FFF2-40B4-BE49-F238E27FC236}">
                    <a16:creationId xmlns:a16="http://schemas.microsoft.com/office/drawing/2014/main" id="{599F18C9-CAC6-C232-E78E-0F27D264729A}"/>
                  </a:ext>
                </a:extLst>
              </p:cNvPr>
              <p:cNvSpPr/>
              <p:nvPr/>
            </p:nvSpPr>
            <p:spPr>
              <a:xfrm rot="16200000">
                <a:off x="-1322914" y="-171000"/>
                <a:ext cx="1296000" cy="1296000"/>
              </a:xfrm>
              <a:prstGeom prst="flowChartConnector">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100" dirty="0">
                    <a:latin typeface="Bahnschrift SemiBold" panose="020B0502040204020203" pitchFamily="34" charset="0"/>
                  </a:rPr>
                  <a:t>04</a:t>
                </a:r>
              </a:p>
            </p:txBody>
          </p:sp>
        </p:grpSp>
      </p:grpSp>
      <p:grpSp>
        <p:nvGrpSpPr>
          <p:cNvPr id="27" name="Group 26">
            <a:extLst>
              <a:ext uri="{FF2B5EF4-FFF2-40B4-BE49-F238E27FC236}">
                <a16:creationId xmlns:a16="http://schemas.microsoft.com/office/drawing/2014/main" id="{42D5388F-C625-A266-02B7-257C587D093F}"/>
              </a:ext>
            </a:extLst>
          </p:cNvPr>
          <p:cNvGrpSpPr/>
          <p:nvPr/>
        </p:nvGrpSpPr>
        <p:grpSpPr>
          <a:xfrm>
            <a:off x="10352220" y="0"/>
            <a:ext cx="1839780" cy="1872944"/>
            <a:chOff x="10352220" y="0"/>
            <a:chExt cx="1839780" cy="1872944"/>
          </a:xfrm>
          <a:solidFill>
            <a:schemeClr val="accent1">
              <a:lumMod val="75000"/>
            </a:schemeClr>
          </a:solidFill>
        </p:grpSpPr>
        <p:sp>
          <p:nvSpPr>
            <p:cNvPr id="28" name="Isosceles Triangle 27">
              <a:extLst>
                <a:ext uri="{FF2B5EF4-FFF2-40B4-BE49-F238E27FC236}">
                  <a16:creationId xmlns:a16="http://schemas.microsoft.com/office/drawing/2014/main" id="{8D784794-7EDD-5E7B-F306-B942AD0B7E28}"/>
                </a:ext>
              </a:extLst>
            </p:cNvPr>
            <p:cNvSpPr/>
            <p:nvPr/>
          </p:nvSpPr>
          <p:spPr>
            <a:xfrm rot="16200000">
              <a:off x="10707000" y="0"/>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4714CAF1-6ED4-DB4D-FEFC-1A16465C1A7B}"/>
                </a:ext>
              </a:extLst>
            </p:cNvPr>
            <p:cNvSpPr/>
            <p:nvPr/>
          </p:nvSpPr>
          <p:spPr>
            <a:xfrm rot="16200000">
              <a:off x="10352220" y="387944"/>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FDFAAD4E-BA37-F00E-6D75-A4B1613E8E1A}"/>
              </a:ext>
            </a:extLst>
          </p:cNvPr>
          <p:cNvSpPr txBox="1"/>
          <p:nvPr/>
        </p:nvSpPr>
        <p:spPr>
          <a:xfrm>
            <a:off x="4773326" y="8129274"/>
            <a:ext cx="5090078" cy="830997"/>
          </a:xfrm>
          <a:prstGeom prst="rect">
            <a:avLst/>
          </a:prstGeom>
          <a:noFill/>
        </p:spPr>
        <p:txBody>
          <a:bodyPr wrap="square" rtlCol="0">
            <a:spAutoFit/>
          </a:bodyPr>
          <a:lstStyle/>
          <a:p>
            <a:r>
              <a:rPr lang="en-US" sz="4800" dirty="0">
                <a:solidFill>
                  <a:schemeClr val="accent2">
                    <a:lumMod val="50000"/>
                  </a:schemeClr>
                </a:solidFill>
                <a:latin typeface="Arial Rounded MT Bold" panose="020F0704030504030204" pitchFamily="34" charset="0"/>
              </a:rPr>
              <a:t>Gestion des flux</a:t>
            </a:r>
          </a:p>
        </p:txBody>
      </p:sp>
      <p:sp>
        <p:nvSpPr>
          <p:cNvPr id="7" name="Rectangle: Rounded Corners 6">
            <a:extLst>
              <a:ext uri="{FF2B5EF4-FFF2-40B4-BE49-F238E27FC236}">
                <a16:creationId xmlns:a16="http://schemas.microsoft.com/office/drawing/2014/main" id="{0F62C379-0C53-0743-E84F-F46C9F27709B}"/>
              </a:ext>
            </a:extLst>
          </p:cNvPr>
          <p:cNvSpPr/>
          <p:nvPr/>
        </p:nvSpPr>
        <p:spPr>
          <a:xfrm>
            <a:off x="3144402" y="7987835"/>
            <a:ext cx="8406381" cy="2460865"/>
          </a:xfrm>
          <a:prstGeom prst="roundRect">
            <a:avLst/>
          </a:pr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4">
            <a:extLst>
              <a:ext uri="{FF2B5EF4-FFF2-40B4-BE49-F238E27FC236}">
                <a16:creationId xmlns:a16="http://schemas.microsoft.com/office/drawing/2014/main" id="{0CBCB355-14A9-D0EB-3067-241A28CEB138}"/>
              </a:ext>
            </a:extLst>
          </p:cNvPr>
          <p:cNvPicPr>
            <a:picLocks noChangeAspect="1"/>
          </p:cNvPicPr>
          <p:nvPr/>
        </p:nvPicPr>
        <p:blipFill>
          <a:blip r:embed="rId3"/>
          <a:stretch>
            <a:fillRect/>
          </a:stretch>
        </p:blipFill>
        <p:spPr>
          <a:xfrm>
            <a:off x="14338872" y="1479683"/>
            <a:ext cx="1091378" cy="1091378"/>
          </a:xfrm>
          <a:prstGeom prst="rect">
            <a:avLst/>
          </a:prstGeom>
        </p:spPr>
      </p:pic>
      <p:pic>
        <p:nvPicPr>
          <p:cNvPr id="9" name="Picture 4">
            <a:extLst>
              <a:ext uri="{FF2B5EF4-FFF2-40B4-BE49-F238E27FC236}">
                <a16:creationId xmlns:a16="http://schemas.microsoft.com/office/drawing/2014/main" id="{A3CA6759-2791-A6F7-9CEC-FA8F63DDAC8D}"/>
              </a:ext>
            </a:extLst>
          </p:cNvPr>
          <p:cNvPicPr>
            <a:picLocks noChangeAspect="1"/>
          </p:cNvPicPr>
          <p:nvPr/>
        </p:nvPicPr>
        <p:blipFill>
          <a:blip r:embed="rId4"/>
          <a:stretch>
            <a:fillRect/>
          </a:stretch>
        </p:blipFill>
        <p:spPr>
          <a:xfrm rot="19471346">
            <a:off x="9633035" y="1664536"/>
            <a:ext cx="1278167" cy="1278167"/>
          </a:xfrm>
          <a:prstGeom prst="rect">
            <a:avLst/>
          </a:prstGeom>
        </p:spPr>
      </p:pic>
      <p:sp>
        <p:nvSpPr>
          <p:cNvPr id="10" name="Rectangle: Rounded Corners 6">
            <a:extLst>
              <a:ext uri="{FF2B5EF4-FFF2-40B4-BE49-F238E27FC236}">
                <a16:creationId xmlns:a16="http://schemas.microsoft.com/office/drawing/2014/main" id="{6FD3FB7F-2690-3AD5-DEEA-352029D762E9}"/>
              </a:ext>
            </a:extLst>
          </p:cNvPr>
          <p:cNvSpPr/>
          <p:nvPr/>
        </p:nvSpPr>
        <p:spPr>
          <a:xfrm>
            <a:off x="5072735" y="2989893"/>
            <a:ext cx="3841550" cy="3256597"/>
          </a:xfrm>
          <a:prstGeom prst="roundRect">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5">
            <a:extLst>
              <a:ext uri="{FF2B5EF4-FFF2-40B4-BE49-F238E27FC236}">
                <a16:creationId xmlns:a16="http://schemas.microsoft.com/office/drawing/2014/main" id="{9EC7F840-DAD2-8742-8D5D-2667D02AD78F}"/>
              </a:ext>
            </a:extLst>
          </p:cNvPr>
          <p:cNvPicPr>
            <a:picLocks noChangeAspect="1"/>
          </p:cNvPicPr>
          <p:nvPr/>
        </p:nvPicPr>
        <p:blipFill>
          <a:blip r:embed="rId6"/>
          <a:stretch>
            <a:fillRect/>
          </a:stretch>
        </p:blipFill>
        <p:spPr>
          <a:xfrm rot="19845834">
            <a:off x="13593861" y="1160572"/>
            <a:ext cx="1424744" cy="1424744"/>
          </a:xfrm>
          <a:prstGeom prst="rect">
            <a:avLst/>
          </a:prstGeom>
        </p:spPr>
      </p:pic>
      <p:sp>
        <p:nvSpPr>
          <p:cNvPr id="13" name="Rectangle: Rounded Corners 6">
            <a:extLst>
              <a:ext uri="{FF2B5EF4-FFF2-40B4-BE49-F238E27FC236}">
                <a16:creationId xmlns:a16="http://schemas.microsoft.com/office/drawing/2014/main" id="{22EE31AF-91AB-6D70-DAD8-69E04A6E0D02}"/>
              </a:ext>
            </a:extLst>
          </p:cNvPr>
          <p:cNvSpPr/>
          <p:nvPr/>
        </p:nvSpPr>
        <p:spPr>
          <a:xfrm>
            <a:off x="4917093" y="7569753"/>
            <a:ext cx="4402005" cy="3072308"/>
          </a:xfrm>
          <a:prstGeom prst="roundRect">
            <a:avLst/>
          </a:prstGeom>
          <a:blipFill>
            <a:blip r:embed="rId7"/>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TextBox 14">
            <a:extLst>
              <a:ext uri="{FF2B5EF4-FFF2-40B4-BE49-F238E27FC236}">
                <a16:creationId xmlns:a16="http://schemas.microsoft.com/office/drawing/2014/main" id="{BE9C6F4F-B85E-3642-E0C3-1BC9FD582A04}"/>
              </a:ext>
            </a:extLst>
          </p:cNvPr>
          <p:cNvSpPr txBox="1"/>
          <p:nvPr/>
        </p:nvSpPr>
        <p:spPr>
          <a:xfrm>
            <a:off x="3807929" y="-2440305"/>
            <a:ext cx="6291372" cy="1446550"/>
          </a:xfrm>
          <a:prstGeom prst="rect">
            <a:avLst/>
          </a:prstGeom>
          <a:noFill/>
        </p:spPr>
        <p:txBody>
          <a:bodyPr wrap="square" rtlCol="0">
            <a:spAutoFit/>
          </a:bodyPr>
          <a:lstStyle/>
          <a:p>
            <a:pPr algn="ctr"/>
            <a:r>
              <a:rPr lang="fr-FR" sz="4400" b="1" dirty="0">
                <a:solidFill>
                  <a:schemeClr val="accent2">
                    <a:lumMod val="50000"/>
                  </a:schemeClr>
                </a:solidFill>
                <a:latin typeface="Rockwell" panose="02060603020205020403" pitchFamily="18" charset="0"/>
              </a:rPr>
              <a:t>Absence de Contrôle d'Accès</a:t>
            </a:r>
          </a:p>
        </p:txBody>
      </p:sp>
    </p:spTree>
    <p:extLst>
      <p:ext uri="{BB962C8B-B14F-4D97-AF65-F5344CB8AC3E}">
        <p14:creationId xmlns:p14="http://schemas.microsoft.com/office/powerpoint/2010/main" val="3146453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870E-AEE1-E513-3AA5-CC732E9B48E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6E7D1BEB-2FD7-989D-9E19-03FF0DAD3FF7}"/>
              </a:ext>
            </a:extLst>
          </p:cNvPr>
          <p:cNvSpPr txBox="1"/>
          <p:nvPr/>
        </p:nvSpPr>
        <p:spPr>
          <a:xfrm>
            <a:off x="3749563" y="995615"/>
            <a:ext cx="6291372" cy="1446550"/>
          </a:xfrm>
          <a:prstGeom prst="rect">
            <a:avLst/>
          </a:prstGeom>
          <a:noFill/>
        </p:spPr>
        <p:txBody>
          <a:bodyPr wrap="square" rtlCol="0">
            <a:spAutoFit/>
          </a:bodyPr>
          <a:lstStyle/>
          <a:p>
            <a:pPr algn="ctr"/>
            <a:r>
              <a:rPr lang="fr-FR" sz="4400" b="1" dirty="0">
                <a:solidFill>
                  <a:schemeClr val="accent2">
                    <a:lumMod val="50000"/>
                  </a:schemeClr>
                </a:solidFill>
                <a:latin typeface="Rockwell" panose="02060603020205020403" pitchFamily="18" charset="0"/>
              </a:rPr>
              <a:t>Absence de Contrôle d'Accès</a:t>
            </a:r>
          </a:p>
        </p:txBody>
      </p:sp>
      <p:grpSp>
        <p:nvGrpSpPr>
          <p:cNvPr id="17" name="Group 16">
            <a:extLst>
              <a:ext uri="{FF2B5EF4-FFF2-40B4-BE49-F238E27FC236}">
                <a16:creationId xmlns:a16="http://schemas.microsoft.com/office/drawing/2014/main" id="{7A78457D-16D7-84DC-6581-65E55EC62192}"/>
              </a:ext>
            </a:extLst>
          </p:cNvPr>
          <p:cNvGrpSpPr/>
          <p:nvPr/>
        </p:nvGrpSpPr>
        <p:grpSpPr>
          <a:xfrm rot="5400000">
            <a:off x="-4274914" y="-171000"/>
            <a:ext cx="7200000" cy="7209000"/>
            <a:chOff x="-4274914" y="-171000"/>
            <a:chExt cx="7200000" cy="7209000"/>
          </a:xfrm>
        </p:grpSpPr>
        <p:sp>
          <p:nvSpPr>
            <p:cNvPr id="18" name="Oval 17">
              <a:extLst>
                <a:ext uri="{FF2B5EF4-FFF2-40B4-BE49-F238E27FC236}">
                  <a16:creationId xmlns:a16="http://schemas.microsoft.com/office/drawing/2014/main" id="{B98195EA-8C95-96E1-DFF9-B047C2F25B48}"/>
                </a:ext>
              </a:extLst>
            </p:cNvPr>
            <p:cNvSpPr/>
            <p:nvPr/>
          </p:nvSpPr>
          <p:spPr>
            <a:xfrm>
              <a:off x="-2618914" y="1485000"/>
              <a:ext cx="3888000" cy="3888000"/>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32C5FB83-EFEE-EB08-8073-0D138E3AC50F}"/>
                </a:ext>
              </a:extLst>
            </p:cNvPr>
            <p:cNvGrpSpPr/>
            <p:nvPr/>
          </p:nvGrpSpPr>
          <p:grpSpPr>
            <a:xfrm>
              <a:off x="-4274914" y="-171000"/>
              <a:ext cx="7200000" cy="7209000"/>
              <a:chOff x="-4274914" y="-171000"/>
              <a:chExt cx="7200000" cy="7209000"/>
            </a:xfrm>
          </p:grpSpPr>
          <p:sp>
            <p:nvSpPr>
              <p:cNvPr id="20" name="Circle: Hollow 19">
                <a:extLst>
                  <a:ext uri="{FF2B5EF4-FFF2-40B4-BE49-F238E27FC236}">
                    <a16:creationId xmlns:a16="http://schemas.microsoft.com/office/drawing/2014/main" id="{E60C80CC-6012-4075-D92B-60E10D78724A}"/>
                  </a:ext>
                </a:extLst>
              </p:cNvPr>
              <p:cNvSpPr/>
              <p:nvPr/>
            </p:nvSpPr>
            <p:spPr>
              <a:xfrm>
                <a:off x="-4274914" y="-171000"/>
                <a:ext cx="7200000" cy="7200000"/>
              </a:xfrm>
              <a:prstGeom prst="donut">
                <a:avLst>
                  <a:gd name="adj" fmla="val 17674"/>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Flowchart: Connector 20">
                <a:extLst>
                  <a:ext uri="{FF2B5EF4-FFF2-40B4-BE49-F238E27FC236}">
                    <a16:creationId xmlns:a16="http://schemas.microsoft.com/office/drawing/2014/main" id="{AD832759-C31F-D890-7E89-AB291699C8D3}"/>
                  </a:ext>
                </a:extLst>
              </p:cNvPr>
              <p:cNvSpPr/>
              <p:nvPr/>
            </p:nvSpPr>
            <p:spPr>
              <a:xfrm>
                <a:off x="1629086" y="2781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01</a:t>
                </a:r>
              </a:p>
            </p:txBody>
          </p:sp>
          <p:sp>
            <p:nvSpPr>
              <p:cNvPr id="22" name="Flowchart: Connector 21">
                <a:extLst>
                  <a:ext uri="{FF2B5EF4-FFF2-40B4-BE49-F238E27FC236}">
                    <a16:creationId xmlns:a16="http://schemas.microsoft.com/office/drawing/2014/main" id="{2E339E6E-ADB2-F2C8-E167-D9E48AD7F287}"/>
                  </a:ext>
                </a:extLst>
              </p:cNvPr>
              <p:cNvSpPr/>
              <p:nvPr/>
            </p:nvSpPr>
            <p:spPr>
              <a:xfrm rot="5400000">
                <a:off x="-1322914" y="5742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02</a:t>
                </a:r>
              </a:p>
            </p:txBody>
          </p:sp>
          <p:sp>
            <p:nvSpPr>
              <p:cNvPr id="23" name="Flowchart: Connector 22">
                <a:extLst>
                  <a:ext uri="{FF2B5EF4-FFF2-40B4-BE49-F238E27FC236}">
                    <a16:creationId xmlns:a16="http://schemas.microsoft.com/office/drawing/2014/main" id="{9C8FDE84-02AA-C1F5-40DE-A79AD8A2F2F6}"/>
                  </a:ext>
                </a:extLst>
              </p:cNvPr>
              <p:cNvSpPr/>
              <p:nvPr/>
            </p:nvSpPr>
            <p:spPr>
              <a:xfrm rot="10800000">
                <a:off x="-4274914" y="2781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00" dirty="0">
                    <a:latin typeface="Bahnschrift SemiBold" panose="020B0502040204020203" pitchFamily="34" charset="0"/>
                  </a:rPr>
                  <a:t>03</a:t>
                </a:r>
              </a:p>
            </p:txBody>
          </p:sp>
          <p:sp>
            <p:nvSpPr>
              <p:cNvPr id="24" name="Flowchart: Connector 23">
                <a:extLst>
                  <a:ext uri="{FF2B5EF4-FFF2-40B4-BE49-F238E27FC236}">
                    <a16:creationId xmlns:a16="http://schemas.microsoft.com/office/drawing/2014/main" id="{1C83610E-84A3-1FB1-F6B8-DB9C9CA889F7}"/>
                  </a:ext>
                </a:extLst>
              </p:cNvPr>
              <p:cNvSpPr/>
              <p:nvPr/>
            </p:nvSpPr>
            <p:spPr>
              <a:xfrm rot="16200000">
                <a:off x="-1322914" y="-171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100" dirty="0">
                    <a:latin typeface="Bahnschrift SemiBold" panose="020B0502040204020203" pitchFamily="34" charset="0"/>
                  </a:rPr>
                  <a:t>04</a:t>
                </a:r>
              </a:p>
            </p:txBody>
          </p:sp>
        </p:grpSp>
      </p:grpSp>
      <p:grpSp>
        <p:nvGrpSpPr>
          <p:cNvPr id="25" name="Group 24">
            <a:extLst>
              <a:ext uri="{FF2B5EF4-FFF2-40B4-BE49-F238E27FC236}">
                <a16:creationId xmlns:a16="http://schemas.microsoft.com/office/drawing/2014/main" id="{A92ABB79-C0AD-7856-0B95-C55BF62B6ABE}"/>
              </a:ext>
            </a:extLst>
          </p:cNvPr>
          <p:cNvGrpSpPr/>
          <p:nvPr/>
        </p:nvGrpSpPr>
        <p:grpSpPr>
          <a:xfrm>
            <a:off x="10352220" y="0"/>
            <a:ext cx="1839780" cy="1872944"/>
            <a:chOff x="10352220" y="0"/>
            <a:chExt cx="1839780" cy="1872944"/>
          </a:xfrm>
          <a:solidFill>
            <a:schemeClr val="accent2">
              <a:lumMod val="75000"/>
            </a:schemeClr>
          </a:solidFill>
        </p:grpSpPr>
        <p:sp>
          <p:nvSpPr>
            <p:cNvPr id="26" name="Isosceles Triangle 25">
              <a:extLst>
                <a:ext uri="{FF2B5EF4-FFF2-40B4-BE49-F238E27FC236}">
                  <a16:creationId xmlns:a16="http://schemas.microsoft.com/office/drawing/2014/main" id="{E5C67A98-DA5E-0F29-9629-82F8D55BF9FF}"/>
                </a:ext>
              </a:extLst>
            </p:cNvPr>
            <p:cNvSpPr/>
            <p:nvPr/>
          </p:nvSpPr>
          <p:spPr>
            <a:xfrm rot="16200000">
              <a:off x="10707000" y="0"/>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89921D95-B2E8-1DD1-20E4-C3E420DAB684}"/>
                </a:ext>
              </a:extLst>
            </p:cNvPr>
            <p:cNvSpPr/>
            <p:nvPr/>
          </p:nvSpPr>
          <p:spPr>
            <a:xfrm rot="16200000">
              <a:off x="10352220" y="387944"/>
              <a:ext cx="1485000" cy="1485000"/>
            </a:xfrm>
            <a:prstGeom prst="triangle">
              <a:avLst>
                <a:gd name="adj" fmla="val 10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C24F340B-7992-2909-3D04-822B2C0DE1C2}"/>
              </a:ext>
            </a:extLst>
          </p:cNvPr>
          <p:cNvPicPr>
            <a:picLocks noChangeAspect="1"/>
          </p:cNvPicPr>
          <p:nvPr/>
        </p:nvPicPr>
        <p:blipFill>
          <a:blip r:embed="rId2">
            <a:duotone>
              <a:schemeClr val="accent4">
                <a:shade val="45000"/>
                <a:satMod val="135000"/>
              </a:schemeClr>
              <a:prstClr val="white"/>
            </a:duotone>
          </a:blip>
          <a:stretch>
            <a:fillRect/>
          </a:stretch>
        </p:blipFill>
        <p:spPr>
          <a:xfrm rot="20988217">
            <a:off x="-2019421" y="1988951"/>
            <a:ext cx="939602" cy="939602"/>
          </a:xfrm>
          <a:prstGeom prst="rect">
            <a:avLst/>
          </a:prstGeom>
        </p:spPr>
      </p:pic>
      <p:sp>
        <p:nvSpPr>
          <p:cNvPr id="2" name="Rectangle: Rounded Corners 6">
            <a:extLst>
              <a:ext uri="{FF2B5EF4-FFF2-40B4-BE49-F238E27FC236}">
                <a16:creationId xmlns:a16="http://schemas.microsoft.com/office/drawing/2014/main" id="{2E4D9D4B-A9C9-DE62-6DBE-95846B076AC2}"/>
              </a:ext>
            </a:extLst>
          </p:cNvPr>
          <p:cNvSpPr/>
          <p:nvPr/>
        </p:nvSpPr>
        <p:spPr>
          <a:xfrm>
            <a:off x="5072735" y="8028817"/>
            <a:ext cx="3841550" cy="3256597"/>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11">
            <a:extLst>
              <a:ext uri="{FF2B5EF4-FFF2-40B4-BE49-F238E27FC236}">
                <a16:creationId xmlns:a16="http://schemas.microsoft.com/office/drawing/2014/main" id="{C85DFCFC-29A3-C25A-A4CE-B29FB485A08F}"/>
              </a:ext>
            </a:extLst>
          </p:cNvPr>
          <p:cNvSpPr txBox="1"/>
          <p:nvPr/>
        </p:nvSpPr>
        <p:spPr>
          <a:xfrm>
            <a:off x="4289234" y="-1674363"/>
            <a:ext cx="4813117" cy="769441"/>
          </a:xfrm>
          <a:prstGeom prst="rect">
            <a:avLst/>
          </a:prstGeom>
          <a:noFill/>
        </p:spPr>
        <p:txBody>
          <a:bodyPr wrap="square" rtlCol="0">
            <a:spAutoFit/>
          </a:bodyPr>
          <a:lstStyle/>
          <a:p>
            <a:pPr algn="ctr"/>
            <a:r>
              <a:rPr lang="fr-FR" sz="4400" b="1" dirty="0">
                <a:solidFill>
                  <a:schemeClr val="accent5">
                    <a:lumMod val="75000"/>
                  </a:schemeClr>
                </a:solidFill>
                <a:latin typeface="Rockwell" panose="02060603020205020403" pitchFamily="18" charset="0"/>
              </a:rPr>
              <a:t>Déni de Service</a:t>
            </a:r>
          </a:p>
        </p:txBody>
      </p:sp>
      <p:pic>
        <p:nvPicPr>
          <p:cNvPr id="6" name="Picture 4">
            <a:extLst>
              <a:ext uri="{FF2B5EF4-FFF2-40B4-BE49-F238E27FC236}">
                <a16:creationId xmlns:a16="http://schemas.microsoft.com/office/drawing/2014/main" id="{2A29674F-6DE4-0725-D662-4D088B2C0088}"/>
              </a:ext>
            </a:extLst>
          </p:cNvPr>
          <p:cNvPicPr>
            <a:picLocks noChangeAspect="1"/>
          </p:cNvPicPr>
          <p:nvPr/>
        </p:nvPicPr>
        <p:blipFill>
          <a:blip r:embed="rId4"/>
          <a:stretch>
            <a:fillRect/>
          </a:stretch>
        </p:blipFill>
        <p:spPr>
          <a:xfrm rot="19471346">
            <a:off x="12862619" y="1664536"/>
            <a:ext cx="1278167" cy="1278167"/>
          </a:xfrm>
          <a:prstGeom prst="rect">
            <a:avLst/>
          </a:prstGeom>
        </p:spPr>
      </p:pic>
      <p:sp>
        <p:nvSpPr>
          <p:cNvPr id="8" name="Rectangle: Rounded Corners 6">
            <a:extLst>
              <a:ext uri="{FF2B5EF4-FFF2-40B4-BE49-F238E27FC236}">
                <a16:creationId xmlns:a16="http://schemas.microsoft.com/office/drawing/2014/main" id="{5E7FA0AA-9188-F0A1-C57E-BFF5889049EF}"/>
              </a:ext>
            </a:extLst>
          </p:cNvPr>
          <p:cNvSpPr/>
          <p:nvPr/>
        </p:nvSpPr>
        <p:spPr>
          <a:xfrm>
            <a:off x="4917093" y="2978298"/>
            <a:ext cx="4402005" cy="3072308"/>
          </a:xfrm>
          <a:prstGeom prst="roundRect">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0" name="Picture 5">
            <a:extLst>
              <a:ext uri="{FF2B5EF4-FFF2-40B4-BE49-F238E27FC236}">
                <a16:creationId xmlns:a16="http://schemas.microsoft.com/office/drawing/2014/main" id="{06C6B454-EEAE-D28F-E9CA-0C6FA7A5D5DD}"/>
              </a:ext>
            </a:extLst>
          </p:cNvPr>
          <p:cNvPicPr>
            <a:picLocks noChangeAspect="1"/>
          </p:cNvPicPr>
          <p:nvPr/>
        </p:nvPicPr>
        <p:blipFill>
          <a:blip r:embed="rId6"/>
          <a:stretch>
            <a:fillRect/>
          </a:stretch>
        </p:blipFill>
        <p:spPr>
          <a:xfrm rot="19845834">
            <a:off x="9994626" y="1160572"/>
            <a:ext cx="1424744" cy="1424744"/>
          </a:xfrm>
          <a:prstGeom prst="rect">
            <a:avLst/>
          </a:prstGeom>
        </p:spPr>
      </p:pic>
      <p:grpSp>
        <p:nvGrpSpPr>
          <p:cNvPr id="12" name="Group 3">
            <a:extLst>
              <a:ext uri="{FF2B5EF4-FFF2-40B4-BE49-F238E27FC236}">
                <a16:creationId xmlns:a16="http://schemas.microsoft.com/office/drawing/2014/main" id="{C27C82AD-7C33-6DBB-2D37-DB76AF73F933}"/>
              </a:ext>
            </a:extLst>
          </p:cNvPr>
          <p:cNvGrpSpPr/>
          <p:nvPr/>
        </p:nvGrpSpPr>
        <p:grpSpPr>
          <a:xfrm rot="20128970">
            <a:off x="-7242508" y="-171002"/>
            <a:ext cx="7200000" cy="7200000"/>
            <a:chOff x="-4274914" y="-171000"/>
            <a:chExt cx="7200000" cy="7200000"/>
          </a:xfrm>
        </p:grpSpPr>
        <p:grpSp>
          <p:nvGrpSpPr>
            <p:cNvPr id="13" name="Group 4">
              <a:extLst>
                <a:ext uri="{FF2B5EF4-FFF2-40B4-BE49-F238E27FC236}">
                  <a16:creationId xmlns:a16="http://schemas.microsoft.com/office/drawing/2014/main" id="{21557D10-1495-5728-BB84-E7935C42C02F}"/>
                </a:ext>
              </a:extLst>
            </p:cNvPr>
            <p:cNvGrpSpPr/>
            <p:nvPr/>
          </p:nvGrpSpPr>
          <p:grpSpPr>
            <a:xfrm rot="2285770">
              <a:off x="-4274914" y="-171000"/>
              <a:ext cx="7200000" cy="7200000"/>
              <a:chOff x="-4274914" y="-171000"/>
              <a:chExt cx="7200000" cy="7200000"/>
            </a:xfrm>
          </p:grpSpPr>
          <p:sp>
            <p:nvSpPr>
              <p:cNvPr id="36" name="Oval 15">
                <a:extLst>
                  <a:ext uri="{FF2B5EF4-FFF2-40B4-BE49-F238E27FC236}">
                    <a16:creationId xmlns:a16="http://schemas.microsoft.com/office/drawing/2014/main" id="{6EF35B54-479E-8CA3-DD37-5DBC5AAC9ED0}"/>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Circle: Hollow 16">
                <a:extLst>
                  <a:ext uri="{FF2B5EF4-FFF2-40B4-BE49-F238E27FC236}">
                    <a16:creationId xmlns:a16="http://schemas.microsoft.com/office/drawing/2014/main" id="{0DDCE1DC-4BAD-6FDF-3D61-233A16CC4838}"/>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4" name="Group 5">
              <a:extLst>
                <a:ext uri="{FF2B5EF4-FFF2-40B4-BE49-F238E27FC236}">
                  <a16:creationId xmlns:a16="http://schemas.microsoft.com/office/drawing/2014/main" id="{E290F4FA-6995-48F4-46AF-57435683B066}"/>
                </a:ext>
              </a:extLst>
            </p:cNvPr>
            <p:cNvGrpSpPr/>
            <p:nvPr/>
          </p:nvGrpSpPr>
          <p:grpSpPr>
            <a:xfrm>
              <a:off x="1449086" y="1773001"/>
              <a:ext cx="1296000" cy="1296000"/>
              <a:chOff x="1449086" y="1773001"/>
              <a:chExt cx="1296000" cy="1296000"/>
            </a:xfrm>
          </p:grpSpPr>
          <p:sp>
            <p:nvSpPr>
              <p:cNvPr id="34" name="Flowchart: Connector 13">
                <a:extLst>
                  <a:ext uri="{FF2B5EF4-FFF2-40B4-BE49-F238E27FC236}">
                    <a16:creationId xmlns:a16="http://schemas.microsoft.com/office/drawing/2014/main" id="{655930E5-5E43-A12B-8810-0D8493B4E97F}"/>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5" name="Picture 14">
                <a:extLst>
                  <a:ext uri="{FF2B5EF4-FFF2-40B4-BE49-F238E27FC236}">
                    <a16:creationId xmlns:a16="http://schemas.microsoft.com/office/drawing/2014/main" id="{11D0611F-B9FB-4032-2C9A-175D6FC33B71}"/>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16" name="Group 6">
              <a:extLst>
                <a:ext uri="{FF2B5EF4-FFF2-40B4-BE49-F238E27FC236}">
                  <a16:creationId xmlns:a16="http://schemas.microsoft.com/office/drawing/2014/main" id="{0A5BDD35-DB2A-8A4B-E502-F65A53E9FB96}"/>
                </a:ext>
              </a:extLst>
            </p:cNvPr>
            <p:cNvGrpSpPr/>
            <p:nvPr/>
          </p:nvGrpSpPr>
          <p:grpSpPr>
            <a:xfrm>
              <a:off x="-1322914" y="5733000"/>
              <a:ext cx="1296000" cy="1296000"/>
              <a:chOff x="-1322914" y="5733000"/>
              <a:chExt cx="1296000" cy="1296000"/>
            </a:xfrm>
          </p:grpSpPr>
          <p:sp>
            <p:nvSpPr>
              <p:cNvPr id="32" name="Flowchart: Connector 11">
                <a:extLst>
                  <a:ext uri="{FF2B5EF4-FFF2-40B4-BE49-F238E27FC236}">
                    <a16:creationId xmlns:a16="http://schemas.microsoft.com/office/drawing/2014/main" id="{4889F669-6682-7FE7-0E9A-754D2E99DAB9}"/>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3" name="Picture 12">
                <a:extLst>
                  <a:ext uri="{FF2B5EF4-FFF2-40B4-BE49-F238E27FC236}">
                    <a16:creationId xmlns:a16="http://schemas.microsoft.com/office/drawing/2014/main" id="{58FC79B0-A161-820B-CC00-E90EA026A0F9}"/>
                  </a:ext>
                </a:extLst>
              </p:cNvPr>
              <p:cNvPicPr>
                <a:picLocks noChangeAspect="1"/>
              </p:cNvPicPr>
              <p:nvPr/>
            </p:nvPicPr>
            <p:blipFill>
              <a:blip r:embed="rId8">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8" name="Group 7">
              <a:extLst>
                <a:ext uri="{FF2B5EF4-FFF2-40B4-BE49-F238E27FC236}">
                  <a16:creationId xmlns:a16="http://schemas.microsoft.com/office/drawing/2014/main" id="{7B6723C9-D620-55B9-C425-E0AF38CC44BC}"/>
                </a:ext>
              </a:extLst>
            </p:cNvPr>
            <p:cNvGrpSpPr/>
            <p:nvPr/>
          </p:nvGrpSpPr>
          <p:grpSpPr>
            <a:xfrm>
              <a:off x="-3794394" y="1125000"/>
              <a:ext cx="1296000" cy="1296000"/>
              <a:chOff x="-3794394" y="1125000"/>
              <a:chExt cx="1296000" cy="1296000"/>
            </a:xfrm>
          </p:grpSpPr>
          <p:sp>
            <p:nvSpPr>
              <p:cNvPr id="30" name="Flowchart: Connector 8">
                <a:extLst>
                  <a:ext uri="{FF2B5EF4-FFF2-40B4-BE49-F238E27FC236}">
                    <a16:creationId xmlns:a16="http://schemas.microsoft.com/office/drawing/2014/main" id="{9BADBF13-ED9E-42DE-604D-9C32C5CC7095}"/>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31" name="Picture 10">
                <a:extLst>
                  <a:ext uri="{FF2B5EF4-FFF2-40B4-BE49-F238E27FC236}">
                    <a16:creationId xmlns:a16="http://schemas.microsoft.com/office/drawing/2014/main" id="{954D7264-2B17-EA94-9CA5-45A62F265C71}"/>
                  </a:ext>
                </a:extLst>
              </p:cNvPr>
              <p:cNvPicPr>
                <a:picLocks noChangeAspect="1"/>
              </p:cNvPicPr>
              <p:nvPr/>
            </p:nvPicPr>
            <p:blipFill>
              <a:blip r:embed="rId9">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10">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38" name="TextBox 45">
            <a:extLst>
              <a:ext uri="{FF2B5EF4-FFF2-40B4-BE49-F238E27FC236}">
                <a16:creationId xmlns:a16="http://schemas.microsoft.com/office/drawing/2014/main" id="{5A39AB3F-AE68-3C99-6E9A-D7AE49A4779E}"/>
              </a:ext>
            </a:extLst>
          </p:cNvPr>
          <p:cNvSpPr txBox="1"/>
          <p:nvPr/>
        </p:nvSpPr>
        <p:spPr>
          <a:xfrm>
            <a:off x="17077911" y="1844281"/>
            <a:ext cx="5270581" cy="523220"/>
          </a:xfrm>
          <a:prstGeom prst="rect">
            <a:avLst/>
          </a:prstGeom>
          <a:noFill/>
        </p:spPr>
        <p:txBody>
          <a:bodyPr wrap="square" rtlCol="0">
            <a:spAutoFit/>
          </a:bodyPr>
          <a:lstStyle/>
          <a:p>
            <a:r>
              <a:rPr lang="en-US" sz="2800" dirty="0">
                <a:latin typeface="Bahnschrift SemiBold" panose="020B0502040204020203" pitchFamily="34" charset="0"/>
                <a:ea typeface="IBM Plex Sans Medium" pitchFamily="34" charset="-122"/>
                <a:cs typeface="IBM Plex Sans Medium" pitchFamily="34" charset="-120"/>
              </a:rPr>
              <a:t>Architecture </a:t>
            </a:r>
            <a:r>
              <a:rPr lang="en-US" sz="2800" dirty="0" err="1">
                <a:latin typeface="Bahnschrift SemiBold" panose="020B0502040204020203" pitchFamily="34" charset="0"/>
                <a:ea typeface="IBM Plex Sans Medium" pitchFamily="34" charset="-122"/>
                <a:cs typeface="IBM Plex Sans Medium" pitchFamily="34" charset="-120"/>
              </a:rPr>
              <a:t>Globale</a:t>
            </a:r>
            <a:r>
              <a:rPr lang="en-US" sz="2800" dirty="0">
                <a:latin typeface="Bahnschrift SemiBold" panose="020B0502040204020203" pitchFamily="34" charset="0"/>
                <a:ea typeface="IBM Plex Sans Medium" pitchFamily="34" charset="-122"/>
                <a:cs typeface="IBM Plex Sans Medium" pitchFamily="34" charset="-120"/>
              </a:rPr>
              <a:t> </a:t>
            </a:r>
            <a:r>
              <a:rPr lang="en-US" sz="2800" dirty="0" err="1">
                <a:latin typeface="Bahnschrift SemiBold" panose="020B0502040204020203" pitchFamily="34" charset="0"/>
                <a:ea typeface="IBM Plex Sans Medium" pitchFamily="34" charset="-122"/>
                <a:cs typeface="IBM Plex Sans Medium" pitchFamily="34" charset="-120"/>
              </a:rPr>
              <a:t>Sécurisée</a:t>
            </a:r>
            <a:endParaRPr lang="en-US" sz="2800" dirty="0">
              <a:latin typeface="Bahnschrift SemiBold" panose="020B0502040204020203" pitchFamily="34" charset="0"/>
            </a:endParaRPr>
          </a:p>
        </p:txBody>
      </p:sp>
      <p:sp>
        <p:nvSpPr>
          <p:cNvPr id="39" name="TextBox 2">
            <a:extLst>
              <a:ext uri="{FF2B5EF4-FFF2-40B4-BE49-F238E27FC236}">
                <a16:creationId xmlns:a16="http://schemas.microsoft.com/office/drawing/2014/main" id="{867FF7A8-7B77-B67C-4813-E8D10860D7DB}"/>
              </a:ext>
            </a:extLst>
          </p:cNvPr>
          <p:cNvSpPr txBox="1"/>
          <p:nvPr/>
        </p:nvSpPr>
        <p:spPr>
          <a:xfrm>
            <a:off x="12712256" y="32362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pic>
        <p:nvPicPr>
          <p:cNvPr id="40" name="Image 4">
            <a:extLst>
              <a:ext uri="{FF2B5EF4-FFF2-40B4-BE49-F238E27FC236}">
                <a16:creationId xmlns:a16="http://schemas.microsoft.com/office/drawing/2014/main" id="{DE41B0E4-0A65-41E2-9D28-4DC790D80C6A}"/>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2132" b="3480"/>
          <a:stretch>
            <a:fillRect/>
          </a:stretch>
        </p:blipFill>
        <p:spPr bwMode="auto">
          <a:xfrm>
            <a:off x="16834112" y="2600507"/>
            <a:ext cx="5758180" cy="3587750"/>
          </a:xfrm>
          <a:prstGeom prst="rect">
            <a:avLst/>
          </a:prstGeom>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58351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037D2-5325-0E75-3505-9EBD6DD27DA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698C29C-9890-7960-ABD9-8210A3DBAC21}"/>
              </a:ext>
            </a:extLst>
          </p:cNvPr>
          <p:cNvGrpSpPr/>
          <p:nvPr/>
        </p:nvGrpSpPr>
        <p:grpSpPr>
          <a:xfrm rot="1268211">
            <a:off x="-4771681" y="-171002"/>
            <a:ext cx="7200000" cy="7200000"/>
            <a:chOff x="-4274914" y="-171000"/>
            <a:chExt cx="7200000" cy="7200000"/>
          </a:xfrm>
        </p:grpSpPr>
        <p:grpSp>
          <p:nvGrpSpPr>
            <p:cNvPr id="5" name="Group 4">
              <a:extLst>
                <a:ext uri="{FF2B5EF4-FFF2-40B4-BE49-F238E27FC236}">
                  <a16:creationId xmlns:a16="http://schemas.microsoft.com/office/drawing/2014/main" id="{E1985488-65D9-5E7B-665F-E7B409641A5C}"/>
                </a:ext>
              </a:extLst>
            </p:cNvPr>
            <p:cNvGrpSpPr/>
            <p:nvPr/>
          </p:nvGrpSpPr>
          <p:grpSpPr>
            <a:xfrm rot="2285770">
              <a:off x="-4274914" y="-171000"/>
              <a:ext cx="7200000" cy="7200000"/>
              <a:chOff x="-4274914" y="-171000"/>
              <a:chExt cx="7200000" cy="7200000"/>
            </a:xfrm>
          </p:grpSpPr>
          <p:sp>
            <p:nvSpPr>
              <p:cNvPr id="16" name="Oval 15">
                <a:extLst>
                  <a:ext uri="{FF2B5EF4-FFF2-40B4-BE49-F238E27FC236}">
                    <a16:creationId xmlns:a16="http://schemas.microsoft.com/office/drawing/2014/main" id="{1184E025-B644-FF06-457A-1FA695A389CD}"/>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ircle: Hollow 16">
                <a:extLst>
                  <a:ext uri="{FF2B5EF4-FFF2-40B4-BE49-F238E27FC236}">
                    <a16:creationId xmlns:a16="http://schemas.microsoft.com/office/drawing/2014/main" id="{FF9C42F3-E7D2-1CC1-4DF2-1F96111C3327}"/>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6" name="Group 5">
              <a:extLst>
                <a:ext uri="{FF2B5EF4-FFF2-40B4-BE49-F238E27FC236}">
                  <a16:creationId xmlns:a16="http://schemas.microsoft.com/office/drawing/2014/main" id="{CC866E41-04FF-512B-79EC-D6A5E675B197}"/>
                </a:ext>
              </a:extLst>
            </p:cNvPr>
            <p:cNvGrpSpPr/>
            <p:nvPr/>
          </p:nvGrpSpPr>
          <p:grpSpPr>
            <a:xfrm>
              <a:off x="1449086" y="1773001"/>
              <a:ext cx="1296000" cy="1296000"/>
              <a:chOff x="1449086" y="1773001"/>
              <a:chExt cx="1296000" cy="1296000"/>
            </a:xfrm>
          </p:grpSpPr>
          <p:sp>
            <p:nvSpPr>
              <p:cNvPr id="14" name="Flowchart: Connector 13">
                <a:extLst>
                  <a:ext uri="{FF2B5EF4-FFF2-40B4-BE49-F238E27FC236}">
                    <a16:creationId xmlns:a16="http://schemas.microsoft.com/office/drawing/2014/main" id="{466B12F8-D9CD-5227-EBCB-3B49C99B58D6}"/>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5" name="Picture 14">
                <a:extLst>
                  <a:ext uri="{FF2B5EF4-FFF2-40B4-BE49-F238E27FC236}">
                    <a16:creationId xmlns:a16="http://schemas.microsoft.com/office/drawing/2014/main" id="{02446E99-46E7-3A45-447A-7A1C7A626ADE}"/>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7" name="Group 6">
              <a:extLst>
                <a:ext uri="{FF2B5EF4-FFF2-40B4-BE49-F238E27FC236}">
                  <a16:creationId xmlns:a16="http://schemas.microsoft.com/office/drawing/2014/main" id="{4FCC6481-91A4-438B-341D-C34AB6EE67A0}"/>
                </a:ext>
              </a:extLst>
            </p:cNvPr>
            <p:cNvGrpSpPr/>
            <p:nvPr/>
          </p:nvGrpSpPr>
          <p:grpSpPr>
            <a:xfrm>
              <a:off x="-1322914" y="5733000"/>
              <a:ext cx="1296000" cy="1296000"/>
              <a:chOff x="-1322914" y="5733000"/>
              <a:chExt cx="1296000" cy="1296000"/>
            </a:xfrm>
          </p:grpSpPr>
          <p:sp>
            <p:nvSpPr>
              <p:cNvPr id="12" name="Flowchart: Connector 11">
                <a:extLst>
                  <a:ext uri="{FF2B5EF4-FFF2-40B4-BE49-F238E27FC236}">
                    <a16:creationId xmlns:a16="http://schemas.microsoft.com/office/drawing/2014/main" id="{04EB1815-CAED-03FD-8F33-E104BC729855}"/>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3" name="Picture 12">
                <a:extLst>
                  <a:ext uri="{FF2B5EF4-FFF2-40B4-BE49-F238E27FC236}">
                    <a16:creationId xmlns:a16="http://schemas.microsoft.com/office/drawing/2014/main" id="{D93A86D6-55A7-5AF8-1B76-2BF30FCE3A5A}"/>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8" name="Group 7">
              <a:extLst>
                <a:ext uri="{FF2B5EF4-FFF2-40B4-BE49-F238E27FC236}">
                  <a16:creationId xmlns:a16="http://schemas.microsoft.com/office/drawing/2014/main" id="{3B7048C9-1868-4F0B-01AE-FCDB84AAC2F9}"/>
                </a:ext>
              </a:extLst>
            </p:cNvPr>
            <p:cNvGrpSpPr/>
            <p:nvPr/>
          </p:nvGrpSpPr>
          <p:grpSpPr>
            <a:xfrm>
              <a:off x="-3794394" y="1125000"/>
              <a:ext cx="1296000" cy="1296000"/>
              <a:chOff x="-3794394" y="1125000"/>
              <a:chExt cx="1296000" cy="1296000"/>
            </a:xfrm>
          </p:grpSpPr>
          <p:sp>
            <p:nvSpPr>
              <p:cNvPr id="9" name="Flowchart: Connector 8">
                <a:extLst>
                  <a:ext uri="{FF2B5EF4-FFF2-40B4-BE49-F238E27FC236}">
                    <a16:creationId xmlns:a16="http://schemas.microsoft.com/office/drawing/2014/main" id="{A0C76014-D62E-4A88-C811-307D1D5B15CA}"/>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11" name="Picture 10">
                <a:extLst>
                  <a:ext uri="{FF2B5EF4-FFF2-40B4-BE49-F238E27FC236}">
                    <a16:creationId xmlns:a16="http://schemas.microsoft.com/office/drawing/2014/main" id="{2BF0D505-4321-F384-D7DA-77C477D3BF7D}"/>
                  </a:ext>
                </a:extLst>
              </p:cNvPr>
              <p:cNvPicPr>
                <a:picLocks noChangeAspect="1"/>
              </p:cNvPicPr>
              <p:nvPr/>
            </p:nvPicPr>
            <p:blipFill>
              <a:blip r:embed="rId4">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46" name="TextBox 45">
            <a:extLst>
              <a:ext uri="{FF2B5EF4-FFF2-40B4-BE49-F238E27FC236}">
                <a16:creationId xmlns:a16="http://schemas.microsoft.com/office/drawing/2014/main" id="{2C9DD5F0-AD09-3DF5-6E3E-7F70AA461BFF}"/>
              </a:ext>
            </a:extLst>
          </p:cNvPr>
          <p:cNvSpPr txBox="1"/>
          <p:nvPr/>
        </p:nvSpPr>
        <p:spPr>
          <a:xfrm>
            <a:off x="5482548" y="1552451"/>
            <a:ext cx="5270581" cy="523220"/>
          </a:xfrm>
          <a:prstGeom prst="rect">
            <a:avLst/>
          </a:prstGeom>
          <a:noFill/>
        </p:spPr>
        <p:txBody>
          <a:bodyPr wrap="square" rtlCol="0">
            <a:spAutoFit/>
          </a:bodyPr>
          <a:lstStyle/>
          <a:p>
            <a:r>
              <a:rPr lang="en-US" sz="2800" dirty="0">
                <a:latin typeface="Bahnschrift SemiBold" panose="020B0502040204020203" pitchFamily="34" charset="0"/>
                <a:ea typeface="IBM Plex Sans Medium" pitchFamily="34" charset="-122"/>
                <a:cs typeface="IBM Plex Sans Medium" pitchFamily="34" charset="-120"/>
              </a:rPr>
              <a:t>Architecture </a:t>
            </a:r>
            <a:r>
              <a:rPr lang="en-US" sz="2800" dirty="0" err="1">
                <a:latin typeface="Bahnschrift SemiBold" panose="020B0502040204020203" pitchFamily="34" charset="0"/>
                <a:ea typeface="IBM Plex Sans Medium" pitchFamily="34" charset="-122"/>
                <a:cs typeface="IBM Plex Sans Medium" pitchFamily="34" charset="-120"/>
              </a:rPr>
              <a:t>Globale</a:t>
            </a:r>
            <a:r>
              <a:rPr lang="en-US" sz="2800" dirty="0">
                <a:latin typeface="Bahnschrift SemiBold" panose="020B0502040204020203" pitchFamily="34" charset="0"/>
                <a:ea typeface="IBM Plex Sans Medium" pitchFamily="34" charset="-122"/>
                <a:cs typeface="IBM Plex Sans Medium" pitchFamily="34" charset="-120"/>
              </a:rPr>
              <a:t> </a:t>
            </a:r>
            <a:r>
              <a:rPr lang="en-US" sz="2800" dirty="0" err="1">
                <a:latin typeface="Bahnschrift SemiBold" panose="020B0502040204020203" pitchFamily="34" charset="0"/>
                <a:ea typeface="IBM Plex Sans Medium" pitchFamily="34" charset="-122"/>
                <a:cs typeface="IBM Plex Sans Medium" pitchFamily="34" charset="-120"/>
              </a:rPr>
              <a:t>Sécurisée</a:t>
            </a:r>
            <a:endParaRPr lang="en-US" sz="2800" dirty="0">
              <a:latin typeface="Bahnschrift SemiBold" panose="020B0502040204020203" pitchFamily="34" charset="0"/>
            </a:endParaRPr>
          </a:p>
        </p:txBody>
      </p:sp>
      <p:sp>
        <p:nvSpPr>
          <p:cNvPr id="3" name="TextBox 2">
            <a:extLst>
              <a:ext uri="{FF2B5EF4-FFF2-40B4-BE49-F238E27FC236}">
                <a16:creationId xmlns:a16="http://schemas.microsoft.com/office/drawing/2014/main" id="{45117377-E409-E83C-D005-1E4868D3C631}"/>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pic>
        <p:nvPicPr>
          <p:cNvPr id="10" name="Image 4">
            <a:extLst>
              <a:ext uri="{FF2B5EF4-FFF2-40B4-BE49-F238E27FC236}">
                <a16:creationId xmlns:a16="http://schemas.microsoft.com/office/drawing/2014/main" id="{77AAE811-0FA2-1281-9EE2-663D1D6EB4F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132" b="3480"/>
          <a:stretch>
            <a:fillRect/>
          </a:stretch>
        </p:blipFill>
        <p:spPr bwMode="auto">
          <a:xfrm>
            <a:off x="5238749" y="2308677"/>
            <a:ext cx="5758180" cy="3587750"/>
          </a:xfrm>
          <a:prstGeom prst="rect">
            <a:avLst/>
          </a:prstGeom>
          <a:ln>
            <a:solidFill>
              <a:schemeClr val="tx1"/>
            </a:solidFill>
          </a:ln>
          <a:extLst>
            <a:ext uri="{53640926-AAD7-44D8-BBD7-CCE9431645EC}">
              <a14:shadowObscured xmlns:a14="http://schemas.microsoft.com/office/drawing/2010/main"/>
            </a:ext>
          </a:extLst>
        </p:spPr>
      </p:pic>
      <p:sp>
        <p:nvSpPr>
          <p:cNvPr id="2" name="Rectangle: Rounded Corners 6">
            <a:extLst>
              <a:ext uri="{FF2B5EF4-FFF2-40B4-BE49-F238E27FC236}">
                <a16:creationId xmlns:a16="http://schemas.microsoft.com/office/drawing/2014/main" id="{8087637C-2A6F-8858-5D3C-26BE20DD9F4F}"/>
              </a:ext>
            </a:extLst>
          </p:cNvPr>
          <p:cNvSpPr/>
          <p:nvPr/>
        </p:nvSpPr>
        <p:spPr>
          <a:xfrm>
            <a:off x="4917093" y="7375200"/>
            <a:ext cx="4402005" cy="3072308"/>
          </a:xfrm>
          <a:prstGeom prst="roundRect">
            <a:avLst/>
          </a:prstGeom>
          <a:blipFill>
            <a:blip r:embed="rId7"/>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8" name="Picture 5">
            <a:extLst>
              <a:ext uri="{FF2B5EF4-FFF2-40B4-BE49-F238E27FC236}">
                <a16:creationId xmlns:a16="http://schemas.microsoft.com/office/drawing/2014/main" id="{4591BDD0-0AF8-2E75-3CFD-E34665F44DC1}"/>
              </a:ext>
            </a:extLst>
          </p:cNvPr>
          <p:cNvPicPr>
            <a:picLocks noChangeAspect="1"/>
          </p:cNvPicPr>
          <p:nvPr/>
        </p:nvPicPr>
        <p:blipFill>
          <a:blip r:embed="rId8"/>
          <a:stretch>
            <a:fillRect/>
          </a:stretch>
        </p:blipFill>
        <p:spPr>
          <a:xfrm rot="19845834">
            <a:off x="13418763" y="1160572"/>
            <a:ext cx="1424744" cy="1424744"/>
          </a:xfrm>
          <a:prstGeom prst="rect">
            <a:avLst/>
          </a:prstGeom>
        </p:spPr>
      </p:pic>
      <p:sp>
        <p:nvSpPr>
          <p:cNvPr id="19" name="TextBox 14">
            <a:extLst>
              <a:ext uri="{FF2B5EF4-FFF2-40B4-BE49-F238E27FC236}">
                <a16:creationId xmlns:a16="http://schemas.microsoft.com/office/drawing/2014/main" id="{E4427C73-4B4F-6DE4-286A-47C1D939CCB0}"/>
              </a:ext>
            </a:extLst>
          </p:cNvPr>
          <p:cNvSpPr txBox="1"/>
          <p:nvPr/>
        </p:nvSpPr>
        <p:spPr>
          <a:xfrm>
            <a:off x="3749563" y="-1650310"/>
            <a:ext cx="6291372" cy="1446550"/>
          </a:xfrm>
          <a:prstGeom prst="rect">
            <a:avLst/>
          </a:prstGeom>
          <a:noFill/>
        </p:spPr>
        <p:txBody>
          <a:bodyPr wrap="square" rtlCol="0">
            <a:spAutoFit/>
          </a:bodyPr>
          <a:lstStyle/>
          <a:p>
            <a:pPr algn="ctr"/>
            <a:r>
              <a:rPr lang="fr-FR" sz="4400" b="1" dirty="0">
                <a:solidFill>
                  <a:schemeClr val="accent2">
                    <a:lumMod val="50000"/>
                  </a:schemeClr>
                </a:solidFill>
                <a:latin typeface="Rockwell" panose="02060603020205020403" pitchFamily="18" charset="0"/>
              </a:rPr>
              <a:t>Absence de Contrôle d'Accès</a:t>
            </a:r>
          </a:p>
        </p:txBody>
      </p:sp>
      <p:grpSp>
        <p:nvGrpSpPr>
          <p:cNvPr id="20" name="Group 16">
            <a:extLst>
              <a:ext uri="{FF2B5EF4-FFF2-40B4-BE49-F238E27FC236}">
                <a16:creationId xmlns:a16="http://schemas.microsoft.com/office/drawing/2014/main" id="{7374448E-361F-69C1-3D5C-8A1A5F751424}"/>
              </a:ext>
            </a:extLst>
          </p:cNvPr>
          <p:cNvGrpSpPr/>
          <p:nvPr/>
        </p:nvGrpSpPr>
        <p:grpSpPr>
          <a:xfrm rot="21362164">
            <a:off x="-10422793" y="-171000"/>
            <a:ext cx="7200000" cy="7209000"/>
            <a:chOff x="-4274914" y="-171000"/>
            <a:chExt cx="7200000" cy="7209000"/>
          </a:xfrm>
        </p:grpSpPr>
        <p:sp>
          <p:nvSpPr>
            <p:cNvPr id="21" name="Oval 17">
              <a:extLst>
                <a:ext uri="{FF2B5EF4-FFF2-40B4-BE49-F238E27FC236}">
                  <a16:creationId xmlns:a16="http://schemas.microsoft.com/office/drawing/2014/main" id="{052E9889-6B52-C3C9-2A00-F69957E95563}"/>
                </a:ext>
              </a:extLst>
            </p:cNvPr>
            <p:cNvSpPr/>
            <p:nvPr/>
          </p:nvSpPr>
          <p:spPr>
            <a:xfrm>
              <a:off x="-2618914" y="1485000"/>
              <a:ext cx="3888000" cy="3888000"/>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18">
              <a:extLst>
                <a:ext uri="{FF2B5EF4-FFF2-40B4-BE49-F238E27FC236}">
                  <a16:creationId xmlns:a16="http://schemas.microsoft.com/office/drawing/2014/main" id="{B4E14DD6-0C8C-6859-5909-0DFBA11ED308}"/>
                </a:ext>
              </a:extLst>
            </p:cNvPr>
            <p:cNvGrpSpPr/>
            <p:nvPr/>
          </p:nvGrpSpPr>
          <p:grpSpPr>
            <a:xfrm>
              <a:off x="-4274914" y="-171000"/>
              <a:ext cx="7200000" cy="7209000"/>
              <a:chOff x="-4274914" y="-171000"/>
              <a:chExt cx="7200000" cy="7209000"/>
            </a:xfrm>
          </p:grpSpPr>
          <p:sp>
            <p:nvSpPr>
              <p:cNvPr id="23" name="Circle: Hollow 19">
                <a:extLst>
                  <a:ext uri="{FF2B5EF4-FFF2-40B4-BE49-F238E27FC236}">
                    <a16:creationId xmlns:a16="http://schemas.microsoft.com/office/drawing/2014/main" id="{35ABA930-74F0-3158-28F1-C490B6E21DC1}"/>
                  </a:ext>
                </a:extLst>
              </p:cNvPr>
              <p:cNvSpPr/>
              <p:nvPr/>
            </p:nvSpPr>
            <p:spPr>
              <a:xfrm>
                <a:off x="-4274914" y="-171000"/>
                <a:ext cx="7200000" cy="7200000"/>
              </a:xfrm>
              <a:prstGeom prst="donut">
                <a:avLst>
                  <a:gd name="adj" fmla="val 17674"/>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lowchart: Connector 20">
                <a:extLst>
                  <a:ext uri="{FF2B5EF4-FFF2-40B4-BE49-F238E27FC236}">
                    <a16:creationId xmlns:a16="http://schemas.microsoft.com/office/drawing/2014/main" id="{73BAC4E3-9CB5-05C9-8949-AA244B875A42}"/>
                  </a:ext>
                </a:extLst>
              </p:cNvPr>
              <p:cNvSpPr/>
              <p:nvPr/>
            </p:nvSpPr>
            <p:spPr>
              <a:xfrm>
                <a:off x="1629086" y="2781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01</a:t>
                </a:r>
              </a:p>
            </p:txBody>
          </p:sp>
          <p:sp>
            <p:nvSpPr>
              <p:cNvPr id="25" name="Flowchart: Connector 21">
                <a:extLst>
                  <a:ext uri="{FF2B5EF4-FFF2-40B4-BE49-F238E27FC236}">
                    <a16:creationId xmlns:a16="http://schemas.microsoft.com/office/drawing/2014/main" id="{D1E8685B-76E2-F5CA-E969-FE5E72CA6000}"/>
                  </a:ext>
                </a:extLst>
              </p:cNvPr>
              <p:cNvSpPr/>
              <p:nvPr/>
            </p:nvSpPr>
            <p:spPr>
              <a:xfrm rot="5400000">
                <a:off x="-1322914" y="5742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latin typeface="Bahnschrift SemiBold" panose="020B0502040204020203" pitchFamily="34" charset="0"/>
                  </a:rPr>
                  <a:t>02</a:t>
                </a:r>
              </a:p>
            </p:txBody>
          </p:sp>
          <p:sp>
            <p:nvSpPr>
              <p:cNvPr id="26" name="Flowchart: Connector 22">
                <a:extLst>
                  <a:ext uri="{FF2B5EF4-FFF2-40B4-BE49-F238E27FC236}">
                    <a16:creationId xmlns:a16="http://schemas.microsoft.com/office/drawing/2014/main" id="{E25D87BB-738A-82F1-A53C-5083F7D22D2F}"/>
                  </a:ext>
                </a:extLst>
              </p:cNvPr>
              <p:cNvSpPr/>
              <p:nvPr/>
            </p:nvSpPr>
            <p:spPr>
              <a:xfrm rot="10800000">
                <a:off x="-4274914" y="2781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300" dirty="0">
                    <a:latin typeface="Bahnschrift SemiBold" panose="020B0502040204020203" pitchFamily="34" charset="0"/>
                  </a:rPr>
                  <a:t>03</a:t>
                </a:r>
              </a:p>
            </p:txBody>
          </p:sp>
          <p:sp>
            <p:nvSpPr>
              <p:cNvPr id="27" name="Flowchart: Connector 23">
                <a:extLst>
                  <a:ext uri="{FF2B5EF4-FFF2-40B4-BE49-F238E27FC236}">
                    <a16:creationId xmlns:a16="http://schemas.microsoft.com/office/drawing/2014/main" id="{2F7C74C3-01A0-B49F-0C4F-8BD12704B805}"/>
                  </a:ext>
                </a:extLst>
              </p:cNvPr>
              <p:cNvSpPr/>
              <p:nvPr/>
            </p:nvSpPr>
            <p:spPr>
              <a:xfrm rot="16200000">
                <a:off x="-1322914" y="-171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100" dirty="0">
                    <a:latin typeface="Bahnschrift SemiBold" panose="020B0502040204020203" pitchFamily="34" charset="0"/>
                  </a:rPr>
                  <a:t>04</a:t>
                </a:r>
              </a:p>
            </p:txBody>
          </p:sp>
        </p:grpSp>
      </p:grpSp>
    </p:spTree>
    <p:extLst>
      <p:ext uri="{BB962C8B-B14F-4D97-AF65-F5344CB8AC3E}">
        <p14:creationId xmlns:p14="http://schemas.microsoft.com/office/powerpoint/2010/main" val="26458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B4BB2-6087-578F-2DA5-D4AE39B0561B}"/>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DD1D0905-16B3-C2AA-55AA-3AC4E7FDBFA5}"/>
              </a:ext>
            </a:extLst>
          </p:cNvPr>
          <p:cNvSpPr txBox="1"/>
          <p:nvPr/>
        </p:nvSpPr>
        <p:spPr>
          <a:xfrm>
            <a:off x="5767005" y="3235261"/>
            <a:ext cx="5271039" cy="387478"/>
          </a:xfrm>
          <a:prstGeom prst="rect">
            <a:avLst/>
          </a:prstGeom>
          <a:noFill/>
        </p:spPr>
        <p:txBody>
          <a:bodyPr wrap="square" rtlCol="0">
            <a:spAutoFit/>
          </a:bodyPr>
          <a:lstStyle/>
          <a:p>
            <a:pPr>
              <a:lnSpc>
                <a:spcPts val="2250"/>
              </a:lnSpc>
            </a:pPr>
            <a:r>
              <a:rPr lang="en-US" sz="2800" dirty="0">
                <a:latin typeface="Bahnschrift SemiBold" panose="020B0502040204020203" pitchFamily="34" charset="0"/>
                <a:ea typeface="IBM Plex Sans Medium" pitchFamily="34" charset="-122"/>
                <a:cs typeface="IBM Plex Sans Medium" pitchFamily="34" charset="-120"/>
              </a:rPr>
              <a:t>Implémentation RBAC Complète</a:t>
            </a:r>
            <a:endParaRPr lang="en-US" sz="2800" dirty="0">
              <a:latin typeface="Bahnschrift SemiBold" panose="020B0502040204020203" pitchFamily="34" charset="0"/>
            </a:endParaRPr>
          </a:p>
        </p:txBody>
      </p:sp>
      <p:sp>
        <p:nvSpPr>
          <p:cNvPr id="3" name="TextBox 2">
            <a:extLst>
              <a:ext uri="{FF2B5EF4-FFF2-40B4-BE49-F238E27FC236}">
                <a16:creationId xmlns:a16="http://schemas.microsoft.com/office/drawing/2014/main" id="{C9D219BE-E678-92C1-50B2-D97D49C6C2E5}"/>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grpSp>
        <p:nvGrpSpPr>
          <p:cNvPr id="10" name="Group 9">
            <a:extLst>
              <a:ext uri="{FF2B5EF4-FFF2-40B4-BE49-F238E27FC236}">
                <a16:creationId xmlns:a16="http://schemas.microsoft.com/office/drawing/2014/main" id="{0C6A5B63-3EE6-D2B8-E784-235DBC35D3A4}"/>
              </a:ext>
            </a:extLst>
          </p:cNvPr>
          <p:cNvGrpSpPr/>
          <p:nvPr/>
        </p:nvGrpSpPr>
        <p:grpSpPr>
          <a:xfrm rot="16200000">
            <a:off x="-4771681" y="-171002"/>
            <a:ext cx="7200000" cy="7200000"/>
            <a:chOff x="-4274914" y="-171000"/>
            <a:chExt cx="7200000" cy="7200000"/>
          </a:xfrm>
        </p:grpSpPr>
        <p:grpSp>
          <p:nvGrpSpPr>
            <p:cNvPr id="20" name="Group 19">
              <a:extLst>
                <a:ext uri="{FF2B5EF4-FFF2-40B4-BE49-F238E27FC236}">
                  <a16:creationId xmlns:a16="http://schemas.microsoft.com/office/drawing/2014/main" id="{D240ACF2-DB9D-EE97-9837-63C8E77D0DD0}"/>
                </a:ext>
              </a:extLst>
            </p:cNvPr>
            <p:cNvGrpSpPr/>
            <p:nvPr/>
          </p:nvGrpSpPr>
          <p:grpSpPr>
            <a:xfrm rot="2285770">
              <a:off x="-4274914" y="-171000"/>
              <a:ext cx="7200000" cy="7200000"/>
              <a:chOff x="-4274914" y="-171000"/>
              <a:chExt cx="7200000" cy="7200000"/>
            </a:xfrm>
          </p:grpSpPr>
          <p:sp>
            <p:nvSpPr>
              <p:cNvPr id="30" name="Oval 29">
                <a:extLst>
                  <a:ext uri="{FF2B5EF4-FFF2-40B4-BE49-F238E27FC236}">
                    <a16:creationId xmlns:a16="http://schemas.microsoft.com/office/drawing/2014/main" id="{BEFF2C77-BB84-BD9C-E125-EF84975E222A}"/>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Circle: Hollow 30">
                <a:extLst>
                  <a:ext uri="{FF2B5EF4-FFF2-40B4-BE49-F238E27FC236}">
                    <a16:creationId xmlns:a16="http://schemas.microsoft.com/office/drawing/2014/main" id="{25AE19E6-867C-4894-6828-B547AD07103B}"/>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1" name="Group 20">
              <a:extLst>
                <a:ext uri="{FF2B5EF4-FFF2-40B4-BE49-F238E27FC236}">
                  <a16:creationId xmlns:a16="http://schemas.microsoft.com/office/drawing/2014/main" id="{4A633948-4C48-1AE8-7214-269ACCCC0AB7}"/>
                </a:ext>
              </a:extLst>
            </p:cNvPr>
            <p:cNvGrpSpPr/>
            <p:nvPr/>
          </p:nvGrpSpPr>
          <p:grpSpPr>
            <a:xfrm>
              <a:off x="1449086" y="1773001"/>
              <a:ext cx="1296000" cy="1296000"/>
              <a:chOff x="1449086" y="1773001"/>
              <a:chExt cx="1296000" cy="1296000"/>
            </a:xfrm>
          </p:grpSpPr>
          <p:sp>
            <p:nvSpPr>
              <p:cNvPr id="28" name="Flowchart: Connector 27">
                <a:extLst>
                  <a:ext uri="{FF2B5EF4-FFF2-40B4-BE49-F238E27FC236}">
                    <a16:creationId xmlns:a16="http://schemas.microsoft.com/office/drawing/2014/main" id="{FD89C647-B24C-A78E-A62E-0FE0DA931EA9}"/>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9" name="Picture 28">
                <a:extLst>
                  <a:ext uri="{FF2B5EF4-FFF2-40B4-BE49-F238E27FC236}">
                    <a16:creationId xmlns:a16="http://schemas.microsoft.com/office/drawing/2014/main" id="{9CE9426D-87C5-7D45-EF2A-1ACA894BE2BF}"/>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22" name="Group 21">
              <a:extLst>
                <a:ext uri="{FF2B5EF4-FFF2-40B4-BE49-F238E27FC236}">
                  <a16:creationId xmlns:a16="http://schemas.microsoft.com/office/drawing/2014/main" id="{AB896546-FEDA-C3A2-7B1F-91046665CA22}"/>
                </a:ext>
              </a:extLst>
            </p:cNvPr>
            <p:cNvGrpSpPr/>
            <p:nvPr/>
          </p:nvGrpSpPr>
          <p:grpSpPr>
            <a:xfrm>
              <a:off x="-1322914" y="5733000"/>
              <a:ext cx="1296000" cy="1296000"/>
              <a:chOff x="-1322914" y="5733000"/>
              <a:chExt cx="1296000" cy="1296000"/>
            </a:xfrm>
          </p:grpSpPr>
          <p:sp>
            <p:nvSpPr>
              <p:cNvPr id="26" name="Flowchart: Connector 25">
                <a:extLst>
                  <a:ext uri="{FF2B5EF4-FFF2-40B4-BE49-F238E27FC236}">
                    <a16:creationId xmlns:a16="http://schemas.microsoft.com/office/drawing/2014/main" id="{5587C42E-AEF7-FECA-51AC-8A58BB6172F8}"/>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7" name="Picture 26">
                <a:extLst>
                  <a:ext uri="{FF2B5EF4-FFF2-40B4-BE49-F238E27FC236}">
                    <a16:creationId xmlns:a16="http://schemas.microsoft.com/office/drawing/2014/main" id="{1697C27D-75AF-1565-1528-AED7392E3046}"/>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3" name="Group 22">
              <a:extLst>
                <a:ext uri="{FF2B5EF4-FFF2-40B4-BE49-F238E27FC236}">
                  <a16:creationId xmlns:a16="http://schemas.microsoft.com/office/drawing/2014/main" id="{2CAA21B7-A762-01F6-0F09-71FF49B04146}"/>
                </a:ext>
              </a:extLst>
            </p:cNvPr>
            <p:cNvGrpSpPr/>
            <p:nvPr/>
          </p:nvGrpSpPr>
          <p:grpSpPr>
            <a:xfrm>
              <a:off x="-3794394" y="1125000"/>
              <a:ext cx="1296000" cy="1296000"/>
              <a:chOff x="-3794394" y="1125000"/>
              <a:chExt cx="1296000" cy="1296000"/>
            </a:xfrm>
          </p:grpSpPr>
          <p:sp>
            <p:nvSpPr>
              <p:cNvPr id="24" name="Flowchart: Connector 23">
                <a:extLst>
                  <a:ext uri="{FF2B5EF4-FFF2-40B4-BE49-F238E27FC236}">
                    <a16:creationId xmlns:a16="http://schemas.microsoft.com/office/drawing/2014/main" id="{159B8065-F569-AD0A-C766-FE2CDB126AB4}"/>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5" name="Picture 24">
                <a:extLst>
                  <a:ext uri="{FF2B5EF4-FFF2-40B4-BE49-F238E27FC236}">
                    <a16:creationId xmlns:a16="http://schemas.microsoft.com/office/drawing/2014/main" id="{73A684DD-9B08-E6F1-7FEF-D6B5AED958E7}"/>
                  </a:ext>
                </a:extLst>
              </p:cNvPr>
              <p:cNvPicPr>
                <a:picLocks noChangeAspect="1"/>
              </p:cNvPicPr>
              <p:nvPr/>
            </p:nvPicPr>
            <p:blipFill>
              <a:blip r:embed="rId4">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Tree>
    <p:extLst>
      <p:ext uri="{BB962C8B-B14F-4D97-AF65-F5344CB8AC3E}">
        <p14:creationId xmlns:p14="http://schemas.microsoft.com/office/powerpoint/2010/main" val="1171142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9A7F0-556C-912B-0D5E-20AFCFC1F9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140BF7-F95B-1889-85D5-C0209BB59998}"/>
              </a:ext>
            </a:extLst>
          </p:cNvPr>
          <p:cNvSpPr txBox="1"/>
          <p:nvPr/>
        </p:nvSpPr>
        <p:spPr>
          <a:xfrm>
            <a:off x="6002602" y="3235261"/>
            <a:ext cx="4877965" cy="387478"/>
          </a:xfrm>
          <a:prstGeom prst="rect">
            <a:avLst/>
          </a:prstGeom>
          <a:noFill/>
        </p:spPr>
        <p:txBody>
          <a:bodyPr wrap="square" rtlCol="0">
            <a:spAutoFit/>
          </a:bodyPr>
          <a:lstStyle/>
          <a:p>
            <a:pPr>
              <a:lnSpc>
                <a:spcPts val="2250"/>
              </a:lnSpc>
            </a:pPr>
            <a:r>
              <a:rPr lang="en-US" sz="2800" dirty="0">
                <a:latin typeface="Bahnschrift SemiBold" panose="020B0502040204020203" pitchFamily="34" charset="0"/>
                <a:ea typeface="IBM Plex Sans Medium" pitchFamily="34" charset="-122"/>
                <a:cs typeface="IBM Plex Sans Medium" pitchFamily="34" charset="-120"/>
              </a:rPr>
              <a:t>Protection Anti-SQL Injection </a:t>
            </a:r>
            <a:endParaRPr lang="en-US" sz="2800" dirty="0">
              <a:latin typeface="Bahnschrift SemiBold" panose="020B0502040204020203" pitchFamily="34" charset="0"/>
            </a:endParaRPr>
          </a:p>
        </p:txBody>
      </p:sp>
      <p:sp>
        <p:nvSpPr>
          <p:cNvPr id="20" name="TextBox 19">
            <a:extLst>
              <a:ext uri="{FF2B5EF4-FFF2-40B4-BE49-F238E27FC236}">
                <a16:creationId xmlns:a16="http://schemas.microsoft.com/office/drawing/2014/main" id="{47EB611B-60FE-9E39-2F7F-963F10924682}"/>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grpSp>
        <p:nvGrpSpPr>
          <p:cNvPr id="21" name="Group 20">
            <a:extLst>
              <a:ext uri="{FF2B5EF4-FFF2-40B4-BE49-F238E27FC236}">
                <a16:creationId xmlns:a16="http://schemas.microsoft.com/office/drawing/2014/main" id="{490C7860-5563-C74F-F72A-6745FF0E728B}"/>
              </a:ext>
            </a:extLst>
          </p:cNvPr>
          <p:cNvGrpSpPr/>
          <p:nvPr/>
        </p:nvGrpSpPr>
        <p:grpSpPr>
          <a:xfrm rot="8412066">
            <a:off x="-4771681" y="-171002"/>
            <a:ext cx="7200000" cy="7200000"/>
            <a:chOff x="-4274914" y="-171000"/>
            <a:chExt cx="7200000" cy="7200000"/>
          </a:xfrm>
        </p:grpSpPr>
        <p:grpSp>
          <p:nvGrpSpPr>
            <p:cNvPr id="22" name="Group 21">
              <a:extLst>
                <a:ext uri="{FF2B5EF4-FFF2-40B4-BE49-F238E27FC236}">
                  <a16:creationId xmlns:a16="http://schemas.microsoft.com/office/drawing/2014/main" id="{FBD1541A-D108-8487-10B7-A7E7AC4108B8}"/>
                </a:ext>
              </a:extLst>
            </p:cNvPr>
            <p:cNvGrpSpPr/>
            <p:nvPr/>
          </p:nvGrpSpPr>
          <p:grpSpPr>
            <a:xfrm rot="2285770">
              <a:off x="-4274914" y="-171000"/>
              <a:ext cx="7200000" cy="7200000"/>
              <a:chOff x="-4274914" y="-171000"/>
              <a:chExt cx="7200000" cy="7200000"/>
            </a:xfrm>
          </p:grpSpPr>
          <p:sp>
            <p:nvSpPr>
              <p:cNvPr id="32" name="Oval 31">
                <a:extLst>
                  <a:ext uri="{FF2B5EF4-FFF2-40B4-BE49-F238E27FC236}">
                    <a16:creationId xmlns:a16="http://schemas.microsoft.com/office/drawing/2014/main" id="{753681DE-2FDA-C3FB-F4B9-719B70AA98E7}"/>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ircle: Hollow 32">
                <a:extLst>
                  <a:ext uri="{FF2B5EF4-FFF2-40B4-BE49-F238E27FC236}">
                    <a16:creationId xmlns:a16="http://schemas.microsoft.com/office/drawing/2014/main" id="{B46B82BB-B0A7-6029-77A1-EC453CDB15F6}"/>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729AFDF2-4AE1-C26E-AAD8-F0E6E9884F61}"/>
                </a:ext>
              </a:extLst>
            </p:cNvPr>
            <p:cNvGrpSpPr/>
            <p:nvPr/>
          </p:nvGrpSpPr>
          <p:grpSpPr>
            <a:xfrm>
              <a:off x="1449086" y="1773000"/>
              <a:ext cx="1296000" cy="1296000"/>
              <a:chOff x="1449086" y="1773001"/>
              <a:chExt cx="1296000" cy="1296000"/>
            </a:xfrm>
          </p:grpSpPr>
          <p:sp>
            <p:nvSpPr>
              <p:cNvPr id="30" name="Flowchart: Connector 29">
                <a:extLst>
                  <a:ext uri="{FF2B5EF4-FFF2-40B4-BE49-F238E27FC236}">
                    <a16:creationId xmlns:a16="http://schemas.microsoft.com/office/drawing/2014/main" id="{EB81EDAB-2483-204D-5FDC-98E43D17DD38}"/>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1" name="Picture 30">
                <a:extLst>
                  <a:ext uri="{FF2B5EF4-FFF2-40B4-BE49-F238E27FC236}">
                    <a16:creationId xmlns:a16="http://schemas.microsoft.com/office/drawing/2014/main" id="{32B36D18-B838-98A5-A2AB-8963C70F33C8}"/>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24" name="Group 23">
              <a:extLst>
                <a:ext uri="{FF2B5EF4-FFF2-40B4-BE49-F238E27FC236}">
                  <a16:creationId xmlns:a16="http://schemas.microsoft.com/office/drawing/2014/main" id="{4FD87BC5-D0CA-CCF0-EDA1-DD76EF838A99}"/>
                </a:ext>
              </a:extLst>
            </p:cNvPr>
            <p:cNvGrpSpPr/>
            <p:nvPr/>
          </p:nvGrpSpPr>
          <p:grpSpPr>
            <a:xfrm>
              <a:off x="-1322914" y="5733000"/>
              <a:ext cx="1296000" cy="1296000"/>
              <a:chOff x="-1322914" y="5733000"/>
              <a:chExt cx="1296000" cy="1296000"/>
            </a:xfrm>
          </p:grpSpPr>
          <p:sp>
            <p:nvSpPr>
              <p:cNvPr id="28" name="Flowchart: Connector 27">
                <a:extLst>
                  <a:ext uri="{FF2B5EF4-FFF2-40B4-BE49-F238E27FC236}">
                    <a16:creationId xmlns:a16="http://schemas.microsoft.com/office/drawing/2014/main" id="{FFBA46B4-14C5-D0EF-6516-8E6DB1EA6344}"/>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9" name="Picture 28">
                <a:extLst>
                  <a:ext uri="{FF2B5EF4-FFF2-40B4-BE49-F238E27FC236}">
                    <a16:creationId xmlns:a16="http://schemas.microsoft.com/office/drawing/2014/main" id="{CC23D1CC-0D6F-2DF6-E582-36A2C30A22FA}"/>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5" name="Group 24">
              <a:extLst>
                <a:ext uri="{FF2B5EF4-FFF2-40B4-BE49-F238E27FC236}">
                  <a16:creationId xmlns:a16="http://schemas.microsoft.com/office/drawing/2014/main" id="{1E6A65A4-98A0-9B9E-5F7D-61300A1DA1C8}"/>
                </a:ext>
              </a:extLst>
            </p:cNvPr>
            <p:cNvGrpSpPr/>
            <p:nvPr/>
          </p:nvGrpSpPr>
          <p:grpSpPr>
            <a:xfrm>
              <a:off x="-3794394" y="1125000"/>
              <a:ext cx="1296000" cy="1296000"/>
              <a:chOff x="-3794394" y="1125000"/>
              <a:chExt cx="1296000" cy="1296000"/>
            </a:xfrm>
          </p:grpSpPr>
          <p:sp>
            <p:nvSpPr>
              <p:cNvPr id="26" name="Flowchart: Connector 25">
                <a:extLst>
                  <a:ext uri="{FF2B5EF4-FFF2-40B4-BE49-F238E27FC236}">
                    <a16:creationId xmlns:a16="http://schemas.microsoft.com/office/drawing/2014/main" id="{26C6D04A-69B5-C95F-92A0-ADA8A2478F2D}"/>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7" name="Picture 26">
                <a:extLst>
                  <a:ext uri="{FF2B5EF4-FFF2-40B4-BE49-F238E27FC236}">
                    <a16:creationId xmlns:a16="http://schemas.microsoft.com/office/drawing/2014/main" id="{C214A04D-6C13-D056-B67C-79F3D63177AC}"/>
                  </a:ext>
                </a:extLst>
              </p:cNvPr>
              <p:cNvPicPr>
                <a:picLocks noChangeAspect="1"/>
              </p:cNvPicPr>
              <p:nvPr/>
            </p:nvPicPr>
            <p:blipFill>
              <a:blip r:embed="rId5">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6">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grpSp>
        <p:nvGrpSpPr>
          <p:cNvPr id="47" name="Group 46">
            <a:extLst>
              <a:ext uri="{FF2B5EF4-FFF2-40B4-BE49-F238E27FC236}">
                <a16:creationId xmlns:a16="http://schemas.microsoft.com/office/drawing/2014/main" id="{BBDED76C-9ADC-F81A-D8F1-D7BD269501E6}"/>
              </a:ext>
            </a:extLst>
          </p:cNvPr>
          <p:cNvGrpSpPr/>
          <p:nvPr/>
        </p:nvGrpSpPr>
        <p:grpSpPr>
          <a:xfrm rot="12625982" flipV="1">
            <a:off x="13668721" y="-162594"/>
            <a:ext cx="7200000" cy="7200000"/>
            <a:chOff x="-4274914" y="-171000"/>
            <a:chExt cx="7200000" cy="7200000"/>
          </a:xfrm>
        </p:grpSpPr>
        <p:grpSp>
          <p:nvGrpSpPr>
            <p:cNvPr id="48" name="Group 47">
              <a:extLst>
                <a:ext uri="{FF2B5EF4-FFF2-40B4-BE49-F238E27FC236}">
                  <a16:creationId xmlns:a16="http://schemas.microsoft.com/office/drawing/2014/main" id="{5407234A-0101-F821-A0A2-B975B2202DFE}"/>
                </a:ext>
              </a:extLst>
            </p:cNvPr>
            <p:cNvGrpSpPr/>
            <p:nvPr/>
          </p:nvGrpSpPr>
          <p:grpSpPr>
            <a:xfrm rot="2285770">
              <a:off x="-4274914" y="-171000"/>
              <a:ext cx="7200000" cy="7200000"/>
              <a:chOff x="-4274914" y="-171000"/>
              <a:chExt cx="7200000" cy="7200000"/>
            </a:xfrm>
          </p:grpSpPr>
          <p:sp>
            <p:nvSpPr>
              <p:cNvPr id="58" name="Oval 57">
                <a:extLst>
                  <a:ext uri="{FF2B5EF4-FFF2-40B4-BE49-F238E27FC236}">
                    <a16:creationId xmlns:a16="http://schemas.microsoft.com/office/drawing/2014/main" id="{87096475-B95E-3C5E-D612-A5CCBBEAF855}"/>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Circle: Hollow 58">
                <a:extLst>
                  <a:ext uri="{FF2B5EF4-FFF2-40B4-BE49-F238E27FC236}">
                    <a16:creationId xmlns:a16="http://schemas.microsoft.com/office/drawing/2014/main" id="{F36D170C-D7ED-09AC-0EDB-689C79DDBB3D}"/>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9" name="Group 48">
              <a:extLst>
                <a:ext uri="{FF2B5EF4-FFF2-40B4-BE49-F238E27FC236}">
                  <a16:creationId xmlns:a16="http://schemas.microsoft.com/office/drawing/2014/main" id="{888952D9-CF0E-A29F-940A-AF2C40896E6D}"/>
                </a:ext>
              </a:extLst>
            </p:cNvPr>
            <p:cNvGrpSpPr/>
            <p:nvPr/>
          </p:nvGrpSpPr>
          <p:grpSpPr>
            <a:xfrm>
              <a:off x="1449086" y="1773000"/>
              <a:ext cx="1296000" cy="1296000"/>
              <a:chOff x="1449086" y="1773001"/>
              <a:chExt cx="1296000" cy="1296000"/>
            </a:xfrm>
          </p:grpSpPr>
          <p:sp>
            <p:nvSpPr>
              <p:cNvPr id="56" name="Flowchart: Connector 55">
                <a:extLst>
                  <a:ext uri="{FF2B5EF4-FFF2-40B4-BE49-F238E27FC236}">
                    <a16:creationId xmlns:a16="http://schemas.microsoft.com/office/drawing/2014/main" id="{C80E7C31-D48F-C061-9FD7-D599519999EC}"/>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57" name="Picture 56">
                <a:extLst>
                  <a:ext uri="{FF2B5EF4-FFF2-40B4-BE49-F238E27FC236}">
                    <a16:creationId xmlns:a16="http://schemas.microsoft.com/office/drawing/2014/main" id="{EE729F6A-342C-B640-D38B-9241A543BE0E}"/>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a:stretch/>
            </p:blipFill>
            <p:spPr>
              <a:xfrm rot="20324588" flipH="1">
                <a:off x="1635343" y="1959258"/>
                <a:ext cx="923486" cy="923486"/>
              </a:xfrm>
              <a:prstGeom prst="rect">
                <a:avLst/>
              </a:prstGeom>
            </p:spPr>
          </p:pic>
        </p:grpSp>
        <p:grpSp>
          <p:nvGrpSpPr>
            <p:cNvPr id="50" name="Group 49">
              <a:extLst>
                <a:ext uri="{FF2B5EF4-FFF2-40B4-BE49-F238E27FC236}">
                  <a16:creationId xmlns:a16="http://schemas.microsoft.com/office/drawing/2014/main" id="{2D208DB1-1F31-C099-F530-61B41165032A}"/>
                </a:ext>
              </a:extLst>
            </p:cNvPr>
            <p:cNvGrpSpPr/>
            <p:nvPr/>
          </p:nvGrpSpPr>
          <p:grpSpPr>
            <a:xfrm>
              <a:off x="-1322914" y="5733000"/>
              <a:ext cx="1296000" cy="1296000"/>
              <a:chOff x="-1322914" y="5733000"/>
              <a:chExt cx="1296000" cy="1296000"/>
            </a:xfrm>
          </p:grpSpPr>
          <p:sp>
            <p:nvSpPr>
              <p:cNvPr id="54" name="Flowchart: Connector 53">
                <a:extLst>
                  <a:ext uri="{FF2B5EF4-FFF2-40B4-BE49-F238E27FC236}">
                    <a16:creationId xmlns:a16="http://schemas.microsoft.com/office/drawing/2014/main" id="{E2DB17B6-BAB9-E6FA-2EF1-486B2689385A}"/>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55" name="Picture 54">
                <a:extLst>
                  <a:ext uri="{FF2B5EF4-FFF2-40B4-BE49-F238E27FC236}">
                    <a16:creationId xmlns:a16="http://schemas.microsoft.com/office/drawing/2014/main" id="{AA99F5CF-AF7D-CE20-7845-201868DE7659}"/>
                  </a:ext>
                </a:extLst>
              </p:cNvPr>
              <p:cNvPicPr>
                <a:picLocks noChangeAspect="1"/>
              </p:cNvPicPr>
              <p:nvPr/>
            </p:nvPicPr>
            <p:blipFill>
              <a:blip r:embed="rId8">
                <a:lum bright="70000" contrast="-70000"/>
                <a:extLst>
                  <a:ext uri="{28A0092B-C50C-407E-A947-70E740481C1C}">
                    <a14:useLocalDpi xmlns:a14="http://schemas.microsoft.com/office/drawing/2010/main" val="0"/>
                  </a:ext>
                </a:extLst>
              </a:blip>
              <a:srcRect/>
              <a:stretch/>
            </p:blipFill>
            <p:spPr>
              <a:xfrm rot="5400000" flipH="1">
                <a:off x="-939972" y="5991829"/>
                <a:ext cx="778343" cy="778343"/>
              </a:xfrm>
              <a:prstGeom prst="rect">
                <a:avLst/>
              </a:prstGeom>
            </p:spPr>
          </p:pic>
        </p:grpSp>
        <p:grpSp>
          <p:nvGrpSpPr>
            <p:cNvPr id="51" name="Group 50">
              <a:extLst>
                <a:ext uri="{FF2B5EF4-FFF2-40B4-BE49-F238E27FC236}">
                  <a16:creationId xmlns:a16="http://schemas.microsoft.com/office/drawing/2014/main" id="{F8BD577B-D09C-1A8C-5776-713F84943475}"/>
                </a:ext>
              </a:extLst>
            </p:cNvPr>
            <p:cNvGrpSpPr/>
            <p:nvPr/>
          </p:nvGrpSpPr>
          <p:grpSpPr>
            <a:xfrm>
              <a:off x="-3794394" y="1125000"/>
              <a:ext cx="1296000" cy="1296000"/>
              <a:chOff x="-3794394" y="1125000"/>
              <a:chExt cx="1296000" cy="1296000"/>
            </a:xfrm>
          </p:grpSpPr>
          <p:sp>
            <p:nvSpPr>
              <p:cNvPr id="52" name="Flowchart: Connector 51">
                <a:extLst>
                  <a:ext uri="{FF2B5EF4-FFF2-40B4-BE49-F238E27FC236}">
                    <a16:creationId xmlns:a16="http://schemas.microsoft.com/office/drawing/2014/main" id="{0A34B9E8-E666-26A6-A279-1D7BEC7B598F}"/>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53" name="Picture 52">
                <a:extLst>
                  <a:ext uri="{FF2B5EF4-FFF2-40B4-BE49-F238E27FC236}">
                    <a16:creationId xmlns:a16="http://schemas.microsoft.com/office/drawing/2014/main" id="{5429D005-238A-25B9-2D29-71B74BB0C700}"/>
                  </a:ext>
                </a:extLst>
              </p:cNvPr>
              <p:cNvPicPr>
                <a:picLocks noChangeAspect="1"/>
              </p:cNvPicPr>
              <p:nvPr/>
            </p:nvPicPr>
            <p:blipFill>
              <a:blip r:embed="rId9">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10">
                        <a14:imgEffect>
                          <a14:colorTemperature colorTemp="5300"/>
                        </a14:imgEffect>
                      </a14:imgLayer>
                    </a14:imgProps>
                  </a:ext>
                  <a:ext uri="{28A0092B-C50C-407E-A947-70E740481C1C}">
                    <a14:useLocalDpi xmlns:a14="http://schemas.microsoft.com/office/drawing/2010/main" val="0"/>
                  </a:ext>
                </a:extLst>
              </a:blip>
              <a:srcRect/>
              <a:stretch/>
            </p:blipFill>
            <p:spPr>
              <a:xfrm rot="12871820" flipH="1">
                <a:off x="-3558292" y="1364209"/>
                <a:ext cx="817581" cy="817581"/>
              </a:xfrm>
              <a:prstGeom prst="rect">
                <a:avLst/>
              </a:prstGeom>
            </p:spPr>
          </p:pic>
        </p:grpSp>
      </p:grpSp>
    </p:spTree>
    <p:extLst>
      <p:ext uri="{BB962C8B-B14F-4D97-AF65-F5344CB8AC3E}">
        <p14:creationId xmlns:p14="http://schemas.microsoft.com/office/powerpoint/2010/main" val="3203748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D21AE-8670-9A00-44A7-4D604D057C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A22738-58D8-6582-40DC-10F583224778}"/>
              </a:ext>
            </a:extLst>
          </p:cNvPr>
          <p:cNvSpPr txBox="1"/>
          <p:nvPr/>
        </p:nvSpPr>
        <p:spPr>
          <a:xfrm>
            <a:off x="667856" y="3252072"/>
            <a:ext cx="7805481" cy="387478"/>
          </a:xfrm>
          <a:prstGeom prst="rect">
            <a:avLst/>
          </a:prstGeom>
          <a:noFill/>
        </p:spPr>
        <p:txBody>
          <a:bodyPr wrap="square" rtlCol="0">
            <a:spAutoFit/>
          </a:bodyPr>
          <a:lstStyle/>
          <a:p>
            <a:pPr>
              <a:lnSpc>
                <a:spcPts val="2250"/>
              </a:lnSpc>
            </a:pPr>
            <a:r>
              <a:rPr lang="fr-FR" sz="2800" dirty="0">
                <a:latin typeface="Bahnschrift SemiBold" panose="020B0502040204020203" pitchFamily="34" charset="0"/>
                <a:ea typeface="IBM Plex Sans Medium" pitchFamily="34" charset="-122"/>
                <a:cs typeface="IBM Plex Sans Medium" pitchFamily="34" charset="-120"/>
              </a:rPr>
              <a:t>Sécurisation des Communications (HTTPS/TLS) </a:t>
            </a:r>
            <a:endParaRPr lang="en-US" sz="2800" dirty="0">
              <a:latin typeface="Bahnschrift SemiBold" panose="020B0502040204020203" pitchFamily="34" charset="0"/>
            </a:endParaRPr>
          </a:p>
        </p:txBody>
      </p:sp>
      <p:sp>
        <p:nvSpPr>
          <p:cNvPr id="20" name="TextBox 19">
            <a:extLst>
              <a:ext uri="{FF2B5EF4-FFF2-40B4-BE49-F238E27FC236}">
                <a16:creationId xmlns:a16="http://schemas.microsoft.com/office/drawing/2014/main" id="{15E3FFD4-3F8A-B338-DF63-9521275EFABE}"/>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grpSp>
        <p:nvGrpSpPr>
          <p:cNvPr id="21" name="Group 20">
            <a:extLst>
              <a:ext uri="{FF2B5EF4-FFF2-40B4-BE49-F238E27FC236}">
                <a16:creationId xmlns:a16="http://schemas.microsoft.com/office/drawing/2014/main" id="{E2E9AADC-344E-2484-CDBA-7A94F9C52EA3}"/>
              </a:ext>
            </a:extLst>
          </p:cNvPr>
          <p:cNvGrpSpPr/>
          <p:nvPr/>
        </p:nvGrpSpPr>
        <p:grpSpPr>
          <a:xfrm rot="3654376">
            <a:off x="-7645510" y="-171000"/>
            <a:ext cx="7200000" cy="7200000"/>
            <a:chOff x="-4274914" y="-171000"/>
            <a:chExt cx="7200000" cy="7200000"/>
          </a:xfrm>
        </p:grpSpPr>
        <p:grpSp>
          <p:nvGrpSpPr>
            <p:cNvPr id="22" name="Group 21">
              <a:extLst>
                <a:ext uri="{FF2B5EF4-FFF2-40B4-BE49-F238E27FC236}">
                  <a16:creationId xmlns:a16="http://schemas.microsoft.com/office/drawing/2014/main" id="{5F8BECA2-2F10-A2A7-1FCC-171BF28B30DC}"/>
                </a:ext>
              </a:extLst>
            </p:cNvPr>
            <p:cNvGrpSpPr/>
            <p:nvPr/>
          </p:nvGrpSpPr>
          <p:grpSpPr>
            <a:xfrm rot="2285770">
              <a:off x="-4274914" y="-171000"/>
              <a:ext cx="7200000" cy="7200000"/>
              <a:chOff x="-4274914" y="-171000"/>
              <a:chExt cx="7200000" cy="7200000"/>
            </a:xfrm>
          </p:grpSpPr>
          <p:sp>
            <p:nvSpPr>
              <p:cNvPr id="32" name="Oval 31">
                <a:extLst>
                  <a:ext uri="{FF2B5EF4-FFF2-40B4-BE49-F238E27FC236}">
                    <a16:creationId xmlns:a16="http://schemas.microsoft.com/office/drawing/2014/main" id="{BCC17739-B7BB-7FB8-A50D-6174B3986A79}"/>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ircle: Hollow 32">
                <a:extLst>
                  <a:ext uri="{FF2B5EF4-FFF2-40B4-BE49-F238E27FC236}">
                    <a16:creationId xmlns:a16="http://schemas.microsoft.com/office/drawing/2014/main" id="{58AC9C6F-9B59-2325-42EA-F20F3BD8DB47}"/>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2F8268FF-B6AD-A602-B160-18EEBDA49443}"/>
                </a:ext>
              </a:extLst>
            </p:cNvPr>
            <p:cNvGrpSpPr/>
            <p:nvPr/>
          </p:nvGrpSpPr>
          <p:grpSpPr>
            <a:xfrm>
              <a:off x="1449086" y="1773000"/>
              <a:ext cx="1296000" cy="1296000"/>
              <a:chOff x="1449086" y="1773001"/>
              <a:chExt cx="1296000" cy="1296000"/>
            </a:xfrm>
          </p:grpSpPr>
          <p:sp>
            <p:nvSpPr>
              <p:cNvPr id="30" name="Flowchart: Connector 29">
                <a:extLst>
                  <a:ext uri="{FF2B5EF4-FFF2-40B4-BE49-F238E27FC236}">
                    <a16:creationId xmlns:a16="http://schemas.microsoft.com/office/drawing/2014/main" id="{28CC610B-A097-4018-B7A1-77B58A8DFD11}"/>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1" name="Picture 30">
                <a:extLst>
                  <a:ext uri="{FF2B5EF4-FFF2-40B4-BE49-F238E27FC236}">
                    <a16:creationId xmlns:a16="http://schemas.microsoft.com/office/drawing/2014/main" id="{CBA3E9F5-A178-4F82-F7FE-F9BEF958430F}"/>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24" name="Group 23">
              <a:extLst>
                <a:ext uri="{FF2B5EF4-FFF2-40B4-BE49-F238E27FC236}">
                  <a16:creationId xmlns:a16="http://schemas.microsoft.com/office/drawing/2014/main" id="{7A3F4463-1E0E-5C6D-387B-D33C5F922BB3}"/>
                </a:ext>
              </a:extLst>
            </p:cNvPr>
            <p:cNvGrpSpPr/>
            <p:nvPr/>
          </p:nvGrpSpPr>
          <p:grpSpPr>
            <a:xfrm>
              <a:off x="-1322914" y="5733000"/>
              <a:ext cx="1296000" cy="1296000"/>
              <a:chOff x="-1322914" y="5733000"/>
              <a:chExt cx="1296000" cy="1296000"/>
            </a:xfrm>
          </p:grpSpPr>
          <p:sp>
            <p:nvSpPr>
              <p:cNvPr id="28" name="Flowchart: Connector 27">
                <a:extLst>
                  <a:ext uri="{FF2B5EF4-FFF2-40B4-BE49-F238E27FC236}">
                    <a16:creationId xmlns:a16="http://schemas.microsoft.com/office/drawing/2014/main" id="{AA2C971D-2E89-FF38-D8E7-7AF7B4448A36}"/>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9" name="Picture 28">
                <a:extLst>
                  <a:ext uri="{FF2B5EF4-FFF2-40B4-BE49-F238E27FC236}">
                    <a16:creationId xmlns:a16="http://schemas.microsoft.com/office/drawing/2014/main" id="{5388B138-2C5C-F95B-8690-4753FD9D9F6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5" name="Group 24">
              <a:extLst>
                <a:ext uri="{FF2B5EF4-FFF2-40B4-BE49-F238E27FC236}">
                  <a16:creationId xmlns:a16="http://schemas.microsoft.com/office/drawing/2014/main" id="{A55AC42E-EF5F-8017-AB6E-C1A0783F9507}"/>
                </a:ext>
              </a:extLst>
            </p:cNvPr>
            <p:cNvGrpSpPr/>
            <p:nvPr/>
          </p:nvGrpSpPr>
          <p:grpSpPr>
            <a:xfrm>
              <a:off x="-3794394" y="1125000"/>
              <a:ext cx="1296000" cy="1296000"/>
              <a:chOff x="-3794394" y="1125000"/>
              <a:chExt cx="1296000" cy="1296000"/>
            </a:xfrm>
          </p:grpSpPr>
          <p:sp>
            <p:nvSpPr>
              <p:cNvPr id="26" name="Flowchart: Connector 25">
                <a:extLst>
                  <a:ext uri="{FF2B5EF4-FFF2-40B4-BE49-F238E27FC236}">
                    <a16:creationId xmlns:a16="http://schemas.microsoft.com/office/drawing/2014/main" id="{3E2649D9-C604-BA3D-4995-B5DB36E2C6E6}"/>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7" name="Picture 26">
                <a:extLst>
                  <a:ext uri="{FF2B5EF4-FFF2-40B4-BE49-F238E27FC236}">
                    <a16:creationId xmlns:a16="http://schemas.microsoft.com/office/drawing/2014/main" id="{64EC36C7-C255-3167-9941-3B0E79D7A739}"/>
                  </a:ext>
                </a:extLst>
              </p:cNvPr>
              <p:cNvPicPr>
                <a:picLocks noChangeAspect="1"/>
              </p:cNvPicPr>
              <p:nvPr/>
            </p:nvPicPr>
            <p:blipFill>
              <a:blip r:embed="rId4">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grpSp>
        <p:nvGrpSpPr>
          <p:cNvPr id="2" name="Group 1">
            <a:extLst>
              <a:ext uri="{FF2B5EF4-FFF2-40B4-BE49-F238E27FC236}">
                <a16:creationId xmlns:a16="http://schemas.microsoft.com/office/drawing/2014/main" id="{45D48B11-1E5C-C64C-14D2-6B4C5AB1C2D8}"/>
              </a:ext>
            </a:extLst>
          </p:cNvPr>
          <p:cNvGrpSpPr/>
          <p:nvPr/>
        </p:nvGrpSpPr>
        <p:grpSpPr>
          <a:xfrm rot="16200000" flipV="1">
            <a:off x="10141746" y="-162594"/>
            <a:ext cx="7200000" cy="7200000"/>
            <a:chOff x="-4274914" y="-171000"/>
            <a:chExt cx="7200000" cy="7200000"/>
          </a:xfrm>
        </p:grpSpPr>
        <p:grpSp>
          <p:nvGrpSpPr>
            <p:cNvPr id="4" name="Group 3">
              <a:extLst>
                <a:ext uri="{FF2B5EF4-FFF2-40B4-BE49-F238E27FC236}">
                  <a16:creationId xmlns:a16="http://schemas.microsoft.com/office/drawing/2014/main" id="{F11BC675-81FD-1462-47AD-5F658CD15320}"/>
                </a:ext>
              </a:extLst>
            </p:cNvPr>
            <p:cNvGrpSpPr/>
            <p:nvPr/>
          </p:nvGrpSpPr>
          <p:grpSpPr>
            <a:xfrm rot="2285770">
              <a:off x="-4274914" y="-171000"/>
              <a:ext cx="7200000" cy="7200000"/>
              <a:chOff x="-4274914" y="-171000"/>
              <a:chExt cx="7200000" cy="7200000"/>
            </a:xfrm>
          </p:grpSpPr>
          <p:sp>
            <p:nvSpPr>
              <p:cNvPr id="14" name="Oval 13">
                <a:extLst>
                  <a:ext uri="{FF2B5EF4-FFF2-40B4-BE49-F238E27FC236}">
                    <a16:creationId xmlns:a16="http://schemas.microsoft.com/office/drawing/2014/main" id="{ECBF614E-06B1-4B30-D198-E10CBDADF1FB}"/>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ircle: Hollow 14">
                <a:extLst>
                  <a:ext uri="{FF2B5EF4-FFF2-40B4-BE49-F238E27FC236}">
                    <a16:creationId xmlns:a16="http://schemas.microsoft.com/office/drawing/2014/main" id="{501867D2-7EDE-16C7-7FC4-09C8B4257089}"/>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 name="Group 4">
              <a:extLst>
                <a:ext uri="{FF2B5EF4-FFF2-40B4-BE49-F238E27FC236}">
                  <a16:creationId xmlns:a16="http://schemas.microsoft.com/office/drawing/2014/main" id="{6E75E705-FBD9-7773-4574-0534D349D94C}"/>
                </a:ext>
              </a:extLst>
            </p:cNvPr>
            <p:cNvGrpSpPr/>
            <p:nvPr/>
          </p:nvGrpSpPr>
          <p:grpSpPr>
            <a:xfrm>
              <a:off x="1449086" y="1773000"/>
              <a:ext cx="1296000" cy="1296000"/>
              <a:chOff x="1449086" y="1773001"/>
              <a:chExt cx="1296000" cy="1296000"/>
            </a:xfrm>
          </p:grpSpPr>
          <p:sp>
            <p:nvSpPr>
              <p:cNvPr id="12" name="Flowchart: Connector 11">
                <a:extLst>
                  <a:ext uri="{FF2B5EF4-FFF2-40B4-BE49-F238E27FC236}">
                    <a16:creationId xmlns:a16="http://schemas.microsoft.com/office/drawing/2014/main" id="{F349EF3C-5CFD-01BD-226E-0FDD71541391}"/>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3" name="Picture 12">
                <a:extLst>
                  <a:ext uri="{FF2B5EF4-FFF2-40B4-BE49-F238E27FC236}">
                    <a16:creationId xmlns:a16="http://schemas.microsoft.com/office/drawing/2014/main" id="{916D2B4A-202F-8DE4-5A9B-16B0F09FE180}"/>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rcRect/>
              <a:stretch/>
            </p:blipFill>
            <p:spPr>
              <a:xfrm rot="20324588" flipH="1">
                <a:off x="1635343" y="1959258"/>
                <a:ext cx="923486" cy="923486"/>
              </a:xfrm>
              <a:prstGeom prst="rect">
                <a:avLst/>
              </a:prstGeom>
            </p:spPr>
          </p:pic>
        </p:grpSp>
        <p:grpSp>
          <p:nvGrpSpPr>
            <p:cNvPr id="6" name="Group 5">
              <a:extLst>
                <a:ext uri="{FF2B5EF4-FFF2-40B4-BE49-F238E27FC236}">
                  <a16:creationId xmlns:a16="http://schemas.microsoft.com/office/drawing/2014/main" id="{5766B383-501F-F776-B70E-AB8BFDF4EAFC}"/>
                </a:ext>
              </a:extLst>
            </p:cNvPr>
            <p:cNvGrpSpPr/>
            <p:nvPr/>
          </p:nvGrpSpPr>
          <p:grpSpPr>
            <a:xfrm>
              <a:off x="-1322914" y="5733000"/>
              <a:ext cx="1296000" cy="1296000"/>
              <a:chOff x="-1322914" y="5733000"/>
              <a:chExt cx="1296000" cy="1296000"/>
            </a:xfrm>
          </p:grpSpPr>
          <p:sp>
            <p:nvSpPr>
              <p:cNvPr id="10" name="Flowchart: Connector 9">
                <a:extLst>
                  <a:ext uri="{FF2B5EF4-FFF2-40B4-BE49-F238E27FC236}">
                    <a16:creationId xmlns:a16="http://schemas.microsoft.com/office/drawing/2014/main" id="{ACDBCC86-C4E5-D863-6BAF-4F407D5BF05E}"/>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1" name="Picture 10">
                <a:extLst>
                  <a:ext uri="{FF2B5EF4-FFF2-40B4-BE49-F238E27FC236}">
                    <a16:creationId xmlns:a16="http://schemas.microsoft.com/office/drawing/2014/main" id="{6F67AB75-4BDF-E451-DDC6-AB9C7B9DD45B}"/>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a:stretch/>
            </p:blipFill>
            <p:spPr>
              <a:xfrm rot="5400000" flipH="1">
                <a:off x="-939972" y="5991829"/>
                <a:ext cx="778343" cy="778343"/>
              </a:xfrm>
              <a:prstGeom prst="rect">
                <a:avLst/>
              </a:prstGeom>
            </p:spPr>
          </p:pic>
        </p:grpSp>
        <p:grpSp>
          <p:nvGrpSpPr>
            <p:cNvPr id="7" name="Group 6">
              <a:extLst>
                <a:ext uri="{FF2B5EF4-FFF2-40B4-BE49-F238E27FC236}">
                  <a16:creationId xmlns:a16="http://schemas.microsoft.com/office/drawing/2014/main" id="{2A8EE7B4-1955-0403-D936-CED773FC463D}"/>
                </a:ext>
              </a:extLst>
            </p:cNvPr>
            <p:cNvGrpSpPr/>
            <p:nvPr/>
          </p:nvGrpSpPr>
          <p:grpSpPr>
            <a:xfrm>
              <a:off x="-3794394" y="1125000"/>
              <a:ext cx="1296000" cy="1296000"/>
              <a:chOff x="-3794394" y="1125000"/>
              <a:chExt cx="1296000" cy="1296000"/>
            </a:xfrm>
          </p:grpSpPr>
          <p:sp>
            <p:nvSpPr>
              <p:cNvPr id="8" name="Flowchart: Connector 7">
                <a:extLst>
                  <a:ext uri="{FF2B5EF4-FFF2-40B4-BE49-F238E27FC236}">
                    <a16:creationId xmlns:a16="http://schemas.microsoft.com/office/drawing/2014/main" id="{1D83A144-390A-C945-8E10-5544E676AC87}"/>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9" name="Picture 8">
                <a:extLst>
                  <a:ext uri="{FF2B5EF4-FFF2-40B4-BE49-F238E27FC236}">
                    <a16:creationId xmlns:a16="http://schemas.microsoft.com/office/drawing/2014/main" id="{DB3064A8-7610-C5C0-6868-F1365B5E2539}"/>
                  </a:ext>
                </a:extLst>
              </p:cNvPr>
              <p:cNvPicPr>
                <a:picLocks noChangeAspect="1"/>
              </p:cNvPicPr>
              <p:nvPr/>
            </p:nvPicPr>
            <p:blipFill>
              <a:blip r:embed="rId8">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9">
                        <a14:imgEffect>
                          <a14:colorTemperature colorTemp="5300"/>
                        </a14:imgEffect>
                      </a14:imgLayer>
                    </a14:imgProps>
                  </a:ext>
                  <a:ext uri="{28A0092B-C50C-407E-A947-70E740481C1C}">
                    <a14:useLocalDpi xmlns:a14="http://schemas.microsoft.com/office/drawing/2010/main" val="0"/>
                  </a:ext>
                </a:extLst>
              </a:blip>
              <a:srcRect/>
              <a:stretch/>
            </p:blipFill>
            <p:spPr>
              <a:xfrm rot="12871820" flipH="1">
                <a:off x="-3558292" y="1364209"/>
                <a:ext cx="817581" cy="817581"/>
              </a:xfrm>
              <a:prstGeom prst="rect">
                <a:avLst/>
              </a:prstGeom>
            </p:spPr>
          </p:pic>
        </p:grpSp>
      </p:grpSp>
    </p:spTree>
    <p:extLst>
      <p:ext uri="{BB962C8B-B14F-4D97-AF65-F5344CB8AC3E}">
        <p14:creationId xmlns:p14="http://schemas.microsoft.com/office/powerpoint/2010/main" val="2798897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D51C4-E673-F585-7B3D-961A91AA60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97B6B98-ADF5-D61A-014A-CA316D771B45}"/>
              </a:ext>
            </a:extLst>
          </p:cNvPr>
          <p:cNvSpPr txBox="1"/>
          <p:nvPr/>
        </p:nvSpPr>
        <p:spPr>
          <a:xfrm>
            <a:off x="798486" y="3252072"/>
            <a:ext cx="6222801" cy="387478"/>
          </a:xfrm>
          <a:prstGeom prst="rect">
            <a:avLst/>
          </a:prstGeom>
          <a:noFill/>
        </p:spPr>
        <p:txBody>
          <a:bodyPr wrap="square" rtlCol="0">
            <a:spAutoFit/>
          </a:bodyPr>
          <a:lstStyle/>
          <a:p>
            <a:pPr>
              <a:lnSpc>
                <a:spcPts val="2250"/>
              </a:lnSpc>
            </a:pPr>
            <a:r>
              <a:rPr lang="fr-FR" sz="2800" dirty="0">
                <a:latin typeface="Bahnschrift SemiBold" panose="020B0502040204020203" pitchFamily="34" charset="0"/>
                <a:ea typeface="IBM Plex Sans Medium" pitchFamily="34" charset="-122"/>
                <a:cs typeface="IBM Plex Sans Medium" pitchFamily="34" charset="-120"/>
              </a:rPr>
              <a:t>Signature HMAC des Signaux d'Alerte </a:t>
            </a:r>
            <a:endParaRPr lang="en-US" sz="2800" dirty="0">
              <a:latin typeface="Bahnschrift SemiBold" panose="020B0502040204020203" pitchFamily="34" charset="0"/>
            </a:endParaRPr>
          </a:p>
        </p:txBody>
      </p:sp>
      <p:sp>
        <p:nvSpPr>
          <p:cNvPr id="20" name="TextBox 19">
            <a:extLst>
              <a:ext uri="{FF2B5EF4-FFF2-40B4-BE49-F238E27FC236}">
                <a16:creationId xmlns:a16="http://schemas.microsoft.com/office/drawing/2014/main" id="{CD9A4AD6-8508-AE78-34DE-94B055F92D41}"/>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grpSp>
        <p:nvGrpSpPr>
          <p:cNvPr id="21" name="Group 20">
            <a:extLst>
              <a:ext uri="{FF2B5EF4-FFF2-40B4-BE49-F238E27FC236}">
                <a16:creationId xmlns:a16="http://schemas.microsoft.com/office/drawing/2014/main" id="{AA4BB7E3-EF60-C00C-4948-C316B589FFC9}"/>
              </a:ext>
            </a:extLst>
          </p:cNvPr>
          <p:cNvGrpSpPr/>
          <p:nvPr/>
        </p:nvGrpSpPr>
        <p:grpSpPr>
          <a:xfrm rot="3654376">
            <a:off x="-7645510" y="-171000"/>
            <a:ext cx="7200000" cy="7200000"/>
            <a:chOff x="-4274914" y="-171000"/>
            <a:chExt cx="7200000" cy="7200000"/>
          </a:xfrm>
        </p:grpSpPr>
        <p:grpSp>
          <p:nvGrpSpPr>
            <p:cNvPr id="22" name="Group 21">
              <a:extLst>
                <a:ext uri="{FF2B5EF4-FFF2-40B4-BE49-F238E27FC236}">
                  <a16:creationId xmlns:a16="http://schemas.microsoft.com/office/drawing/2014/main" id="{775BDB03-6DF4-0C53-BB8D-29541E7D893B}"/>
                </a:ext>
              </a:extLst>
            </p:cNvPr>
            <p:cNvGrpSpPr/>
            <p:nvPr/>
          </p:nvGrpSpPr>
          <p:grpSpPr>
            <a:xfrm rot="2285770">
              <a:off x="-4274914" y="-171000"/>
              <a:ext cx="7200000" cy="7200000"/>
              <a:chOff x="-4274914" y="-171000"/>
              <a:chExt cx="7200000" cy="7200000"/>
            </a:xfrm>
          </p:grpSpPr>
          <p:sp>
            <p:nvSpPr>
              <p:cNvPr id="32" name="Oval 31">
                <a:extLst>
                  <a:ext uri="{FF2B5EF4-FFF2-40B4-BE49-F238E27FC236}">
                    <a16:creationId xmlns:a16="http://schemas.microsoft.com/office/drawing/2014/main" id="{7C2335A0-C5D4-2CA3-4DE0-08FFFB2F72A6}"/>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Circle: Hollow 32">
                <a:extLst>
                  <a:ext uri="{FF2B5EF4-FFF2-40B4-BE49-F238E27FC236}">
                    <a16:creationId xmlns:a16="http://schemas.microsoft.com/office/drawing/2014/main" id="{BB41615B-1E98-ADF5-DC48-298F1D819146}"/>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E7280642-F729-028C-90B8-B9E677C7DE25}"/>
                </a:ext>
              </a:extLst>
            </p:cNvPr>
            <p:cNvGrpSpPr/>
            <p:nvPr/>
          </p:nvGrpSpPr>
          <p:grpSpPr>
            <a:xfrm>
              <a:off x="1449086" y="1773000"/>
              <a:ext cx="1296000" cy="1296000"/>
              <a:chOff x="1449086" y="1773001"/>
              <a:chExt cx="1296000" cy="1296000"/>
            </a:xfrm>
          </p:grpSpPr>
          <p:sp>
            <p:nvSpPr>
              <p:cNvPr id="30" name="Flowchart: Connector 29">
                <a:extLst>
                  <a:ext uri="{FF2B5EF4-FFF2-40B4-BE49-F238E27FC236}">
                    <a16:creationId xmlns:a16="http://schemas.microsoft.com/office/drawing/2014/main" id="{58E98F84-62E3-11DC-DE45-FA09AF712725}"/>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1" name="Picture 30">
                <a:extLst>
                  <a:ext uri="{FF2B5EF4-FFF2-40B4-BE49-F238E27FC236}">
                    <a16:creationId xmlns:a16="http://schemas.microsoft.com/office/drawing/2014/main" id="{D3FE1715-2BC4-C346-3876-596A9041F29D}"/>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24" name="Group 23">
              <a:extLst>
                <a:ext uri="{FF2B5EF4-FFF2-40B4-BE49-F238E27FC236}">
                  <a16:creationId xmlns:a16="http://schemas.microsoft.com/office/drawing/2014/main" id="{07B68967-2FF2-7012-E421-9F3BB3EFB8CF}"/>
                </a:ext>
              </a:extLst>
            </p:cNvPr>
            <p:cNvGrpSpPr/>
            <p:nvPr/>
          </p:nvGrpSpPr>
          <p:grpSpPr>
            <a:xfrm>
              <a:off x="-1322914" y="5733000"/>
              <a:ext cx="1296000" cy="1296000"/>
              <a:chOff x="-1322914" y="5733000"/>
              <a:chExt cx="1296000" cy="1296000"/>
            </a:xfrm>
          </p:grpSpPr>
          <p:sp>
            <p:nvSpPr>
              <p:cNvPr id="28" name="Flowchart: Connector 27">
                <a:extLst>
                  <a:ext uri="{FF2B5EF4-FFF2-40B4-BE49-F238E27FC236}">
                    <a16:creationId xmlns:a16="http://schemas.microsoft.com/office/drawing/2014/main" id="{E8C4DD9E-1798-832E-BD8F-DEFB6B1F0818}"/>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9" name="Picture 28">
                <a:extLst>
                  <a:ext uri="{FF2B5EF4-FFF2-40B4-BE49-F238E27FC236}">
                    <a16:creationId xmlns:a16="http://schemas.microsoft.com/office/drawing/2014/main" id="{83219DA6-872F-51E3-4328-9883EABC3D1E}"/>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5" name="Group 24">
              <a:extLst>
                <a:ext uri="{FF2B5EF4-FFF2-40B4-BE49-F238E27FC236}">
                  <a16:creationId xmlns:a16="http://schemas.microsoft.com/office/drawing/2014/main" id="{202E0657-FD6F-7BB8-529E-32F48CF1517E}"/>
                </a:ext>
              </a:extLst>
            </p:cNvPr>
            <p:cNvGrpSpPr/>
            <p:nvPr/>
          </p:nvGrpSpPr>
          <p:grpSpPr>
            <a:xfrm>
              <a:off x="-3794394" y="1125000"/>
              <a:ext cx="1296000" cy="1296000"/>
              <a:chOff x="-3794394" y="1125000"/>
              <a:chExt cx="1296000" cy="1296000"/>
            </a:xfrm>
          </p:grpSpPr>
          <p:sp>
            <p:nvSpPr>
              <p:cNvPr id="26" name="Flowchart: Connector 25">
                <a:extLst>
                  <a:ext uri="{FF2B5EF4-FFF2-40B4-BE49-F238E27FC236}">
                    <a16:creationId xmlns:a16="http://schemas.microsoft.com/office/drawing/2014/main" id="{05599280-D6DA-A6F1-5284-673A03FF0834}"/>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7" name="Picture 26">
                <a:extLst>
                  <a:ext uri="{FF2B5EF4-FFF2-40B4-BE49-F238E27FC236}">
                    <a16:creationId xmlns:a16="http://schemas.microsoft.com/office/drawing/2014/main" id="{6BD82F75-5C5C-1208-E6AD-188B844E6A9A}"/>
                  </a:ext>
                </a:extLst>
              </p:cNvPr>
              <p:cNvPicPr>
                <a:picLocks noChangeAspect="1"/>
              </p:cNvPicPr>
              <p:nvPr/>
            </p:nvPicPr>
            <p:blipFill>
              <a:blip r:embed="rId4">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grpSp>
        <p:nvGrpSpPr>
          <p:cNvPr id="2" name="Group 1">
            <a:extLst>
              <a:ext uri="{FF2B5EF4-FFF2-40B4-BE49-F238E27FC236}">
                <a16:creationId xmlns:a16="http://schemas.microsoft.com/office/drawing/2014/main" id="{BC08A9F1-ACD8-D13A-CCF5-CEC5B426B2B2}"/>
              </a:ext>
            </a:extLst>
          </p:cNvPr>
          <p:cNvGrpSpPr/>
          <p:nvPr/>
        </p:nvGrpSpPr>
        <p:grpSpPr>
          <a:xfrm rot="2097504" flipV="1">
            <a:off x="10141746" y="-162594"/>
            <a:ext cx="7200000" cy="7200000"/>
            <a:chOff x="-4274914" y="-171000"/>
            <a:chExt cx="7200000" cy="7200000"/>
          </a:xfrm>
        </p:grpSpPr>
        <p:grpSp>
          <p:nvGrpSpPr>
            <p:cNvPr id="4" name="Group 3">
              <a:extLst>
                <a:ext uri="{FF2B5EF4-FFF2-40B4-BE49-F238E27FC236}">
                  <a16:creationId xmlns:a16="http://schemas.microsoft.com/office/drawing/2014/main" id="{9F9B8BD6-4AD8-8EDC-F1AA-8DFF5E9C9030}"/>
                </a:ext>
              </a:extLst>
            </p:cNvPr>
            <p:cNvGrpSpPr/>
            <p:nvPr/>
          </p:nvGrpSpPr>
          <p:grpSpPr>
            <a:xfrm rot="2285770">
              <a:off x="-4274914" y="-171000"/>
              <a:ext cx="7200000" cy="7200000"/>
              <a:chOff x="-4274914" y="-171000"/>
              <a:chExt cx="7200000" cy="7200000"/>
            </a:xfrm>
          </p:grpSpPr>
          <p:sp>
            <p:nvSpPr>
              <p:cNvPr id="14" name="Oval 13">
                <a:extLst>
                  <a:ext uri="{FF2B5EF4-FFF2-40B4-BE49-F238E27FC236}">
                    <a16:creationId xmlns:a16="http://schemas.microsoft.com/office/drawing/2014/main" id="{8131AF90-32E2-1F8D-E3BF-6FD55E62C734}"/>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ircle: Hollow 14">
                <a:extLst>
                  <a:ext uri="{FF2B5EF4-FFF2-40B4-BE49-F238E27FC236}">
                    <a16:creationId xmlns:a16="http://schemas.microsoft.com/office/drawing/2014/main" id="{16B97949-6963-4E79-B0CB-82FBBE211813}"/>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 name="Group 4">
              <a:extLst>
                <a:ext uri="{FF2B5EF4-FFF2-40B4-BE49-F238E27FC236}">
                  <a16:creationId xmlns:a16="http://schemas.microsoft.com/office/drawing/2014/main" id="{47213AF3-953A-C1F0-184B-AA1ED9C38FB7}"/>
                </a:ext>
              </a:extLst>
            </p:cNvPr>
            <p:cNvGrpSpPr/>
            <p:nvPr/>
          </p:nvGrpSpPr>
          <p:grpSpPr>
            <a:xfrm>
              <a:off x="1449086" y="1773000"/>
              <a:ext cx="1296000" cy="1296000"/>
              <a:chOff x="1449086" y="1773001"/>
              <a:chExt cx="1296000" cy="1296000"/>
            </a:xfrm>
          </p:grpSpPr>
          <p:sp>
            <p:nvSpPr>
              <p:cNvPr id="12" name="Flowchart: Connector 11">
                <a:extLst>
                  <a:ext uri="{FF2B5EF4-FFF2-40B4-BE49-F238E27FC236}">
                    <a16:creationId xmlns:a16="http://schemas.microsoft.com/office/drawing/2014/main" id="{633BE915-51B6-658E-602B-B83C259B5D1C}"/>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3" name="Picture 12">
                <a:extLst>
                  <a:ext uri="{FF2B5EF4-FFF2-40B4-BE49-F238E27FC236}">
                    <a16:creationId xmlns:a16="http://schemas.microsoft.com/office/drawing/2014/main" id="{A2C8309E-46FE-A781-953C-2A4C916B5D48}"/>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rcRect/>
              <a:stretch/>
            </p:blipFill>
            <p:spPr>
              <a:xfrm rot="20324588" flipH="1">
                <a:off x="1635343" y="1959258"/>
                <a:ext cx="923486" cy="923486"/>
              </a:xfrm>
              <a:prstGeom prst="rect">
                <a:avLst/>
              </a:prstGeom>
            </p:spPr>
          </p:pic>
        </p:grpSp>
        <p:grpSp>
          <p:nvGrpSpPr>
            <p:cNvPr id="6" name="Group 5">
              <a:extLst>
                <a:ext uri="{FF2B5EF4-FFF2-40B4-BE49-F238E27FC236}">
                  <a16:creationId xmlns:a16="http://schemas.microsoft.com/office/drawing/2014/main" id="{891436DD-7220-DA1B-6A12-F40FCBF2AB5A}"/>
                </a:ext>
              </a:extLst>
            </p:cNvPr>
            <p:cNvGrpSpPr/>
            <p:nvPr/>
          </p:nvGrpSpPr>
          <p:grpSpPr>
            <a:xfrm>
              <a:off x="-1322914" y="5733000"/>
              <a:ext cx="1296000" cy="1296000"/>
              <a:chOff x="-1322914" y="5733000"/>
              <a:chExt cx="1296000" cy="1296000"/>
            </a:xfrm>
          </p:grpSpPr>
          <p:sp>
            <p:nvSpPr>
              <p:cNvPr id="10" name="Flowchart: Connector 9">
                <a:extLst>
                  <a:ext uri="{FF2B5EF4-FFF2-40B4-BE49-F238E27FC236}">
                    <a16:creationId xmlns:a16="http://schemas.microsoft.com/office/drawing/2014/main" id="{73C03411-67E6-EE8C-260B-58A9EF996E99}"/>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1" name="Picture 10">
                <a:extLst>
                  <a:ext uri="{FF2B5EF4-FFF2-40B4-BE49-F238E27FC236}">
                    <a16:creationId xmlns:a16="http://schemas.microsoft.com/office/drawing/2014/main" id="{8037407C-B47F-1CDE-1B5A-568A581A0282}"/>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a:stretch/>
            </p:blipFill>
            <p:spPr>
              <a:xfrm rot="5400000" flipH="1">
                <a:off x="-939972" y="5991829"/>
                <a:ext cx="778343" cy="778343"/>
              </a:xfrm>
              <a:prstGeom prst="rect">
                <a:avLst/>
              </a:prstGeom>
            </p:spPr>
          </p:pic>
        </p:grpSp>
        <p:grpSp>
          <p:nvGrpSpPr>
            <p:cNvPr id="7" name="Group 6">
              <a:extLst>
                <a:ext uri="{FF2B5EF4-FFF2-40B4-BE49-F238E27FC236}">
                  <a16:creationId xmlns:a16="http://schemas.microsoft.com/office/drawing/2014/main" id="{FA6008D7-5162-C0FC-0005-8094920AEEBA}"/>
                </a:ext>
              </a:extLst>
            </p:cNvPr>
            <p:cNvGrpSpPr/>
            <p:nvPr/>
          </p:nvGrpSpPr>
          <p:grpSpPr>
            <a:xfrm>
              <a:off x="-3794394" y="1125000"/>
              <a:ext cx="1296000" cy="1296000"/>
              <a:chOff x="-3794394" y="1125000"/>
              <a:chExt cx="1296000" cy="1296000"/>
            </a:xfrm>
          </p:grpSpPr>
          <p:sp>
            <p:nvSpPr>
              <p:cNvPr id="8" name="Flowchart: Connector 7">
                <a:extLst>
                  <a:ext uri="{FF2B5EF4-FFF2-40B4-BE49-F238E27FC236}">
                    <a16:creationId xmlns:a16="http://schemas.microsoft.com/office/drawing/2014/main" id="{5ED92AE3-7410-0069-A9F8-185AF9CEA6BF}"/>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9" name="Picture 8">
                <a:extLst>
                  <a:ext uri="{FF2B5EF4-FFF2-40B4-BE49-F238E27FC236}">
                    <a16:creationId xmlns:a16="http://schemas.microsoft.com/office/drawing/2014/main" id="{9277286C-AD50-BA71-1C77-7E7DB84952FB}"/>
                  </a:ext>
                </a:extLst>
              </p:cNvPr>
              <p:cNvPicPr>
                <a:picLocks noChangeAspect="1"/>
              </p:cNvPicPr>
              <p:nvPr/>
            </p:nvPicPr>
            <p:blipFill>
              <a:blip r:embed="rId8">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9">
                        <a14:imgEffect>
                          <a14:colorTemperature colorTemp="5300"/>
                        </a14:imgEffect>
                      </a14:imgLayer>
                    </a14:imgProps>
                  </a:ext>
                  <a:ext uri="{28A0092B-C50C-407E-A947-70E740481C1C}">
                    <a14:useLocalDpi xmlns:a14="http://schemas.microsoft.com/office/drawing/2010/main" val="0"/>
                  </a:ext>
                </a:extLst>
              </a:blip>
              <a:srcRect/>
              <a:stretch/>
            </p:blipFill>
            <p:spPr>
              <a:xfrm rot="12871820" flipH="1">
                <a:off x="-3558292" y="1364209"/>
                <a:ext cx="817581" cy="817581"/>
              </a:xfrm>
              <a:prstGeom prst="rect">
                <a:avLst/>
              </a:prstGeom>
            </p:spPr>
          </p:pic>
        </p:grpSp>
      </p:grpSp>
    </p:spTree>
    <p:extLst>
      <p:ext uri="{BB962C8B-B14F-4D97-AF65-F5344CB8AC3E}">
        <p14:creationId xmlns:p14="http://schemas.microsoft.com/office/powerpoint/2010/main" val="3096198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F4B07-9208-0356-4721-E724DAE3B4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0CF62D-E317-DE83-FB4F-8B726B5F71F8}"/>
              </a:ext>
            </a:extLst>
          </p:cNvPr>
          <p:cNvSpPr txBox="1"/>
          <p:nvPr/>
        </p:nvSpPr>
        <p:spPr>
          <a:xfrm>
            <a:off x="704971" y="3428288"/>
            <a:ext cx="8459815" cy="387478"/>
          </a:xfrm>
          <a:prstGeom prst="rect">
            <a:avLst/>
          </a:prstGeom>
          <a:noFill/>
        </p:spPr>
        <p:txBody>
          <a:bodyPr wrap="square" rtlCol="0">
            <a:spAutoFit/>
          </a:bodyPr>
          <a:lstStyle/>
          <a:p>
            <a:pPr>
              <a:lnSpc>
                <a:spcPts val="2250"/>
              </a:lnSpc>
            </a:pPr>
            <a:r>
              <a:rPr lang="fr-FR" sz="2800" dirty="0">
                <a:latin typeface="Bahnschrift SemiBold" panose="020B0502040204020203" pitchFamily="34" charset="0"/>
                <a:ea typeface="IBM Plex Sans Medium" pitchFamily="34" charset="-122"/>
                <a:cs typeface="IBM Plex Sans Medium" pitchFamily="34" charset="-120"/>
              </a:rPr>
              <a:t>Trigger SQL – Déclenchement Sécurisé des Sirènes</a:t>
            </a:r>
            <a:endParaRPr lang="en-US" sz="2800" dirty="0">
              <a:latin typeface="Bahnschrift SemiBold" panose="020B0502040204020203" pitchFamily="34" charset="0"/>
            </a:endParaRPr>
          </a:p>
        </p:txBody>
      </p:sp>
      <p:sp>
        <p:nvSpPr>
          <p:cNvPr id="20" name="TextBox 19">
            <a:extLst>
              <a:ext uri="{FF2B5EF4-FFF2-40B4-BE49-F238E27FC236}">
                <a16:creationId xmlns:a16="http://schemas.microsoft.com/office/drawing/2014/main" id="{C8FB3156-463E-7A67-AC29-6F8CA1804FE6}"/>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grpSp>
        <p:nvGrpSpPr>
          <p:cNvPr id="2" name="Group 1">
            <a:extLst>
              <a:ext uri="{FF2B5EF4-FFF2-40B4-BE49-F238E27FC236}">
                <a16:creationId xmlns:a16="http://schemas.microsoft.com/office/drawing/2014/main" id="{D929A290-6CFA-5C11-4CA5-CA5880966125}"/>
              </a:ext>
            </a:extLst>
          </p:cNvPr>
          <p:cNvGrpSpPr/>
          <p:nvPr/>
        </p:nvGrpSpPr>
        <p:grpSpPr>
          <a:xfrm rot="9611641" flipV="1">
            <a:off x="10141746" y="-162594"/>
            <a:ext cx="7200000" cy="7200000"/>
            <a:chOff x="-4274914" y="-171000"/>
            <a:chExt cx="7200000" cy="7200000"/>
          </a:xfrm>
        </p:grpSpPr>
        <p:grpSp>
          <p:nvGrpSpPr>
            <p:cNvPr id="4" name="Group 3">
              <a:extLst>
                <a:ext uri="{FF2B5EF4-FFF2-40B4-BE49-F238E27FC236}">
                  <a16:creationId xmlns:a16="http://schemas.microsoft.com/office/drawing/2014/main" id="{91CFFF08-FBCD-9E61-4539-D791BC0378B5}"/>
                </a:ext>
              </a:extLst>
            </p:cNvPr>
            <p:cNvGrpSpPr/>
            <p:nvPr/>
          </p:nvGrpSpPr>
          <p:grpSpPr>
            <a:xfrm rot="2285770">
              <a:off x="-4274914" y="-171000"/>
              <a:ext cx="7200000" cy="7200000"/>
              <a:chOff x="-4274914" y="-171000"/>
              <a:chExt cx="7200000" cy="7200000"/>
            </a:xfrm>
          </p:grpSpPr>
          <p:sp>
            <p:nvSpPr>
              <p:cNvPr id="14" name="Oval 13">
                <a:extLst>
                  <a:ext uri="{FF2B5EF4-FFF2-40B4-BE49-F238E27FC236}">
                    <a16:creationId xmlns:a16="http://schemas.microsoft.com/office/drawing/2014/main" id="{1B01DCE2-FBDF-3975-EB87-DB477F9A1367}"/>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ircle: Hollow 14">
                <a:extLst>
                  <a:ext uri="{FF2B5EF4-FFF2-40B4-BE49-F238E27FC236}">
                    <a16:creationId xmlns:a16="http://schemas.microsoft.com/office/drawing/2014/main" id="{6E54382A-3ED7-C9BA-77AB-46ED11E6252C}"/>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 name="Group 4">
              <a:extLst>
                <a:ext uri="{FF2B5EF4-FFF2-40B4-BE49-F238E27FC236}">
                  <a16:creationId xmlns:a16="http://schemas.microsoft.com/office/drawing/2014/main" id="{0A19A775-6662-4A72-AB1D-28FADB908B30}"/>
                </a:ext>
              </a:extLst>
            </p:cNvPr>
            <p:cNvGrpSpPr/>
            <p:nvPr/>
          </p:nvGrpSpPr>
          <p:grpSpPr>
            <a:xfrm>
              <a:off x="1449086" y="1773000"/>
              <a:ext cx="1296000" cy="1296000"/>
              <a:chOff x="1449086" y="1773001"/>
              <a:chExt cx="1296000" cy="1296000"/>
            </a:xfrm>
          </p:grpSpPr>
          <p:sp>
            <p:nvSpPr>
              <p:cNvPr id="12" name="Flowchart: Connector 11">
                <a:extLst>
                  <a:ext uri="{FF2B5EF4-FFF2-40B4-BE49-F238E27FC236}">
                    <a16:creationId xmlns:a16="http://schemas.microsoft.com/office/drawing/2014/main" id="{4EB00A98-A398-CA8E-3703-D71D3AD2F256}"/>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3" name="Picture 12">
                <a:extLst>
                  <a:ext uri="{FF2B5EF4-FFF2-40B4-BE49-F238E27FC236}">
                    <a16:creationId xmlns:a16="http://schemas.microsoft.com/office/drawing/2014/main" id="{2C58AC79-DCD6-008C-71B4-D872680D7EE9}"/>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rcRect/>
              <a:stretch/>
            </p:blipFill>
            <p:spPr>
              <a:xfrm rot="20324588" flipH="1">
                <a:off x="1635343" y="1959258"/>
                <a:ext cx="923486" cy="923486"/>
              </a:xfrm>
              <a:prstGeom prst="rect">
                <a:avLst/>
              </a:prstGeom>
            </p:spPr>
          </p:pic>
        </p:grpSp>
        <p:grpSp>
          <p:nvGrpSpPr>
            <p:cNvPr id="6" name="Group 5">
              <a:extLst>
                <a:ext uri="{FF2B5EF4-FFF2-40B4-BE49-F238E27FC236}">
                  <a16:creationId xmlns:a16="http://schemas.microsoft.com/office/drawing/2014/main" id="{E5D8103C-D121-C4BC-366C-02565DAD90DD}"/>
                </a:ext>
              </a:extLst>
            </p:cNvPr>
            <p:cNvGrpSpPr/>
            <p:nvPr/>
          </p:nvGrpSpPr>
          <p:grpSpPr>
            <a:xfrm>
              <a:off x="-1322914" y="5733000"/>
              <a:ext cx="1296000" cy="1296000"/>
              <a:chOff x="-1322914" y="5733000"/>
              <a:chExt cx="1296000" cy="1296000"/>
            </a:xfrm>
          </p:grpSpPr>
          <p:sp>
            <p:nvSpPr>
              <p:cNvPr id="10" name="Flowchart: Connector 9">
                <a:extLst>
                  <a:ext uri="{FF2B5EF4-FFF2-40B4-BE49-F238E27FC236}">
                    <a16:creationId xmlns:a16="http://schemas.microsoft.com/office/drawing/2014/main" id="{59D4D3E2-BE2E-00F9-BFC6-BDEEFF0AE556}"/>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1" name="Picture 10">
                <a:extLst>
                  <a:ext uri="{FF2B5EF4-FFF2-40B4-BE49-F238E27FC236}">
                    <a16:creationId xmlns:a16="http://schemas.microsoft.com/office/drawing/2014/main" id="{3FBEBD09-0ABE-8597-FF04-2123149CF57C}"/>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5400000" flipH="1">
                <a:off x="-939972" y="5991829"/>
                <a:ext cx="778343" cy="778343"/>
              </a:xfrm>
              <a:prstGeom prst="rect">
                <a:avLst/>
              </a:prstGeom>
            </p:spPr>
          </p:pic>
        </p:grpSp>
        <p:grpSp>
          <p:nvGrpSpPr>
            <p:cNvPr id="7" name="Group 6">
              <a:extLst>
                <a:ext uri="{FF2B5EF4-FFF2-40B4-BE49-F238E27FC236}">
                  <a16:creationId xmlns:a16="http://schemas.microsoft.com/office/drawing/2014/main" id="{7BE18F4D-73E6-9C9C-760F-9B8BBE8E62D5}"/>
                </a:ext>
              </a:extLst>
            </p:cNvPr>
            <p:cNvGrpSpPr/>
            <p:nvPr/>
          </p:nvGrpSpPr>
          <p:grpSpPr>
            <a:xfrm>
              <a:off x="-3794394" y="1125000"/>
              <a:ext cx="1296000" cy="1296000"/>
              <a:chOff x="-3794394" y="1125000"/>
              <a:chExt cx="1296000" cy="1296000"/>
            </a:xfrm>
          </p:grpSpPr>
          <p:sp>
            <p:nvSpPr>
              <p:cNvPr id="8" name="Flowchart: Connector 7">
                <a:extLst>
                  <a:ext uri="{FF2B5EF4-FFF2-40B4-BE49-F238E27FC236}">
                    <a16:creationId xmlns:a16="http://schemas.microsoft.com/office/drawing/2014/main" id="{9EE9D416-3E4C-5B71-E607-1E63B918AD57}"/>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9" name="Picture 8">
                <a:extLst>
                  <a:ext uri="{FF2B5EF4-FFF2-40B4-BE49-F238E27FC236}">
                    <a16:creationId xmlns:a16="http://schemas.microsoft.com/office/drawing/2014/main" id="{F22BF12D-31AD-64A3-7CF6-FFB0744B01D4}"/>
                  </a:ext>
                </a:extLst>
              </p:cNvPr>
              <p:cNvPicPr>
                <a:picLocks noChangeAspect="1"/>
              </p:cNvPicPr>
              <p:nvPr/>
            </p:nvPicPr>
            <p:blipFill>
              <a:blip r:embed="rId4">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5">
                        <a14:imgEffect>
                          <a14:colorTemperature colorTemp="5300"/>
                        </a14:imgEffect>
                      </a14:imgLayer>
                    </a14:imgProps>
                  </a:ext>
                  <a:ext uri="{28A0092B-C50C-407E-A947-70E740481C1C}">
                    <a14:useLocalDpi xmlns:a14="http://schemas.microsoft.com/office/drawing/2010/main" val="0"/>
                  </a:ext>
                </a:extLst>
              </a:blip>
              <a:srcRect/>
              <a:stretch/>
            </p:blipFill>
            <p:spPr>
              <a:xfrm rot="12871820" flipH="1">
                <a:off x="-3558292" y="1364209"/>
                <a:ext cx="817581" cy="817581"/>
              </a:xfrm>
              <a:prstGeom prst="rect">
                <a:avLst/>
              </a:prstGeom>
            </p:spPr>
          </p:pic>
        </p:grpSp>
      </p:grpSp>
      <p:grpSp>
        <p:nvGrpSpPr>
          <p:cNvPr id="16" name="Group 15">
            <a:extLst>
              <a:ext uri="{FF2B5EF4-FFF2-40B4-BE49-F238E27FC236}">
                <a16:creationId xmlns:a16="http://schemas.microsoft.com/office/drawing/2014/main" id="{49871802-2A6C-6548-7D4B-50B84B6EC301}"/>
              </a:ext>
            </a:extLst>
          </p:cNvPr>
          <p:cNvGrpSpPr/>
          <p:nvPr/>
        </p:nvGrpSpPr>
        <p:grpSpPr>
          <a:xfrm rot="5953028">
            <a:off x="-7924831" y="-154189"/>
            <a:ext cx="7200000" cy="7200000"/>
            <a:chOff x="-4274914" y="-171000"/>
            <a:chExt cx="7200000" cy="7200000"/>
          </a:xfrm>
        </p:grpSpPr>
        <p:grpSp>
          <p:nvGrpSpPr>
            <p:cNvPr id="17" name="Group 16">
              <a:extLst>
                <a:ext uri="{FF2B5EF4-FFF2-40B4-BE49-F238E27FC236}">
                  <a16:creationId xmlns:a16="http://schemas.microsoft.com/office/drawing/2014/main" id="{F7E3032D-E69B-A4D4-1BF7-9705EC9B8583}"/>
                </a:ext>
              </a:extLst>
            </p:cNvPr>
            <p:cNvGrpSpPr/>
            <p:nvPr/>
          </p:nvGrpSpPr>
          <p:grpSpPr>
            <a:xfrm rot="2285770">
              <a:off x="-4274914" y="-171000"/>
              <a:ext cx="7200000" cy="7200000"/>
              <a:chOff x="-4274914" y="-171000"/>
              <a:chExt cx="7200000" cy="7200000"/>
            </a:xfrm>
          </p:grpSpPr>
          <p:sp>
            <p:nvSpPr>
              <p:cNvPr id="41" name="Oval 40">
                <a:extLst>
                  <a:ext uri="{FF2B5EF4-FFF2-40B4-BE49-F238E27FC236}">
                    <a16:creationId xmlns:a16="http://schemas.microsoft.com/office/drawing/2014/main" id="{3F4AC531-708C-A0D9-109E-045353AFEE5E}"/>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Circle: Hollow 41">
                <a:extLst>
                  <a:ext uri="{FF2B5EF4-FFF2-40B4-BE49-F238E27FC236}">
                    <a16:creationId xmlns:a16="http://schemas.microsoft.com/office/drawing/2014/main" id="{78278CCA-33E4-07FE-E383-C67F0A2816EC}"/>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8" name="Group 17">
              <a:extLst>
                <a:ext uri="{FF2B5EF4-FFF2-40B4-BE49-F238E27FC236}">
                  <a16:creationId xmlns:a16="http://schemas.microsoft.com/office/drawing/2014/main" id="{0EC851CC-4CF4-2C24-64C6-21EAAACA2B39}"/>
                </a:ext>
              </a:extLst>
            </p:cNvPr>
            <p:cNvGrpSpPr/>
            <p:nvPr/>
          </p:nvGrpSpPr>
          <p:grpSpPr>
            <a:xfrm>
              <a:off x="1449086" y="1773000"/>
              <a:ext cx="1296000" cy="1296000"/>
              <a:chOff x="1449086" y="1773001"/>
              <a:chExt cx="1296000" cy="1296000"/>
            </a:xfrm>
          </p:grpSpPr>
          <p:sp>
            <p:nvSpPr>
              <p:cNvPr id="39" name="Flowchart: Connector 38">
                <a:extLst>
                  <a:ext uri="{FF2B5EF4-FFF2-40B4-BE49-F238E27FC236}">
                    <a16:creationId xmlns:a16="http://schemas.microsoft.com/office/drawing/2014/main" id="{AA08AFCB-24A4-7FE3-BC65-859EE20E610F}"/>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40" name="Picture 39">
                <a:extLst>
                  <a:ext uri="{FF2B5EF4-FFF2-40B4-BE49-F238E27FC236}">
                    <a16:creationId xmlns:a16="http://schemas.microsoft.com/office/drawing/2014/main" id="{D808888C-2C83-B545-C06F-7AEF214D2162}"/>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19" name="Group 18">
              <a:extLst>
                <a:ext uri="{FF2B5EF4-FFF2-40B4-BE49-F238E27FC236}">
                  <a16:creationId xmlns:a16="http://schemas.microsoft.com/office/drawing/2014/main" id="{FA7DDD0A-C1C2-2BA9-2A0C-B86CE9D018A9}"/>
                </a:ext>
              </a:extLst>
            </p:cNvPr>
            <p:cNvGrpSpPr/>
            <p:nvPr/>
          </p:nvGrpSpPr>
          <p:grpSpPr>
            <a:xfrm>
              <a:off x="-1322914" y="5733000"/>
              <a:ext cx="1296000" cy="1296000"/>
              <a:chOff x="-1322914" y="5733000"/>
              <a:chExt cx="1296000" cy="1296000"/>
            </a:xfrm>
          </p:grpSpPr>
          <p:sp>
            <p:nvSpPr>
              <p:cNvPr id="37" name="Flowchart: Connector 36">
                <a:extLst>
                  <a:ext uri="{FF2B5EF4-FFF2-40B4-BE49-F238E27FC236}">
                    <a16:creationId xmlns:a16="http://schemas.microsoft.com/office/drawing/2014/main" id="{09B42E61-A6CD-CAC6-1BD9-FAA09063B6E9}"/>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8" name="Picture 37">
                <a:extLst>
                  <a:ext uri="{FF2B5EF4-FFF2-40B4-BE49-F238E27FC236}">
                    <a16:creationId xmlns:a16="http://schemas.microsoft.com/office/drawing/2014/main" id="{08D0DF47-5981-8890-329E-0EC6169240D0}"/>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34" name="Group 33">
              <a:extLst>
                <a:ext uri="{FF2B5EF4-FFF2-40B4-BE49-F238E27FC236}">
                  <a16:creationId xmlns:a16="http://schemas.microsoft.com/office/drawing/2014/main" id="{645918EB-FD22-7E17-5529-E656F26ECFE5}"/>
                </a:ext>
              </a:extLst>
            </p:cNvPr>
            <p:cNvGrpSpPr/>
            <p:nvPr/>
          </p:nvGrpSpPr>
          <p:grpSpPr>
            <a:xfrm>
              <a:off x="-3794394" y="1125000"/>
              <a:ext cx="1296000" cy="1296000"/>
              <a:chOff x="-3794394" y="1125000"/>
              <a:chExt cx="1296000" cy="1296000"/>
            </a:xfrm>
          </p:grpSpPr>
          <p:sp>
            <p:nvSpPr>
              <p:cNvPr id="35" name="Flowchart: Connector 34">
                <a:extLst>
                  <a:ext uri="{FF2B5EF4-FFF2-40B4-BE49-F238E27FC236}">
                    <a16:creationId xmlns:a16="http://schemas.microsoft.com/office/drawing/2014/main" id="{894989B7-9B56-7399-1997-06455FE6DE7E}"/>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36" name="Picture 35">
                <a:extLst>
                  <a:ext uri="{FF2B5EF4-FFF2-40B4-BE49-F238E27FC236}">
                    <a16:creationId xmlns:a16="http://schemas.microsoft.com/office/drawing/2014/main" id="{4C2CD6EA-E3E7-3C7F-1785-EBFF9F0C13B1}"/>
                  </a:ext>
                </a:extLst>
              </p:cNvPr>
              <p:cNvPicPr>
                <a:picLocks noChangeAspect="1"/>
              </p:cNvPicPr>
              <p:nvPr/>
            </p:nvPicPr>
            <p:blipFill>
              <a:blip r:embed="rId8">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9">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Tree>
    <p:extLst>
      <p:ext uri="{BB962C8B-B14F-4D97-AF65-F5344CB8AC3E}">
        <p14:creationId xmlns:p14="http://schemas.microsoft.com/office/powerpoint/2010/main" val="2675075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E2D60-2528-D30C-47EC-27DC143C4D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17C628-37F3-76D0-19C2-0BD8933B150B}"/>
              </a:ext>
            </a:extLst>
          </p:cNvPr>
          <p:cNvSpPr txBox="1"/>
          <p:nvPr/>
        </p:nvSpPr>
        <p:spPr>
          <a:xfrm>
            <a:off x="6002602" y="3429000"/>
            <a:ext cx="4877965" cy="387478"/>
          </a:xfrm>
          <a:prstGeom prst="rect">
            <a:avLst/>
          </a:prstGeom>
          <a:noFill/>
        </p:spPr>
        <p:txBody>
          <a:bodyPr wrap="square" rtlCol="0">
            <a:spAutoFit/>
          </a:bodyPr>
          <a:lstStyle/>
          <a:p>
            <a:pPr>
              <a:lnSpc>
                <a:spcPts val="2250"/>
              </a:lnSpc>
            </a:pPr>
            <a:r>
              <a:rPr lang="en-US" sz="2800" dirty="0">
                <a:latin typeface="Bahnschrift SemiBold" panose="020B0502040204020203" pitchFamily="34" charset="0"/>
                <a:ea typeface="IBM Plex Sans Medium" pitchFamily="34" charset="-122"/>
                <a:cs typeface="IBM Plex Sans Medium" pitchFamily="34" charset="-120"/>
              </a:rPr>
              <a:t>Protection Firewall (UFW)</a:t>
            </a:r>
            <a:endParaRPr lang="en-US" sz="2800" dirty="0">
              <a:latin typeface="Bahnschrift SemiBold" panose="020B0502040204020203" pitchFamily="34" charset="0"/>
            </a:endParaRPr>
          </a:p>
        </p:txBody>
      </p:sp>
      <p:sp>
        <p:nvSpPr>
          <p:cNvPr id="20" name="TextBox 19">
            <a:extLst>
              <a:ext uri="{FF2B5EF4-FFF2-40B4-BE49-F238E27FC236}">
                <a16:creationId xmlns:a16="http://schemas.microsoft.com/office/drawing/2014/main" id="{88A3B799-7EA0-0AA6-A772-4CF2851B47BF}"/>
              </a:ext>
            </a:extLst>
          </p:cNvPr>
          <p:cNvSpPr txBox="1"/>
          <p:nvPr/>
        </p:nvSpPr>
        <p:spPr>
          <a:xfrm>
            <a:off x="1116893" y="31790"/>
            <a:ext cx="9771418" cy="646331"/>
          </a:xfrm>
          <a:prstGeom prst="rect">
            <a:avLst/>
          </a:prstGeom>
          <a:noFill/>
        </p:spPr>
        <p:txBody>
          <a:bodyPr wrap="square">
            <a:spAutoFit/>
          </a:bodyPr>
          <a:lstStyle/>
          <a:p>
            <a:r>
              <a:rPr lang="en-US" sz="3600" dirty="0">
                <a:latin typeface="Cooper Black" panose="0208090404030B020404" pitchFamily="18" charset="0"/>
              </a:rPr>
              <a:t>ARCHITECTURE SÉCURISÉE PROPOSÉE </a:t>
            </a:r>
          </a:p>
        </p:txBody>
      </p:sp>
      <p:grpSp>
        <p:nvGrpSpPr>
          <p:cNvPr id="47" name="Group 46">
            <a:extLst>
              <a:ext uri="{FF2B5EF4-FFF2-40B4-BE49-F238E27FC236}">
                <a16:creationId xmlns:a16="http://schemas.microsoft.com/office/drawing/2014/main" id="{FE291FCB-9DE6-C69F-F6D3-4B1B465E0F24}"/>
              </a:ext>
            </a:extLst>
          </p:cNvPr>
          <p:cNvGrpSpPr/>
          <p:nvPr/>
        </p:nvGrpSpPr>
        <p:grpSpPr>
          <a:xfrm rot="12625982" flipV="1">
            <a:off x="13668721" y="-162594"/>
            <a:ext cx="7200000" cy="7200000"/>
            <a:chOff x="-4274914" y="-171000"/>
            <a:chExt cx="7200000" cy="7200000"/>
          </a:xfrm>
        </p:grpSpPr>
        <p:grpSp>
          <p:nvGrpSpPr>
            <p:cNvPr id="48" name="Group 47">
              <a:extLst>
                <a:ext uri="{FF2B5EF4-FFF2-40B4-BE49-F238E27FC236}">
                  <a16:creationId xmlns:a16="http://schemas.microsoft.com/office/drawing/2014/main" id="{9FB9D867-DB17-E6A2-B3DC-6B0F87663F01}"/>
                </a:ext>
              </a:extLst>
            </p:cNvPr>
            <p:cNvGrpSpPr/>
            <p:nvPr/>
          </p:nvGrpSpPr>
          <p:grpSpPr>
            <a:xfrm rot="2285770">
              <a:off x="-4274914" y="-171000"/>
              <a:ext cx="7200000" cy="7200000"/>
              <a:chOff x="-4274914" y="-171000"/>
              <a:chExt cx="7200000" cy="7200000"/>
            </a:xfrm>
          </p:grpSpPr>
          <p:sp>
            <p:nvSpPr>
              <p:cNvPr id="58" name="Oval 57">
                <a:extLst>
                  <a:ext uri="{FF2B5EF4-FFF2-40B4-BE49-F238E27FC236}">
                    <a16:creationId xmlns:a16="http://schemas.microsoft.com/office/drawing/2014/main" id="{4A921093-FA21-3C1B-96B4-A7C5157A16EC}"/>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Circle: Hollow 58">
                <a:extLst>
                  <a:ext uri="{FF2B5EF4-FFF2-40B4-BE49-F238E27FC236}">
                    <a16:creationId xmlns:a16="http://schemas.microsoft.com/office/drawing/2014/main" id="{AB9AC89C-A857-8CF8-72BD-91818AD50380}"/>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9" name="Group 48">
              <a:extLst>
                <a:ext uri="{FF2B5EF4-FFF2-40B4-BE49-F238E27FC236}">
                  <a16:creationId xmlns:a16="http://schemas.microsoft.com/office/drawing/2014/main" id="{4825D4A0-4354-9576-51BA-8C8506A11E41}"/>
                </a:ext>
              </a:extLst>
            </p:cNvPr>
            <p:cNvGrpSpPr/>
            <p:nvPr/>
          </p:nvGrpSpPr>
          <p:grpSpPr>
            <a:xfrm>
              <a:off x="1449086" y="1773000"/>
              <a:ext cx="1296000" cy="1296000"/>
              <a:chOff x="1449086" y="1773001"/>
              <a:chExt cx="1296000" cy="1296000"/>
            </a:xfrm>
          </p:grpSpPr>
          <p:sp>
            <p:nvSpPr>
              <p:cNvPr id="56" name="Flowchart: Connector 55">
                <a:extLst>
                  <a:ext uri="{FF2B5EF4-FFF2-40B4-BE49-F238E27FC236}">
                    <a16:creationId xmlns:a16="http://schemas.microsoft.com/office/drawing/2014/main" id="{B9957DDF-1C96-72F5-537C-860E9493F221}"/>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57" name="Picture 56">
                <a:extLst>
                  <a:ext uri="{FF2B5EF4-FFF2-40B4-BE49-F238E27FC236}">
                    <a16:creationId xmlns:a16="http://schemas.microsoft.com/office/drawing/2014/main" id="{48A16104-7105-E1B6-BBDD-BE370D0D9781}"/>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20324588" flipH="1">
                <a:off x="1635343" y="1959258"/>
                <a:ext cx="923486" cy="923486"/>
              </a:xfrm>
              <a:prstGeom prst="rect">
                <a:avLst/>
              </a:prstGeom>
            </p:spPr>
          </p:pic>
        </p:grpSp>
        <p:grpSp>
          <p:nvGrpSpPr>
            <p:cNvPr id="50" name="Group 49">
              <a:extLst>
                <a:ext uri="{FF2B5EF4-FFF2-40B4-BE49-F238E27FC236}">
                  <a16:creationId xmlns:a16="http://schemas.microsoft.com/office/drawing/2014/main" id="{1EEECD11-5C1F-3A94-86B3-14241152E5E1}"/>
                </a:ext>
              </a:extLst>
            </p:cNvPr>
            <p:cNvGrpSpPr/>
            <p:nvPr/>
          </p:nvGrpSpPr>
          <p:grpSpPr>
            <a:xfrm>
              <a:off x="-1322914" y="5733000"/>
              <a:ext cx="1296000" cy="1296000"/>
              <a:chOff x="-1322914" y="5733000"/>
              <a:chExt cx="1296000" cy="1296000"/>
            </a:xfrm>
          </p:grpSpPr>
          <p:sp>
            <p:nvSpPr>
              <p:cNvPr id="54" name="Flowchart: Connector 53">
                <a:extLst>
                  <a:ext uri="{FF2B5EF4-FFF2-40B4-BE49-F238E27FC236}">
                    <a16:creationId xmlns:a16="http://schemas.microsoft.com/office/drawing/2014/main" id="{B247A85A-4668-7986-888A-F99D5CC666E3}"/>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55" name="Picture 54">
                <a:extLst>
                  <a:ext uri="{FF2B5EF4-FFF2-40B4-BE49-F238E27FC236}">
                    <a16:creationId xmlns:a16="http://schemas.microsoft.com/office/drawing/2014/main" id="{AA969C5E-975E-32D3-D618-05D53E1DAD6C}"/>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rcRect/>
              <a:stretch/>
            </p:blipFill>
            <p:spPr>
              <a:xfrm rot="5400000" flipH="1">
                <a:off x="-939972" y="5991829"/>
                <a:ext cx="778343" cy="778343"/>
              </a:xfrm>
              <a:prstGeom prst="rect">
                <a:avLst/>
              </a:prstGeom>
            </p:spPr>
          </p:pic>
        </p:grpSp>
        <p:grpSp>
          <p:nvGrpSpPr>
            <p:cNvPr id="51" name="Group 50">
              <a:extLst>
                <a:ext uri="{FF2B5EF4-FFF2-40B4-BE49-F238E27FC236}">
                  <a16:creationId xmlns:a16="http://schemas.microsoft.com/office/drawing/2014/main" id="{F54AB627-120B-2B6C-C4BA-865236CE07B9}"/>
                </a:ext>
              </a:extLst>
            </p:cNvPr>
            <p:cNvGrpSpPr/>
            <p:nvPr/>
          </p:nvGrpSpPr>
          <p:grpSpPr>
            <a:xfrm>
              <a:off x="-3794394" y="1125000"/>
              <a:ext cx="1296000" cy="1296000"/>
              <a:chOff x="-3794394" y="1125000"/>
              <a:chExt cx="1296000" cy="1296000"/>
            </a:xfrm>
          </p:grpSpPr>
          <p:sp>
            <p:nvSpPr>
              <p:cNvPr id="52" name="Flowchart: Connector 51">
                <a:extLst>
                  <a:ext uri="{FF2B5EF4-FFF2-40B4-BE49-F238E27FC236}">
                    <a16:creationId xmlns:a16="http://schemas.microsoft.com/office/drawing/2014/main" id="{9D767D4F-67B6-25C3-2681-41C6C5DAAFFD}"/>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53" name="Picture 52">
                <a:extLst>
                  <a:ext uri="{FF2B5EF4-FFF2-40B4-BE49-F238E27FC236}">
                    <a16:creationId xmlns:a16="http://schemas.microsoft.com/office/drawing/2014/main" id="{1FABF7A1-5FD6-BFB1-2E89-EDA9EA075125}"/>
                  </a:ext>
                </a:extLst>
              </p:cNvPr>
              <p:cNvPicPr>
                <a:picLocks noChangeAspect="1"/>
              </p:cNvPicPr>
              <p:nvPr/>
            </p:nvPicPr>
            <p:blipFill>
              <a:blip r:embed="rId5">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6">
                        <a14:imgEffect>
                          <a14:colorTemperature colorTemp="5300"/>
                        </a14:imgEffect>
                      </a14:imgLayer>
                    </a14:imgProps>
                  </a:ext>
                  <a:ext uri="{28A0092B-C50C-407E-A947-70E740481C1C}">
                    <a14:useLocalDpi xmlns:a14="http://schemas.microsoft.com/office/drawing/2010/main" val="0"/>
                  </a:ext>
                </a:extLst>
              </a:blip>
              <a:srcRect/>
              <a:stretch/>
            </p:blipFill>
            <p:spPr>
              <a:xfrm rot="12871820" flipH="1">
                <a:off x="-3558292" y="1364209"/>
                <a:ext cx="817581" cy="817581"/>
              </a:xfrm>
              <a:prstGeom prst="rect">
                <a:avLst/>
              </a:prstGeom>
            </p:spPr>
          </p:pic>
        </p:grpSp>
      </p:grpSp>
      <p:grpSp>
        <p:nvGrpSpPr>
          <p:cNvPr id="2" name="Group 1">
            <a:extLst>
              <a:ext uri="{FF2B5EF4-FFF2-40B4-BE49-F238E27FC236}">
                <a16:creationId xmlns:a16="http://schemas.microsoft.com/office/drawing/2014/main" id="{F556BFC4-B3BD-D912-B4CD-384E13AE48FD}"/>
              </a:ext>
            </a:extLst>
          </p:cNvPr>
          <p:cNvGrpSpPr/>
          <p:nvPr/>
        </p:nvGrpSpPr>
        <p:grpSpPr>
          <a:xfrm rot="8706206">
            <a:off x="-4521747" y="22739"/>
            <a:ext cx="7200000" cy="7200000"/>
            <a:chOff x="-4274914" y="-171000"/>
            <a:chExt cx="7200000" cy="7200000"/>
          </a:xfrm>
        </p:grpSpPr>
        <p:grpSp>
          <p:nvGrpSpPr>
            <p:cNvPr id="4" name="Group 3">
              <a:extLst>
                <a:ext uri="{FF2B5EF4-FFF2-40B4-BE49-F238E27FC236}">
                  <a16:creationId xmlns:a16="http://schemas.microsoft.com/office/drawing/2014/main" id="{502988D9-CDBF-9D9A-B884-2E890FAD05E1}"/>
                </a:ext>
              </a:extLst>
            </p:cNvPr>
            <p:cNvGrpSpPr/>
            <p:nvPr/>
          </p:nvGrpSpPr>
          <p:grpSpPr>
            <a:xfrm rot="2285770">
              <a:off x="-4274914" y="-171000"/>
              <a:ext cx="7200000" cy="7200000"/>
              <a:chOff x="-4274914" y="-171000"/>
              <a:chExt cx="7200000" cy="7200000"/>
            </a:xfrm>
          </p:grpSpPr>
          <p:sp>
            <p:nvSpPr>
              <p:cNvPr id="14" name="Oval 13">
                <a:extLst>
                  <a:ext uri="{FF2B5EF4-FFF2-40B4-BE49-F238E27FC236}">
                    <a16:creationId xmlns:a16="http://schemas.microsoft.com/office/drawing/2014/main" id="{96EA9D91-EC1B-8C17-D862-AE36D3C359E2}"/>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ircle: Hollow 14">
                <a:extLst>
                  <a:ext uri="{FF2B5EF4-FFF2-40B4-BE49-F238E27FC236}">
                    <a16:creationId xmlns:a16="http://schemas.microsoft.com/office/drawing/2014/main" id="{A44AF60C-0529-BEB4-B33C-1718AB356311}"/>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 name="Group 4">
              <a:extLst>
                <a:ext uri="{FF2B5EF4-FFF2-40B4-BE49-F238E27FC236}">
                  <a16:creationId xmlns:a16="http://schemas.microsoft.com/office/drawing/2014/main" id="{49894E0B-6163-54E4-AC23-013FE6F05EA5}"/>
                </a:ext>
              </a:extLst>
            </p:cNvPr>
            <p:cNvGrpSpPr/>
            <p:nvPr/>
          </p:nvGrpSpPr>
          <p:grpSpPr>
            <a:xfrm>
              <a:off x="1449086" y="1773000"/>
              <a:ext cx="1296000" cy="1296000"/>
              <a:chOff x="1449086" y="1773001"/>
              <a:chExt cx="1296000" cy="1296000"/>
            </a:xfrm>
          </p:grpSpPr>
          <p:sp>
            <p:nvSpPr>
              <p:cNvPr id="12" name="Flowchart: Connector 11">
                <a:extLst>
                  <a:ext uri="{FF2B5EF4-FFF2-40B4-BE49-F238E27FC236}">
                    <a16:creationId xmlns:a16="http://schemas.microsoft.com/office/drawing/2014/main" id="{149985DE-4ADD-AAEC-4243-6E1344226A05}"/>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3" name="Picture 12">
                <a:extLst>
                  <a:ext uri="{FF2B5EF4-FFF2-40B4-BE49-F238E27FC236}">
                    <a16:creationId xmlns:a16="http://schemas.microsoft.com/office/drawing/2014/main" id="{40DECBB7-5C9B-30F3-B856-E21393CE21CE}"/>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6" name="Group 5">
              <a:extLst>
                <a:ext uri="{FF2B5EF4-FFF2-40B4-BE49-F238E27FC236}">
                  <a16:creationId xmlns:a16="http://schemas.microsoft.com/office/drawing/2014/main" id="{920B14EF-EA35-E0B8-FB6F-6303845AEE7F}"/>
                </a:ext>
              </a:extLst>
            </p:cNvPr>
            <p:cNvGrpSpPr/>
            <p:nvPr/>
          </p:nvGrpSpPr>
          <p:grpSpPr>
            <a:xfrm>
              <a:off x="-1322914" y="5733000"/>
              <a:ext cx="1296000" cy="1296000"/>
              <a:chOff x="-1322914" y="5733000"/>
              <a:chExt cx="1296000" cy="1296000"/>
            </a:xfrm>
          </p:grpSpPr>
          <p:sp>
            <p:nvSpPr>
              <p:cNvPr id="10" name="Flowchart: Connector 9">
                <a:extLst>
                  <a:ext uri="{FF2B5EF4-FFF2-40B4-BE49-F238E27FC236}">
                    <a16:creationId xmlns:a16="http://schemas.microsoft.com/office/drawing/2014/main" id="{86363CF8-525C-E9F0-1C78-55C78DCC7411}"/>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11" name="Picture 10">
                <a:extLst>
                  <a:ext uri="{FF2B5EF4-FFF2-40B4-BE49-F238E27FC236}">
                    <a16:creationId xmlns:a16="http://schemas.microsoft.com/office/drawing/2014/main" id="{7BB5C5FB-FE3F-9DE3-C7BF-78B76527B4DC}"/>
                  </a:ext>
                </a:extLst>
              </p:cNvPr>
              <p:cNvPicPr>
                <a:picLocks noChangeAspect="1"/>
              </p:cNvPicPr>
              <p:nvPr/>
            </p:nvPicPr>
            <p:blipFill>
              <a:blip r:embed="rId8">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7" name="Group 6">
              <a:extLst>
                <a:ext uri="{FF2B5EF4-FFF2-40B4-BE49-F238E27FC236}">
                  <a16:creationId xmlns:a16="http://schemas.microsoft.com/office/drawing/2014/main" id="{9E18068F-5348-AAE7-CCB4-1AA471B3D13B}"/>
                </a:ext>
              </a:extLst>
            </p:cNvPr>
            <p:cNvGrpSpPr/>
            <p:nvPr/>
          </p:nvGrpSpPr>
          <p:grpSpPr>
            <a:xfrm>
              <a:off x="-3794394" y="1125000"/>
              <a:ext cx="1296000" cy="1296000"/>
              <a:chOff x="-3794394" y="1125000"/>
              <a:chExt cx="1296000" cy="1296000"/>
            </a:xfrm>
          </p:grpSpPr>
          <p:sp>
            <p:nvSpPr>
              <p:cNvPr id="8" name="Flowchart: Connector 7">
                <a:extLst>
                  <a:ext uri="{FF2B5EF4-FFF2-40B4-BE49-F238E27FC236}">
                    <a16:creationId xmlns:a16="http://schemas.microsoft.com/office/drawing/2014/main" id="{9498C57D-4477-8DE6-5B22-90CBE031A439}"/>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9" name="Picture 8">
                <a:extLst>
                  <a:ext uri="{FF2B5EF4-FFF2-40B4-BE49-F238E27FC236}">
                    <a16:creationId xmlns:a16="http://schemas.microsoft.com/office/drawing/2014/main" id="{CC3F8786-B06B-57D2-DAFF-42755DA3C00C}"/>
                  </a:ext>
                </a:extLst>
              </p:cNvPr>
              <p:cNvPicPr>
                <a:picLocks noChangeAspect="1"/>
              </p:cNvPicPr>
              <p:nvPr/>
            </p:nvPicPr>
            <p:blipFill>
              <a:blip r:embed="rId9">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10">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16" name="TextBox 15">
            <a:extLst>
              <a:ext uri="{FF2B5EF4-FFF2-40B4-BE49-F238E27FC236}">
                <a16:creationId xmlns:a16="http://schemas.microsoft.com/office/drawing/2014/main" id="{6E4ED19C-1E19-4F0C-8117-341E76C1B39E}"/>
              </a:ext>
            </a:extLst>
          </p:cNvPr>
          <p:cNvSpPr txBox="1"/>
          <p:nvPr/>
        </p:nvSpPr>
        <p:spPr>
          <a:xfrm>
            <a:off x="1658725" y="7593613"/>
            <a:ext cx="9047727" cy="646331"/>
          </a:xfrm>
          <a:prstGeom prst="rect">
            <a:avLst/>
          </a:prstGeom>
          <a:noFill/>
        </p:spPr>
        <p:txBody>
          <a:bodyPr wrap="square" rtlCol="0">
            <a:spAutoFit/>
          </a:bodyPr>
          <a:lstStyle/>
          <a:p>
            <a:r>
              <a:rPr lang="fr-FR" sz="3600" b="1" dirty="0">
                <a:latin typeface="Rockwell" panose="02060603020205020403" pitchFamily="18" charset="0"/>
              </a:rPr>
              <a:t>Chiffrement au niveau base de données </a:t>
            </a:r>
          </a:p>
        </p:txBody>
      </p:sp>
      <p:pic>
        <p:nvPicPr>
          <p:cNvPr id="17" name="Picture 16">
            <a:extLst>
              <a:ext uri="{FF2B5EF4-FFF2-40B4-BE49-F238E27FC236}">
                <a16:creationId xmlns:a16="http://schemas.microsoft.com/office/drawing/2014/main" id="{B9FE3239-EE18-922B-0A1E-6B3C8DDFC2F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92320" y="7315706"/>
            <a:ext cx="555812" cy="555812"/>
          </a:xfrm>
          <a:prstGeom prst="rect">
            <a:avLst/>
          </a:prstGeom>
        </p:spPr>
      </p:pic>
      <p:sp>
        <p:nvSpPr>
          <p:cNvPr id="18" name="TextBox 17">
            <a:extLst>
              <a:ext uri="{FF2B5EF4-FFF2-40B4-BE49-F238E27FC236}">
                <a16:creationId xmlns:a16="http://schemas.microsoft.com/office/drawing/2014/main" id="{B6D2D880-5F49-283F-1E24-F86CA4FF307C}"/>
              </a:ext>
            </a:extLst>
          </p:cNvPr>
          <p:cNvSpPr txBox="1"/>
          <p:nvPr/>
        </p:nvSpPr>
        <p:spPr>
          <a:xfrm>
            <a:off x="987614" y="-1292736"/>
            <a:ext cx="10216771" cy="646331"/>
          </a:xfrm>
          <a:prstGeom prst="rect">
            <a:avLst/>
          </a:prstGeom>
          <a:noFill/>
        </p:spPr>
        <p:txBody>
          <a:bodyPr wrap="square">
            <a:spAutoFit/>
          </a:bodyPr>
          <a:lstStyle/>
          <a:p>
            <a:r>
              <a:rPr lang="en-US" sz="3600" dirty="0">
                <a:latin typeface="Cooper Black" panose="0208090404030B020404" pitchFamily="18" charset="0"/>
              </a:rPr>
              <a:t>CHIFFREMENT DES DONNÉES SENSIBLES </a:t>
            </a:r>
          </a:p>
        </p:txBody>
      </p:sp>
      <p:sp>
        <p:nvSpPr>
          <p:cNvPr id="19" name="Rectangle: Rounded Corners 18">
            <a:extLst>
              <a:ext uri="{FF2B5EF4-FFF2-40B4-BE49-F238E27FC236}">
                <a16:creationId xmlns:a16="http://schemas.microsoft.com/office/drawing/2014/main" id="{82E23347-4633-8634-8ED2-D1A2E7F72913}"/>
              </a:ext>
            </a:extLst>
          </p:cNvPr>
          <p:cNvSpPr/>
          <p:nvPr/>
        </p:nvSpPr>
        <p:spPr>
          <a:xfrm>
            <a:off x="-5572733" y="1420512"/>
            <a:ext cx="4658959" cy="4216419"/>
          </a:xfrm>
          <a:prstGeom prst="roundRect">
            <a:avLst/>
          </a:prstGeom>
          <a:blipFill dpi="0" rotWithShape="1">
            <a:blip r:embed="rId12"/>
            <a:srcRect/>
            <a:stretch>
              <a:fillRect l="-37000" r="-5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09599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CF73-6EA3-37C9-872E-045DC36ADF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32EC09-A4F7-F277-320F-D97909484DF6}"/>
              </a:ext>
            </a:extLst>
          </p:cNvPr>
          <p:cNvSpPr txBox="1"/>
          <p:nvPr/>
        </p:nvSpPr>
        <p:spPr>
          <a:xfrm>
            <a:off x="987614" y="123469"/>
            <a:ext cx="10216771" cy="646331"/>
          </a:xfrm>
          <a:prstGeom prst="rect">
            <a:avLst/>
          </a:prstGeom>
          <a:noFill/>
        </p:spPr>
        <p:txBody>
          <a:bodyPr wrap="square">
            <a:spAutoFit/>
          </a:bodyPr>
          <a:lstStyle/>
          <a:p>
            <a:r>
              <a:rPr lang="en-US" sz="3600" dirty="0">
                <a:latin typeface="Cooper Black" panose="0208090404030B020404" pitchFamily="18" charset="0"/>
              </a:rPr>
              <a:t>CHIFFREMENT DES DONNÉES SENSIBLES </a:t>
            </a:r>
          </a:p>
        </p:txBody>
      </p:sp>
      <p:sp>
        <p:nvSpPr>
          <p:cNvPr id="7" name="Rectangle: Rounded Corners 6">
            <a:extLst>
              <a:ext uri="{FF2B5EF4-FFF2-40B4-BE49-F238E27FC236}">
                <a16:creationId xmlns:a16="http://schemas.microsoft.com/office/drawing/2014/main" id="{83260149-6EFA-A163-62B5-B8FE9194746C}"/>
              </a:ext>
            </a:extLst>
          </p:cNvPr>
          <p:cNvSpPr/>
          <p:nvPr/>
        </p:nvSpPr>
        <p:spPr>
          <a:xfrm>
            <a:off x="627337" y="1420512"/>
            <a:ext cx="4658959" cy="4216419"/>
          </a:xfrm>
          <a:prstGeom prst="roundRect">
            <a:avLst/>
          </a:prstGeom>
          <a:blipFill dpi="0" rotWithShape="1">
            <a:blip r:embed="rId2"/>
            <a:srcRect/>
            <a:stretch>
              <a:fillRect l="-37000" r="-5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 name="Group 3">
            <a:extLst>
              <a:ext uri="{FF2B5EF4-FFF2-40B4-BE49-F238E27FC236}">
                <a16:creationId xmlns:a16="http://schemas.microsoft.com/office/drawing/2014/main" id="{A1C17D4A-E5E5-0551-C4C7-949CF5621A27}"/>
              </a:ext>
            </a:extLst>
          </p:cNvPr>
          <p:cNvGrpSpPr/>
          <p:nvPr/>
        </p:nvGrpSpPr>
        <p:grpSpPr>
          <a:xfrm rot="13196559">
            <a:off x="13700968" y="22739"/>
            <a:ext cx="7200000" cy="7200000"/>
            <a:chOff x="-4274914" y="-171000"/>
            <a:chExt cx="7200000" cy="7200000"/>
          </a:xfrm>
        </p:grpSpPr>
        <p:grpSp>
          <p:nvGrpSpPr>
            <p:cNvPr id="5" name="Group 4">
              <a:extLst>
                <a:ext uri="{FF2B5EF4-FFF2-40B4-BE49-F238E27FC236}">
                  <a16:creationId xmlns:a16="http://schemas.microsoft.com/office/drawing/2014/main" id="{E64C02A5-68EF-ACED-8775-C4F8A6E18013}"/>
                </a:ext>
              </a:extLst>
            </p:cNvPr>
            <p:cNvGrpSpPr/>
            <p:nvPr/>
          </p:nvGrpSpPr>
          <p:grpSpPr>
            <a:xfrm rot="2285770">
              <a:off x="-4274914" y="-171000"/>
              <a:ext cx="7200000" cy="7200000"/>
              <a:chOff x="-4274914" y="-171000"/>
              <a:chExt cx="7200000" cy="7200000"/>
            </a:xfrm>
          </p:grpSpPr>
          <p:sp>
            <p:nvSpPr>
              <p:cNvPr id="31" name="Oval 30">
                <a:extLst>
                  <a:ext uri="{FF2B5EF4-FFF2-40B4-BE49-F238E27FC236}">
                    <a16:creationId xmlns:a16="http://schemas.microsoft.com/office/drawing/2014/main" id="{42079B6F-A72C-3304-4F16-7369BD565B14}"/>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ircle: Hollow 31">
                <a:extLst>
                  <a:ext uri="{FF2B5EF4-FFF2-40B4-BE49-F238E27FC236}">
                    <a16:creationId xmlns:a16="http://schemas.microsoft.com/office/drawing/2014/main" id="{B7977212-EF49-CACF-C010-7103E2F2F131}"/>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8" name="Group 7">
              <a:extLst>
                <a:ext uri="{FF2B5EF4-FFF2-40B4-BE49-F238E27FC236}">
                  <a16:creationId xmlns:a16="http://schemas.microsoft.com/office/drawing/2014/main" id="{80A1172C-600A-C24B-C3B5-D5B089301A1A}"/>
                </a:ext>
              </a:extLst>
            </p:cNvPr>
            <p:cNvGrpSpPr/>
            <p:nvPr/>
          </p:nvGrpSpPr>
          <p:grpSpPr>
            <a:xfrm>
              <a:off x="1449086" y="1773000"/>
              <a:ext cx="1296000" cy="1296000"/>
              <a:chOff x="1449086" y="1773001"/>
              <a:chExt cx="1296000" cy="1296000"/>
            </a:xfrm>
          </p:grpSpPr>
          <p:sp>
            <p:nvSpPr>
              <p:cNvPr id="29" name="Flowchart: Connector 28">
                <a:extLst>
                  <a:ext uri="{FF2B5EF4-FFF2-40B4-BE49-F238E27FC236}">
                    <a16:creationId xmlns:a16="http://schemas.microsoft.com/office/drawing/2014/main" id="{0E76A746-17CF-9193-A186-25A8B37CFE88}"/>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0" name="Picture 29">
                <a:extLst>
                  <a:ext uri="{FF2B5EF4-FFF2-40B4-BE49-F238E27FC236}">
                    <a16:creationId xmlns:a16="http://schemas.microsoft.com/office/drawing/2014/main" id="{40D6F23C-B2B7-8652-E060-FB89692CAFA7}"/>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10" name="Group 9">
              <a:extLst>
                <a:ext uri="{FF2B5EF4-FFF2-40B4-BE49-F238E27FC236}">
                  <a16:creationId xmlns:a16="http://schemas.microsoft.com/office/drawing/2014/main" id="{1F43B78E-A2D7-D2DA-7D4B-114D19DD0790}"/>
                </a:ext>
              </a:extLst>
            </p:cNvPr>
            <p:cNvGrpSpPr/>
            <p:nvPr/>
          </p:nvGrpSpPr>
          <p:grpSpPr>
            <a:xfrm>
              <a:off x="-1322914" y="5733000"/>
              <a:ext cx="1296000" cy="1296000"/>
              <a:chOff x="-1322914" y="5733000"/>
              <a:chExt cx="1296000" cy="1296000"/>
            </a:xfrm>
          </p:grpSpPr>
          <p:sp>
            <p:nvSpPr>
              <p:cNvPr id="27" name="Flowchart: Connector 26">
                <a:extLst>
                  <a:ext uri="{FF2B5EF4-FFF2-40B4-BE49-F238E27FC236}">
                    <a16:creationId xmlns:a16="http://schemas.microsoft.com/office/drawing/2014/main" id="{07E8DF14-91F9-B73C-774B-54815176D999}"/>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8" name="Picture 27">
                <a:extLst>
                  <a:ext uri="{FF2B5EF4-FFF2-40B4-BE49-F238E27FC236}">
                    <a16:creationId xmlns:a16="http://schemas.microsoft.com/office/drawing/2014/main" id="{9B4DF8A1-5A00-4466-C901-3C8A22D7E2B4}"/>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4" name="Group 23">
              <a:extLst>
                <a:ext uri="{FF2B5EF4-FFF2-40B4-BE49-F238E27FC236}">
                  <a16:creationId xmlns:a16="http://schemas.microsoft.com/office/drawing/2014/main" id="{5DBFAEBB-54D8-324A-C7D0-60851E2C25B5}"/>
                </a:ext>
              </a:extLst>
            </p:cNvPr>
            <p:cNvGrpSpPr/>
            <p:nvPr/>
          </p:nvGrpSpPr>
          <p:grpSpPr>
            <a:xfrm>
              <a:off x="-3794394" y="1125000"/>
              <a:ext cx="1296000" cy="1296000"/>
              <a:chOff x="-3794394" y="1125000"/>
              <a:chExt cx="1296000" cy="1296000"/>
            </a:xfrm>
          </p:grpSpPr>
          <p:sp>
            <p:nvSpPr>
              <p:cNvPr id="25" name="Flowchart: Connector 24">
                <a:extLst>
                  <a:ext uri="{FF2B5EF4-FFF2-40B4-BE49-F238E27FC236}">
                    <a16:creationId xmlns:a16="http://schemas.microsoft.com/office/drawing/2014/main" id="{F1BFA914-9D79-78D9-8E63-236D5101DEB3}"/>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6" name="Picture 25">
                <a:extLst>
                  <a:ext uri="{FF2B5EF4-FFF2-40B4-BE49-F238E27FC236}">
                    <a16:creationId xmlns:a16="http://schemas.microsoft.com/office/drawing/2014/main" id="{DE0D7D08-19CF-5A69-1E65-B255B3EAAC72}"/>
                  </a:ext>
                </a:extLst>
              </p:cNvPr>
              <p:cNvPicPr>
                <a:picLocks noChangeAspect="1"/>
              </p:cNvPicPr>
              <p:nvPr/>
            </p:nvPicPr>
            <p:blipFill>
              <a:blip r:embed="rId5">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6">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36" name="Text 4">
            <a:extLst>
              <a:ext uri="{FF2B5EF4-FFF2-40B4-BE49-F238E27FC236}">
                <a16:creationId xmlns:a16="http://schemas.microsoft.com/office/drawing/2014/main" id="{0ACB9E71-FAA9-902D-4FA4-1A4579779A3D}"/>
              </a:ext>
            </a:extLst>
          </p:cNvPr>
          <p:cNvSpPr/>
          <p:nvPr/>
        </p:nvSpPr>
        <p:spPr>
          <a:xfrm>
            <a:off x="6501987" y="2815505"/>
            <a:ext cx="4889466" cy="1221031"/>
          </a:xfrm>
          <a:prstGeom prst="rect">
            <a:avLst/>
          </a:prstGeom>
          <a:noFill/>
          <a:ln/>
        </p:spPr>
        <p:txBody>
          <a:bodyPr wrap="square" lIns="0" tIns="0" rIns="0" bIns="0" rtlCol="0" anchor="t"/>
          <a:lstStyle/>
          <a:p>
            <a:pPr marL="0" indent="0" algn="ctr">
              <a:lnSpc>
                <a:spcPts val="2300"/>
              </a:lnSpc>
              <a:buNone/>
            </a:pPr>
            <a:r>
              <a:rPr lang="fr-FR" sz="1600" dirty="0">
                <a:latin typeface="Bahnschrift SemiBold" panose="020B0502040204020203" pitchFamily="34" charset="0"/>
                <a:ea typeface="Roboto" pitchFamily="34" charset="-122"/>
                <a:cs typeface="Roboto" pitchFamily="34" charset="-120"/>
              </a:rPr>
              <a:t>Le chiffrement des données sensibles dans le système Agadir Tsunami-</a:t>
            </a:r>
            <a:r>
              <a:rPr lang="fr-FR" sz="1600" dirty="0" err="1">
                <a:latin typeface="Bahnschrift SemiBold" panose="020B0502040204020203" pitchFamily="34" charset="0"/>
                <a:ea typeface="Roboto" pitchFamily="34" charset="-122"/>
                <a:cs typeface="Roboto" pitchFamily="34" charset="-120"/>
              </a:rPr>
              <a:t>Ready</a:t>
            </a:r>
            <a:r>
              <a:rPr lang="fr-FR" sz="1600" dirty="0">
                <a:latin typeface="Bahnschrift SemiBold" panose="020B0502040204020203" pitchFamily="34" charset="0"/>
                <a:ea typeface="Roboto" pitchFamily="34" charset="-122"/>
                <a:cs typeface="Roboto" pitchFamily="34" charset="-120"/>
              </a:rPr>
              <a:t> a été mis en place directement au niveau des modèles Django afin de garantir la confidentialité des informations critiques.</a:t>
            </a:r>
            <a:endParaRPr lang="en-US" sz="1600" dirty="0">
              <a:latin typeface="Bahnschrift SemiBold" panose="020B0502040204020203" pitchFamily="34" charset="0"/>
            </a:endParaRPr>
          </a:p>
        </p:txBody>
      </p:sp>
      <p:sp>
        <p:nvSpPr>
          <p:cNvPr id="37" name="TextBox 36">
            <a:extLst>
              <a:ext uri="{FF2B5EF4-FFF2-40B4-BE49-F238E27FC236}">
                <a16:creationId xmlns:a16="http://schemas.microsoft.com/office/drawing/2014/main" id="{D8A9FF6D-14EA-EE09-1A51-DA7484D4B242}"/>
              </a:ext>
            </a:extLst>
          </p:cNvPr>
          <p:cNvSpPr txBox="1"/>
          <p:nvPr/>
        </p:nvSpPr>
        <p:spPr>
          <a:xfrm>
            <a:off x="1658725" y="6177408"/>
            <a:ext cx="9047727" cy="646331"/>
          </a:xfrm>
          <a:prstGeom prst="rect">
            <a:avLst/>
          </a:prstGeom>
          <a:noFill/>
        </p:spPr>
        <p:txBody>
          <a:bodyPr wrap="square" rtlCol="0">
            <a:spAutoFit/>
          </a:bodyPr>
          <a:lstStyle/>
          <a:p>
            <a:r>
              <a:rPr lang="fr-FR" sz="3600" b="1" dirty="0">
                <a:latin typeface="Rockwell" panose="02060603020205020403" pitchFamily="18" charset="0"/>
              </a:rPr>
              <a:t>Chiffrement au niveau base de données </a:t>
            </a:r>
          </a:p>
        </p:txBody>
      </p:sp>
      <p:pic>
        <p:nvPicPr>
          <p:cNvPr id="38" name="Picture 37">
            <a:extLst>
              <a:ext uri="{FF2B5EF4-FFF2-40B4-BE49-F238E27FC236}">
                <a16:creationId xmlns:a16="http://schemas.microsoft.com/office/drawing/2014/main" id="{039B4A9B-93F1-B5BF-D42F-7851FBE5411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92320" y="5899501"/>
            <a:ext cx="555812" cy="555812"/>
          </a:xfrm>
          <a:prstGeom prst="rect">
            <a:avLst/>
          </a:prstGeom>
        </p:spPr>
      </p:pic>
      <p:sp>
        <p:nvSpPr>
          <p:cNvPr id="39" name="TextBox 38">
            <a:extLst>
              <a:ext uri="{FF2B5EF4-FFF2-40B4-BE49-F238E27FC236}">
                <a16:creationId xmlns:a16="http://schemas.microsoft.com/office/drawing/2014/main" id="{18389635-9520-7BA3-9EC2-18D658488B19}"/>
              </a:ext>
            </a:extLst>
          </p:cNvPr>
          <p:cNvSpPr txBox="1"/>
          <p:nvPr/>
        </p:nvSpPr>
        <p:spPr>
          <a:xfrm>
            <a:off x="770125" y="7599234"/>
            <a:ext cx="10962556" cy="646331"/>
          </a:xfrm>
          <a:prstGeom prst="rect">
            <a:avLst/>
          </a:prstGeom>
          <a:noFill/>
        </p:spPr>
        <p:txBody>
          <a:bodyPr wrap="square" rtlCol="0">
            <a:spAutoFit/>
          </a:bodyPr>
          <a:lstStyle/>
          <a:p>
            <a:r>
              <a:rPr lang="fr-FR" sz="3600" b="1" dirty="0">
                <a:latin typeface="Rockwell" panose="02060603020205020403" pitchFamily="18" charset="0"/>
              </a:rPr>
              <a:t>Variables d'environnement (gestion des secrets) </a:t>
            </a:r>
          </a:p>
        </p:txBody>
      </p:sp>
      <p:pic>
        <p:nvPicPr>
          <p:cNvPr id="40" name="Picture 39">
            <a:extLst>
              <a:ext uri="{FF2B5EF4-FFF2-40B4-BE49-F238E27FC236}">
                <a16:creationId xmlns:a16="http://schemas.microsoft.com/office/drawing/2014/main" id="{E58DF721-041A-D5B9-67C6-A5708033C99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20" y="7321327"/>
            <a:ext cx="555812" cy="555812"/>
          </a:xfrm>
          <a:prstGeom prst="rect">
            <a:avLst/>
          </a:prstGeom>
        </p:spPr>
      </p:pic>
      <p:pic>
        <p:nvPicPr>
          <p:cNvPr id="41" name="Image 1">
            <a:extLst>
              <a:ext uri="{FF2B5EF4-FFF2-40B4-BE49-F238E27FC236}">
                <a16:creationId xmlns:a16="http://schemas.microsoft.com/office/drawing/2014/main" id="{7EF7B8A7-2E7F-91DE-6703-121BCC3C5D8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89687" y="1703036"/>
            <a:ext cx="5037714" cy="3452978"/>
          </a:xfrm>
          <a:prstGeom prst="rect">
            <a:avLst/>
          </a:prstGeom>
        </p:spPr>
      </p:pic>
      <p:pic>
        <p:nvPicPr>
          <p:cNvPr id="42" name="Image 1">
            <a:extLst>
              <a:ext uri="{FF2B5EF4-FFF2-40B4-BE49-F238E27FC236}">
                <a16:creationId xmlns:a16="http://schemas.microsoft.com/office/drawing/2014/main" id="{1C3911FD-8A73-D6A9-AC02-E11B45C0997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3853620" y="1703036"/>
            <a:ext cx="5459586" cy="3452978"/>
          </a:xfrm>
          <a:prstGeom prst="rect">
            <a:avLst/>
          </a:prstGeom>
        </p:spPr>
      </p:pic>
    </p:spTree>
    <p:extLst>
      <p:ext uri="{BB962C8B-B14F-4D97-AF65-F5344CB8AC3E}">
        <p14:creationId xmlns:p14="http://schemas.microsoft.com/office/powerpoint/2010/main" val="1064597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4BE2D-2D9B-5A7A-25AD-406543E376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111A57C-FF7A-CD2D-6361-8F43F0B16378}"/>
              </a:ext>
            </a:extLst>
          </p:cNvPr>
          <p:cNvSpPr txBox="1"/>
          <p:nvPr/>
        </p:nvSpPr>
        <p:spPr>
          <a:xfrm>
            <a:off x="987614" y="123469"/>
            <a:ext cx="10216771" cy="646331"/>
          </a:xfrm>
          <a:prstGeom prst="rect">
            <a:avLst/>
          </a:prstGeom>
          <a:noFill/>
        </p:spPr>
        <p:txBody>
          <a:bodyPr wrap="square">
            <a:spAutoFit/>
          </a:bodyPr>
          <a:lstStyle/>
          <a:p>
            <a:r>
              <a:rPr lang="en-US" sz="3600" dirty="0">
                <a:latin typeface="Cooper Black" panose="0208090404030B020404" pitchFamily="18" charset="0"/>
              </a:rPr>
              <a:t>CHIFFREMENT DES DONNÉES SENSIBLES </a:t>
            </a:r>
          </a:p>
        </p:txBody>
      </p:sp>
      <p:sp>
        <p:nvSpPr>
          <p:cNvPr id="7" name="Rectangle: Rounded Corners 6">
            <a:extLst>
              <a:ext uri="{FF2B5EF4-FFF2-40B4-BE49-F238E27FC236}">
                <a16:creationId xmlns:a16="http://schemas.microsoft.com/office/drawing/2014/main" id="{0675C335-4B61-312C-ACF1-E289139C239D}"/>
              </a:ext>
            </a:extLst>
          </p:cNvPr>
          <p:cNvSpPr/>
          <p:nvPr/>
        </p:nvSpPr>
        <p:spPr>
          <a:xfrm>
            <a:off x="14120291" y="1420512"/>
            <a:ext cx="4658959" cy="4216419"/>
          </a:xfrm>
          <a:prstGeom prst="roundRect">
            <a:avLst/>
          </a:prstGeom>
          <a:blipFill dpi="0" rotWithShape="1">
            <a:blip r:embed="rId2"/>
            <a:srcRect/>
            <a:stretch>
              <a:fillRect l="-37000" r="-5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 name="Group 3">
            <a:extLst>
              <a:ext uri="{FF2B5EF4-FFF2-40B4-BE49-F238E27FC236}">
                <a16:creationId xmlns:a16="http://schemas.microsoft.com/office/drawing/2014/main" id="{EEDDEFA4-6012-077E-AAE6-970FD094F788}"/>
              </a:ext>
            </a:extLst>
          </p:cNvPr>
          <p:cNvGrpSpPr/>
          <p:nvPr/>
        </p:nvGrpSpPr>
        <p:grpSpPr>
          <a:xfrm rot="13196559">
            <a:off x="13700968" y="22739"/>
            <a:ext cx="7200000" cy="7200000"/>
            <a:chOff x="-4274914" y="-171000"/>
            <a:chExt cx="7200000" cy="7200000"/>
          </a:xfrm>
        </p:grpSpPr>
        <p:grpSp>
          <p:nvGrpSpPr>
            <p:cNvPr id="5" name="Group 4">
              <a:extLst>
                <a:ext uri="{FF2B5EF4-FFF2-40B4-BE49-F238E27FC236}">
                  <a16:creationId xmlns:a16="http://schemas.microsoft.com/office/drawing/2014/main" id="{C6669EF9-BA6B-05A9-F784-14AC830BD723}"/>
                </a:ext>
              </a:extLst>
            </p:cNvPr>
            <p:cNvGrpSpPr/>
            <p:nvPr/>
          </p:nvGrpSpPr>
          <p:grpSpPr>
            <a:xfrm rot="2285770">
              <a:off x="-4274914" y="-171000"/>
              <a:ext cx="7200000" cy="7200000"/>
              <a:chOff x="-4274914" y="-171000"/>
              <a:chExt cx="7200000" cy="7200000"/>
            </a:xfrm>
          </p:grpSpPr>
          <p:sp>
            <p:nvSpPr>
              <p:cNvPr id="31" name="Oval 30">
                <a:extLst>
                  <a:ext uri="{FF2B5EF4-FFF2-40B4-BE49-F238E27FC236}">
                    <a16:creationId xmlns:a16="http://schemas.microsoft.com/office/drawing/2014/main" id="{3625E4D4-3078-96DC-7CBE-B3E8C413E815}"/>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ircle: Hollow 31">
                <a:extLst>
                  <a:ext uri="{FF2B5EF4-FFF2-40B4-BE49-F238E27FC236}">
                    <a16:creationId xmlns:a16="http://schemas.microsoft.com/office/drawing/2014/main" id="{F91A99E1-5C43-4939-E3E8-D87F568E9B7F}"/>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8" name="Group 7">
              <a:extLst>
                <a:ext uri="{FF2B5EF4-FFF2-40B4-BE49-F238E27FC236}">
                  <a16:creationId xmlns:a16="http://schemas.microsoft.com/office/drawing/2014/main" id="{FF97B5CE-53CF-EB59-9CBB-3CC4FC4A0E5C}"/>
                </a:ext>
              </a:extLst>
            </p:cNvPr>
            <p:cNvGrpSpPr/>
            <p:nvPr/>
          </p:nvGrpSpPr>
          <p:grpSpPr>
            <a:xfrm>
              <a:off x="1449086" y="1773000"/>
              <a:ext cx="1296000" cy="1296000"/>
              <a:chOff x="1449086" y="1773001"/>
              <a:chExt cx="1296000" cy="1296000"/>
            </a:xfrm>
          </p:grpSpPr>
          <p:sp>
            <p:nvSpPr>
              <p:cNvPr id="29" name="Flowchart: Connector 28">
                <a:extLst>
                  <a:ext uri="{FF2B5EF4-FFF2-40B4-BE49-F238E27FC236}">
                    <a16:creationId xmlns:a16="http://schemas.microsoft.com/office/drawing/2014/main" id="{A06820CA-6180-8A3F-BDAC-24CB6C897877}"/>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0" name="Picture 29">
                <a:extLst>
                  <a:ext uri="{FF2B5EF4-FFF2-40B4-BE49-F238E27FC236}">
                    <a16:creationId xmlns:a16="http://schemas.microsoft.com/office/drawing/2014/main" id="{967ADDEE-3288-3CB5-DAEE-0AC0C7EAC0FA}"/>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10" name="Group 9">
              <a:extLst>
                <a:ext uri="{FF2B5EF4-FFF2-40B4-BE49-F238E27FC236}">
                  <a16:creationId xmlns:a16="http://schemas.microsoft.com/office/drawing/2014/main" id="{AB0ED117-6DBE-1400-C075-27F0FB907E28}"/>
                </a:ext>
              </a:extLst>
            </p:cNvPr>
            <p:cNvGrpSpPr/>
            <p:nvPr/>
          </p:nvGrpSpPr>
          <p:grpSpPr>
            <a:xfrm>
              <a:off x="-1322914" y="5733000"/>
              <a:ext cx="1296000" cy="1296000"/>
              <a:chOff x="-1322914" y="5733000"/>
              <a:chExt cx="1296000" cy="1296000"/>
            </a:xfrm>
          </p:grpSpPr>
          <p:sp>
            <p:nvSpPr>
              <p:cNvPr id="27" name="Flowchart: Connector 26">
                <a:extLst>
                  <a:ext uri="{FF2B5EF4-FFF2-40B4-BE49-F238E27FC236}">
                    <a16:creationId xmlns:a16="http://schemas.microsoft.com/office/drawing/2014/main" id="{7AF0CA6C-6800-3126-9F95-E3114A7A5A5A}"/>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8" name="Picture 27">
                <a:extLst>
                  <a:ext uri="{FF2B5EF4-FFF2-40B4-BE49-F238E27FC236}">
                    <a16:creationId xmlns:a16="http://schemas.microsoft.com/office/drawing/2014/main" id="{EF2E8077-4497-F9FB-7FAE-B6980DFE240C}"/>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4" name="Group 23">
              <a:extLst>
                <a:ext uri="{FF2B5EF4-FFF2-40B4-BE49-F238E27FC236}">
                  <a16:creationId xmlns:a16="http://schemas.microsoft.com/office/drawing/2014/main" id="{BD50C52E-357E-4ABE-3236-C753A9323C28}"/>
                </a:ext>
              </a:extLst>
            </p:cNvPr>
            <p:cNvGrpSpPr/>
            <p:nvPr/>
          </p:nvGrpSpPr>
          <p:grpSpPr>
            <a:xfrm>
              <a:off x="-3794394" y="1125000"/>
              <a:ext cx="1296000" cy="1296000"/>
              <a:chOff x="-3794394" y="1125000"/>
              <a:chExt cx="1296000" cy="1296000"/>
            </a:xfrm>
          </p:grpSpPr>
          <p:sp>
            <p:nvSpPr>
              <p:cNvPr id="25" name="Flowchart: Connector 24">
                <a:extLst>
                  <a:ext uri="{FF2B5EF4-FFF2-40B4-BE49-F238E27FC236}">
                    <a16:creationId xmlns:a16="http://schemas.microsoft.com/office/drawing/2014/main" id="{B98686F3-A6E1-3243-D447-C335B7D80697}"/>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6" name="Picture 25">
                <a:extLst>
                  <a:ext uri="{FF2B5EF4-FFF2-40B4-BE49-F238E27FC236}">
                    <a16:creationId xmlns:a16="http://schemas.microsoft.com/office/drawing/2014/main" id="{5839A6BF-7CEE-9AB2-A7C8-969ADE953B63}"/>
                  </a:ext>
                </a:extLst>
              </p:cNvPr>
              <p:cNvPicPr>
                <a:picLocks noChangeAspect="1"/>
              </p:cNvPicPr>
              <p:nvPr/>
            </p:nvPicPr>
            <p:blipFill>
              <a:blip r:embed="rId5">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6">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37" name="TextBox 36">
            <a:extLst>
              <a:ext uri="{FF2B5EF4-FFF2-40B4-BE49-F238E27FC236}">
                <a16:creationId xmlns:a16="http://schemas.microsoft.com/office/drawing/2014/main" id="{1E10EA97-E514-48B3-6194-74D1E6F21126}"/>
              </a:ext>
            </a:extLst>
          </p:cNvPr>
          <p:cNvSpPr txBox="1"/>
          <p:nvPr/>
        </p:nvSpPr>
        <p:spPr>
          <a:xfrm>
            <a:off x="770125" y="6194180"/>
            <a:ext cx="10962556" cy="646331"/>
          </a:xfrm>
          <a:prstGeom prst="rect">
            <a:avLst/>
          </a:prstGeom>
          <a:noFill/>
        </p:spPr>
        <p:txBody>
          <a:bodyPr wrap="square" rtlCol="0">
            <a:spAutoFit/>
          </a:bodyPr>
          <a:lstStyle/>
          <a:p>
            <a:r>
              <a:rPr lang="fr-FR" sz="3600" b="1" dirty="0">
                <a:latin typeface="Rockwell" panose="02060603020205020403" pitchFamily="18" charset="0"/>
              </a:rPr>
              <a:t>Variables d'environnement (gestion des secrets) </a:t>
            </a:r>
          </a:p>
        </p:txBody>
      </p:sp>
      <p:pic>
        <p:nvPicPr>
          <p:cNvPr id="38" name="Picture 37">
            <a:extLst>
              <a:ext uri="{FF2B5EF4-FFF2-40B4-BE49-F238E27FC236}">
                <a16:creationId xmlns:a16="http://schemas.microsoft.com/office/drawing/2014/main" id="{4CA539B0-E7CF-3218-B361-4BF26A5146A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03720" y="5916273"/>
            <a:ext cx="555812" cy="555812"/>
          </a:xfrm>
          <a:prstGeom prst="rect">
            <a:avLst/>
          </a:prstGeom>
        </p:spPr>
      </p:pic>
      <p:pic>
        <p:nvPicPr>
          <p:cNvPr id="2" name="Image 1">
            <a:extLst>
              <a:ext uri="{FF2B5EF4-FFF2-40B4-BE49-F238E27FC236}">
                <a16:creationId xmlns:a16="http://schemas.microsoft.com/office/drawing/2014/main" id="{F185198B-9041-DEDE-08BE-8D49A36E690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03721" y="1703036"/>
            <a:ext cx="5037714" cy="3452978"/>
          </a:xfrm>
          <a:prstGeom prst="rect">
            <a:avLst/>
          </a:prstGeom>
        </p:spPr>
      </p:pic>
      <p:pic>
        <p:nvPicPr>
          <p:cNvPr id="6" name="Image 1">
            <a:extLst>
              <a:ext uri="{FF2B5EF4-FFF2-40B4-BE49-F238E27FC236}">
                <a16:creationId xmlns:a16="http://schemas.microsoft.com/office/drawing/2014/main" id="{CF549F9C-0ECA-5C14-41CC-630554D82C7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28692" y="1703036"/>
            <a:ext cx="5459586" cy="3452978"/>
          </a:xfrm>
          <a:prstGeom prst="rect">
            <a:avLst/>
          </a:prstGeom>
        </p:spPr>
      </p:pic>
    </p:spTree>
    <p:extLst>
      <p:ext uri="{BB962C8B-B14F-4D97-AF65-F5344CB8AC3E}">
        <p14:creationId xmlns:p14="http://schemas.microsoft.com/office/powerpoint/2010/main" val="3487395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2F60-1D87-84AD-AF3E-8045A0A0D0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F4B672-54C6-80B0-2D37-41970978F4FB}"/>
              </a:ext>
            </a:extLst>
          </p:cNvPr>
          <p:cNvSpPr txBox="1"/>
          <p:nvPr/>
        </p:nvSpPr>
        <p:spPr>
          <a:xfrm>
            <a:off x="987614" y="123469"/>
            <a:ext cx="10216771" cy="646331"/>
          </a:xfrm>
          <a:prstGeom prst="rect">
            <a:avLst/>
          </a:prstGeom>
          <a:noFill/>
        </p:spPr>
        <p:txBody>
          <a:bodyPr wrap="square">
            <a:spAutoFit/>
          </a:bodyPr>
          <a:lstStyle/>
          <a:p>
            <a:r>
              <a:rPr lang="en-US" sz="3600" dirty="0">
                <a:latin typeface="Cooper Black" panose="0208090404030B020404" pitchFamily="18" charset="0"/>
              </a:rPr>
              <a:t>CHIFFREMENT DES DONNÉES SENSIBLES </a:t>
            </a:r>
          </a:p>
        </p:txBody>
      </p:sp>
      <p:sp>
        <p:nvSpPr>
          <p:cNvPr id="7" name="Rectangle: Rounded Corners 6">
            <a:extLst>
              <a:ext uri="{FF2B5EF4-FFF2-40B4-BE49-F238E27FC236}">
                <a16:creationId xmlns:a16="http://schemas.microsoft.com/office/drawing/2014/main" id="{4EDD14C8-31BA-BAF1-A6D1-47A5164D0025}"/>
              </a:ext>
            </a:extLst>
          </p:cNvPr>
          <p:cNvSpPr/>
          <p:nvPr/>
        </p:nvSpPr>
        <p:spPr>
          <a:xfrm>
            <a:off x="14120291" y="1420512"/>
            <a:ext cx="4658959" cy="4216419"/>
          </a:xfrm>
          <a:prstGeom prst="roundRect">
            <a:avLst/>
          </a:prstGeom>
          <a:blipFill dpi="0" rotWithShape="1">
            <a:blip r:embed="rId2"/>
            <a:srcRect/>
            <a:stretch>
              <a:fillRect l="-37000" r="-5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 name="Group 3">
            <a:extLst>
              <a:ext uri="{FF2B5EF4-FFF2-40B4-BE49-F238E27FC236}">
                <a16:creationId xmlns:a16="http://schemas.microsoft.com/office/drawing/2014/main" id="{1A7735BD-0B08-B416-2D11-7B6C2BC91F71}"/>
              </a:ext>
            </a:extLst>
          </p:cNvPr>
          <p:cNvGrpSpPr/>
          <p:nvPr/>
        </p:nvGrpSpPr>
        <p:grpSpPr>
          <a:xfrm rot="13196559">
            <a:off x="13700968" y="22739"/>
            <a:ext cx="7200000" cy="7200000"/>
            <a:chOff x="-4274914" y="-171000"/>
            <a:chExt cx="7200000" cy="7200000"/>
          </a:xfrm>
        </p:grpSpPr>
        <p:grpSp>
          <p:nvGrpSpPr>
            <p:cNvPr id="5" name="Group 4">
              <a:extLst>
                <a:ext uri="{FF2B5EF4-FFF2-40B4-BE49-F238E27FC236}">
                  <a16:creationId xmlns:a16="http://schemas.microsoft.com/office/drawing/2014/main" id="{29F23C13-90B7-0DCB-191E-7D1A66DA7CCA}"/>
                </a:ext>
              </a:extLst>
            </p:cNvPr>
            <p:cNvGrpSpPr/>
            <p:nvPr/>
          </p:nvGrpSpPr>
          <p:grpSpPr>
            <a:xfrm rot="2285770">
              <a:off x="-4274914" y="-171000"/>
              <a:ext cx="7200000" cy="7200000"/>
              <a:chOff x="-4274914" y="-171000"/>
              <a:chExt cx="7200000" cy="7200000"/>
            </a:xfrm>
          </p:grpSpPr>
          <p:sp>
            <p:nvSpPr>
              <p:cNvPr id="31" name="Oval 30">
                <a:extLst>
                  <a:ext uri="{FF2B5EF4-FFF2-40B4-BE49-F238E27FC236}">
                    <a16:creationId xmlns:a16="http://schemas.microsoft.com/office/drawing/2014/main" id="{DA66E0F4-6491-C4E9-C1C6-CE0D7393EFA7}"/>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ircle: Hollow 31">
                <a:extLst>
                  <a:ext uri="{FF2B5EF4-FFF2-40B4-BE49-F238E27FC236}">
                    <a16:creationId xmlns:a16="http://schemas.microsoft.com/office/drawing/2014/main" id="{9675CDE1-8D7C-96D1-DA5E-15675AD47B43}"/>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8" name="Group 7">
              <a:extLst>
                <a:ext uri="{FF2B5EF4-FFF2-40B4-BE49-F238E27FC236}">
                  <a16:creationId xmlns:a16="http://schemas.microsoft.com/office/drawing/2014/main" id="{5F6D715E-AD54-F805-6100-E185994CC761}"/>
                </a:ext>
              </a:extLst>
            </p:cNvPr>
            <p:cNvGrpSpPr/>
            <p:nvPr/>
          </p:nvGrpSpPr>
          <p:grpSpPr>
            <a:xfrm>
              <a:off x="1449086" y="1773000"/>
              <a:ext cx="1296000" cy="1296000"/>
              <a:chOff x="1449086" y="1773001"/>
              <a:chExt cx="1296000" cy="1296000"/>
            </a:xfrm>
          </p:grpSpPr>
          <p:sp>
            <p:nvSpPr>
              <p:cNvPr id="29" name="Flowchart: Connector 28">
                <a:extLst>
                  <a:ext uri="{FF2B5EF4-FFF2-40B4-BE49-F238E27FC236}">
                    <a16:creationId xmlns:a16="http://schemas.microsoft.com/office/drawing/2014/main" id="{05108B91-F9CD-057D-F871-FEF6D8DF95D4}"/>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0" name="Picture 29">
                <a:extLst>
                  <a:ext uri="{FF2B5EF4-FFF2-40B4-BE49-F238E27FC236}">
                    <a16:creationId xmlns:a16="http://schemas.microsoft.com/office/drawing/2014/main" id="{046DA7E1-446B-4EB2-F2B7-F6E44F03783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10" name="Group 9">
              <a:extLst>
                <a:ext uri="{FF2B5EF4-FFF2-40B4-BE49-F238E27FC236}">
                  <a16:creationId xmlns:a16="http://schemas.microsoft.com/office/drawing/2014/main" id="{5501EFB3-BFEC-49AC-B606-192CC3DED284}"/>
                </a:ext>
              </a:extLst>
            </p:cNvPr>
            <p:cNvGrpSpPr/>
            <p:nvPr/>
          </p:nvGrpSpPr>
          <p:grpSpPr>
            <a:xfrm>
              <a:off x="-1322914" y="5733000"/>
              <a:ext cx="1296000" cy="1296000"/>
              <a:chOff x="-1322914" y="5733000"/>
              <a:chExt cx="1296000" cy="1296000"/>
            </a:xfrm>
          </p:grpSpPr>
          <p:sp>
            <p:nvSpPr>
              <p:cNvPr id="27" name="Flowchart: Connector 26">
                <a:extLst>
                  <a:ext uri="{FF2B5EF4-FFF2-40B4-BE49-F238E27FC236}">
                    <a16:creationId xmlns:a16="http://schemas.microsoft.com/office/drawing/2014/main" id="{EF8F015B-5C49-7592-0083-DDA577FCA4D4}"/>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8" name="Picture 27">
                <a:extLst>
                  <a:ext uri="{FF2B5EF4-FFF2-40B4-BE49-F238E27FC236}">
                    <a16:creationId xmlns:a16="http://schemas.microsoft.com/office/drawing/2014/main" id="{A5C369CE-5EAA-7A55-2C3F-1CC96A444C8F}"/>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4" name="Group 23">
              <a:extLst>
                <a:ext uri="{FF2B5EF4-FFF2-40B4-BE49-F238E27FC236}">
                  <a16:creationId xmlns:a16="http://schemas.microsoft.com/office/drawing/2014/main" id="{5D1482B3-011D-9106-625E-CFC90EB57552}"/>
                </a:ext>
              </a:extLst>
            </p:cNvPr>
            <p:cNvGrpSpPr/>
            <p:nvPr/>
          </p:nvGrpSpPr>
          <p:grpSpPr>
            <a:xfrm>
              <a:off x="-3794394" y="1125000"/>
              <a:ext cx="1296000" cy="1296000"/>
              <a:chOff x="-3794394" y="1125000"/>
              <a:chExt cx="1296000" cy="1296000"/>
            </a:xfrm>
          </p:grpSpPr>
          <p:sp>
            <p:nvSpPr>
              <p:cNvPr id="25" name="Flowchart: Connector 24">
                <a:extLst>
                  <a:ext uri="{FF2B5EF4-FFF2-40B4-BE49-F238E27FC236}">
                    <a16:creationId xmlns:a16="http://schemas.microsoft.com/office/drawing/2014/main" id="{7BE55E17-4B12-93D1-4CD2-62F493705145}"/>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6" name="Picture 25">
                <a:extLst>
                  <a:ext uri="{FF2B5EF4-FFF2-40B4-BE49-F238E27FC236}">
                    <a16:creationId xmlns:a16="http://schemas.microsoft.com/office/drawing/2014/main" id="{A39BB582-0932-EFEE-6776-2CF6ECCF612C}"/>
                  </a:ext>
                </a:extLst>
              </p:cNvPr>
              <p:cNvPicPr>
                <a:picLocks noChangeAspect="1"/>
              </p:cNvPicPr>
              <p:nvPr/>
            </p:nvPicPr>
            <p:blipFill>
              <a:blip r:embed="rId5">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6">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37" name="TextBox 36">
            <a:extLst>
              <a:ext uri="{FF2B5EF4-FFF2-40B4-BE49-F238E27FC236}">
                <a16:creationId xmlns:a16="http://schemas.microsoft.com/office/drawing/2014/main" id="{BF271632-7E5D-08B6-D061-A5242A40A606}"/>
              </a:ext>
            </a:extLst>
          </p:cNvPr>
          <p:cNvSpPr txBox="1"/>
          <p:nvPr/>
        </p:nvSpPr>
        <p:spPr>
          <a:xfrm>
            <a:off x="770125" y="6194180"/>
            <a:ext cx="10962556" cy="646331"/>
          </a:xfrm>
          <a:prstGeom prst="rect">
            <a:avLst/>
          </a:prstGeom>
          <a:noFill/>
        </p:spPr>
        <p:txBody>
          <a:bodyPr wrap="square" rtlCol="0">
            <a:spAutoFit/>
          </a:bodyPr>
          <a:lstStyle/>
          <a:p>
            <a:r>
              <a:rPr lang="fr-FR" sz="3600" b="1" dirty="0">
                <a:latin typeface="Rockwell" panose="02060603020205020403" pitchFamily="18" charset="0"/>
              </a:rPr>
              <a:t>Variables d'environnement (gestion des secrets) </a:t>
            </a:r>
          </a:p>
        </p:txBody>
      </p:sp>
      <p:pic>
        <p:nvPicPr>
          <p:cNvPr id="38" name="Picture 37">
            <a:extLst>
              <a:ext uri="{FF2B5EF4-FFF2-40B4-BE49-F238E27FC236}">
                <a16:creationId xmlns:a16="http://schemas.microsoft.com/office/drawing/2014/main" id="{56BB108E-80A2-B7E0-971F-762E2E4E70EF}"/>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03720" y="5916273"/>
            <a:ext cx="555812" cy="555812"/>
          </a:xfrm>
          <a:prstGeom prst="rect">
            <a:avLst/>
          </a:prstGeom>
        </p:spPr>
      </p:pic>
      <p:pic>
        <p:nvPicPr>
          <p:cNvPr id="2" name="Image 1">
            <a:extLst>
              <a:ext uri="{FF2B5EF4-FFF2-40B4-BE49-F238E27FC236}">
                <a16:creationId xmlns:a16="http://schemas.microsoft.com/office/drawing/2014/main" id="{37373BAC-BD80-ED68-6F5F-D255E4A7BE2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03721" y="1703036"/>
            <a:ext cx="5037714" cy="2759236"/>
          </a:xfrm>
          <a:prstGeom prst="rect">
            <a:avLst/>
          </a:prstGeom>
        </p:spPr>
      </p:pic>
      <p:pic>
        <p:nvPicPr>
          <p:cNvPr id="6" name="Image 1">
            <a:extLst>
              <a:ext uri="{FF2B5EF4-FFF2-40B4-BE49-F238E27FC236}">
                <a16:creationId xmlns:a16="http://schemas.microsoft.com/office/drawing/2014/main" id="{A8A8FFD0-DF9D-0CA1-70AF-C27BF043177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28692" y="1703036"/>
            <a:ext cx="5459586" cy="3452978"/>
          </a:xfrm>
          <a:prstGeom prst="rect">
            <a:avLst/>
          </a:prstGeom>
        </p:spPr>
      </p:pic>
      <p:sp>
        <p:nvSpPr>
          <p:cNvPr id="9" name="Text 4">
            <a:extLst>
              <a:ext uri="{FF2B5EF4-FFF2-40B4-BE49-F238E27FC236}">
                <a16:creationId xmlns:a16="http://schemas.microsoft.com/office/drawing/2014/main" id="{B6A51AFC-343A-620A-FE74-AD43FCEDCF3F}"/>
              </a:ext>
            </a:extLst>
          </p:cNvPr>
          <p:cNvSpPr/>
          <p:nvPr/>
        </p:nvSpPr>
        <p:spPr>
          <a:xfrm>
            <a:off x="1272685" y="4716571"/>
            <a:ext cx="2620415" cy="359002"/>
          </a:xfrm>
          <a:prstGeom prst="rect">
            <a:avLst/>
          </a:prstGeom>
          <a:noFill/>
          <a:ln/>
        </p:spPr>
        <p:txBody>
          <a:bodyPr wrap="square" lIns="0" tIns="0" rIns="0" bIns="0" rtlCol="0" anchor="t"/>
          <a:lstStyle/>
          <a:p>
            <a:pPr marL="0" indent="0" algn="ctr">
              <a:lnSpc>
                <a:spcPts val="2300"/>
              </a:lnSpc>
              <a:buNone/>
            </a:pPr>
            <a:r>
              <a:rPr lang="fr-FR" sz="1600" dirty="0">
                <a:latin typeface="Bahnschrift SemiBold" panose="020B0502040204020203" pitchFamily="34" charset="0"/>
                <a:ea typeface="Roboto" pitchFamily="34" charset="-122"/>
                <a:cs typeface="Roboto" pitchFamily="34" charset="-120"/>
              </a:rPr>
              <a:t>les fichiers de configuration</a:t>
            </a:r>
            <a:endParaRPr lang="en-US" sz="1600" dirty="0">
              <a:latin typeface="Bahnschrift SemiBold" panose="020B0502040204020203" pitchFamily="34" charset="0"/>
            </a:endParaRPr>
          </a:p>
        </p:txBody>
      </p:sp>
    </p:spTree>
    <p:extLst>
      <p:ext uri="{BB962C8B-B14F-4D97-AF65-F5344CB8AC3E}">
        <p14:creationId xmlns:p14="http://schemas.microsoft.com/office/powerpoint/2010/main" val="2086545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2ABC5-3CC5-57B2-998E-D1A879617F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495EC1-9D82-80A3-B9D5-FC650D40096A}"/>
              </a:ext>
            </a:extLst>
          </p:cNvPr>
          <p:cNvSpPr txBox="1"/>
          <p:nvPr/>
        </p:nvSpPr>
        <p:spPr>
          <a:xfrm>
            <a:off x="987614" y="123469"/>
            <a:ext cx="10216771" cy="646331"/>
          </a:xfrm>
          <a:prstGeom prst="rect">
            <a:avLst/>
          </a:prstGeom>
          <a:noFill/>
        </p:spPr>
        <p:txBody>
          <a:bodyPr wrap="square">
            <a:spAutoFit/>
          </a:bodyPr>
          <a:lstStyle/>
          <a:p>
            <a:r>
              <a:rPr lang="en-US" sz="3600" dirty="0">
                <a:latin typeface="Cooper Black" panose="0208090404030B020404" pitchFamily="18" charset="0"/>
              </a:rPr>
              <a:t>CHIFFREMENT DES DONNÉES SENSIBLES </a:t>
            </a:r>
          </a:p>
        </p:txBody>
      </p:sp>
      <p:sp>
        <p:nvSpPr>
          <p:cNvPr id="7" name="Rectangle: Rounded Corners 6">
            <a:extLst>
              <a:ext uri="{FF2B5EF4-FFF2-40B4-BE49-F238E27FC236}">
                <a16:creationId xmlns:a16="http://schemas.microsoft.com/office/drawing/2014/main" id="{369FEF2E-5E78-076D-1266-8FB76D1C37BD}"/>
              </a:ext>
            </a:extLst>
          </p:cNvPr>
          <p:cNvSpPr/>
          <p:nvPr/>
        </p:nvSpPr>
        <p:spPr>
          <a:xfrm>
            <a:off x="14120291" y="1420512"/>
            <a:ext cx="4658959" cy="4216419"/>
          </a:xfrm>
          <a:prstGeom prst="roundRect">
            <a:avLst/>
          </a:prstGeom>
          <a:blipFill dpi="0" rotWithShape="1">
            <a:blip r:embed="rId3"/>
            <a:srcRect/>
            <a:stretch>
              <a:fillRect l="-37000" r="-5000"/>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4" name="Group 3">
            <a:extLst>
              <a:ext uri="{FF2B5EF4-FFF2-40B4-BE49-F238E27FC236}">
                <a16:creationId xmlns:a16="http://schemas.microsoft.com/office/drawing/2014/main" id="{2E41D557-3256-7F72-44EE-51934EE9F407}"/>
              </a:ext>
            </a:extLst>
          </p:cNvPr>
          <p:cNvGrpSpPr/>
          <p:nvPr/>
        </p:nvGrpSpPr>
        <p:grpSpPr>
          <a:xfrm rot="13196559">
            <a:off x="13700968" y="22739"/>
            <a:ext cx="7200000" cy="7200000"/>
            <a:chOff x="-4274914" y="-171000"/>
            <a:chExt cx="7200000" cy="7200000"/>
          </a:xfrm>
        </p:grpSpPr>
        <p:grpSp>
          <p:nvGrpSpPr>
            <p:cNvPr id="5" name="Group 4">
              <a:extLst>
                <a:ext uri="{FF2B5EF4-FFF2-40B4-BE49-F238E27FC236}">
                  <a16:creationId xmlns:a16="http://schemas.microsoft.com/office/drawing/2014/main" id="{B12F3C00-C248-A891-E287-DD15890FF2AC}"/>
                </a:ext>
              </a:extLst>
            </p:cNvPr>
            <p:cNvGrpSpPr/>
            <p:nvPr/>
          </p:nvGrpSpPr>
          <p:grpSpPr>
            <a:xfrm rot="2285770">
              <a:off x="-4274914" y="-171000"/>
              <a:ext cx="7200000" cy="7200000"/>
              <a:chOff x="-4274914" y="-171000"/>
              <a:chExt cx="7200000" cy="7200000"/>
            </a:xfrm>
          </p:grpSpPr>
          <p:sp>
            <p:nvSpPr>
              <p:cNvPr id="31" name="Oval 30">
                <a:extLst>
                  <a:ext uri="{FF2B5EF4-FFF2-40B4-BE49-F238E27FC236}">
                    <a16:creationId xmlns:a16="http://schemas.microsoft.com/office/drawing/2014/main" id="{27955FBE-A484-AE04-A11B-82375FD41AB6}"/>
                  </a:ext>
                </a:extLst>
              </p:cNvPr>
              <p:cNvSpPr/>
              <p:nvPr/>
            </p:nvSpPr>
            <p:spPr>
              <a:xfrm>
                <a:off x="-2618914" y="1485000"/>
                <a:ext cx="3888000" cy="38880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ircle: Hollow 31">
                <a:extLst>
                  <a:ext uri="{FF2B5EF4-FFF2-40B4-BE49-F238E27FC236}">
                    <a16:creationId xmlns:a16="http://schemas.microsoft.com/office/drawing/2014/main" id="{7065F0F5-F20F-5FAC-A703-75A33CED3A1D}"/>
                  </a:ext>
                </a:extLst>
              </p:cNvPr>
              <p:cNvSpPr/>
              <p:nvPr/>
            </p:nvSpPr>
            <p:spPr>
              <a:xfrm>
                <a:off x="-4274914" y="-171000"/>
                <a:ext cx="7200000" cy="7200000"/>
              </a:xfrm>
              <a:prstGeom prst="donut">
                <a:avLst>
                  <a:gd name="adj" fmla="val 17674"/>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8" name="Group 7">
              <a:extLst>
                <a:ext uri="{FF2B5EF4-FFF2-40B4-BE49-F238E27FC236}">
                  <a16:creationId xmlns:a16="http://schemas.microsoft.com/office/drawing/2014/main" id="{0357FA38-8542-EEEE-3A35-93DEBC7DC526}"/>
                </a:ext>
              </a:extLst>
            </p:cNvPr>
            <p:cNvGrpSpPr/>
            <p:nvPr/>
          </p:nvGrpSpPr>
          <p:grpSpPr>
            <a:xfrm>
              <a:off x="1449086" y="1773000"/>
              <a:ext cx="1296000" cy="1296000"/>
              <a:chOff x="1449086" y="1773001"/>
              <a:chExt cx="1296000" cy="1296000"/>
            </a:xfrm>
          </p:grpSpPr>
          <p:sp>
            <p:nvSpPr>
              <p:cNvPr id="29" name="Flowchart: Connector 28">
                <a:extLst>
                  <a:ext uri="{FF2B5EF4-FFF2-40B4-BE49-F238E27FC236}">
                    <a16:creationId xmlns:a16="http://schemas.microsoft.com/office/drawing/2014/main" id="{3FEA36BD-B1D3-1E08-4195-558327C0DBD2}"/>
                  </a:ext>
                </a:extLst>
              </p:cNvPr>
              <p:cNvSpPr/>
              <p:nvPr/>
            </p:nvSpPr>
            <p:spPr>
              <a:xfrm>
                <a:off x="1449086" y="1773001"/>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30" name="Picture 29">
                <a:extLst>
                  <a:ext uri="{FF2B5EF4-FFF2-40B4-BE49-F238E27FC236}">
                    <a16:creationId xmlns:a16="http://schemas.microsoft.com/office/drawing/2014/main" id="{720B92CE-B338-A039-7A32-65D8DC595EA0}"/>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rcRect/>
              <a:stretch/>
            </p:blipFill>
            <p:spPr>
              <a:xfrm rot="20253609">
                <a:off x="1635343" y="1959258"/>
                <a:ext cx="923486" cy="923486"/>
              </a:xfrm>
              <a:prstGeom prst="rect">
                <a:avLst/>
              </a:prstGeom>
            </p:spPr>
          </p:pic>
        </p:grpSp>
        <p:grpSp>
          <p:nvGrpSpPr>
            <p:cNvPr id="10" name="Group 9">
              <a:extLst>
                <a:ext uri="{FF2B5EF4-FFF2-40B4-BE49-F238E27FC236}">
                  <a16:creationId xmlns:a16="http://schemas.microsoft.com/office/drawing/2014/main" id="{F3B4D0D1-B638-B7E3-65AD-1F38A23BD3DF}"/>
                </a:ext>
              </a:extLst>
            </p:cNvPr>
            <p:cNvGrpSpPr/>
            <p:nvPr/>
          </p:nvGrpSpPr>
          <p:grpSpPr>
            <a:xfrm>
              <a:off x="-1322914" y="5733000"/>
              <a:ext cx="1296000" cy="1296000"/>
              <a:chOff x="-1322914" y="5733000"/>
              <a:chExt cx="1296000" cy="1296000"/>
            </a:xfrm>
          </p:grpSpPr>
          <p:sp>
            <p:nvSpPr>
              <p:cNvPr id="27" name="Flowchart: Connector 26">
                <a:extLst>
                  <a:ext uri="{FF2B5EF4-FFF2-40B4-BE49-F238E27FC236}">
                    <a16:creationId xmlns:a16="http://schemas.microsoft.com/office/drawing/2014/main" id="{C80191A1-4101-7AE9-EDC6-E14C2B6B53A7}"/>
                  </a:ext>
                </a:extLst>
              </p:cNvPr>
              <p:cNvSpPr/>
              <p:nvPr/>
            </p:nvSpPr>
            <p:spPr>
              <a:xfrm>
                <a:off x="-1322914" y="5733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Bahnschrift SemiBold" panose="020B0502040204020203" pitchFamily="34" charset="0"/>
                </a:endParaRPr>
              </a:p>
            </p:txBody>
          </p:sp>
          <p:pic>
            <p:nvPicPr>
              <p:cNvPr id="28" name="Picture 27">
                <a:extLst>
                  <a:ext uri="{FF2B5EF4-FFF2-40B4-BE49-F238E27FC236}">
                    <a16:creationId xmlns:a16="http://schemas.microsoft.com/office/drawing/2014/main" id="{02BAA02D-4926-9635-0CA0-F2323EC2F9A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rcRect/>
              <a:stretch/>
            </p:blipFill>
            <p:spPr>
              <a:xfrm rot="5233519">
                <a:off x="-1170308" y="5973019"/>
                <a:ext cx="973978" cy="967965"/>
              </a:xfrm>
              <a:prstGeom prst="rect">
                <a:avLst/>
              </a:prstGeom>
            </p:spPr>
          </p:pic>
        </p:grpSp>
        <p:grpSp>
          <p:nvGrpSpPr>
            <p:cNvPr id="24" name="Group 23">
              <a:extLst>
                <a:ext uri="{FF2B5EF4-FFF2-40B4-BE49-F238E27FC236}">
                  <a16:creationId xmlns:a16="http://schemas.microsoft.com/office/drawing/2014/main" id="{4FBD7B62-D040-DED4-587E-9DFF92D58C8D}"/>
                </a:ext>
              </a:extLst>
            </p:cNvPr>
            <p:cNvGrpSpPr/>
            <p:nvPr/>
          </p:nvGrpSpPr>
          <p:grpSpPr>
            <a:xfrm>
              <a:off x="-3794394" y="1125000"/>
              <a:ext cx="1296000" cy="1296000"/>
              <a:chOff x="-3794394" y="1125000"/>
              <a:chExt cx="1296000" cy="1296000"/>
            </a:xfrm>
          </p:grpSpPr>
          <p:sp>
            <p:nvSpPr>
              <p:cNvPr id="25" name="Flowchart: Connector 24">
                <a:extLst>
                  <a:ext uri="{FF2B5EF4-FFF2-40B4-BE49-F238E27FC236}">
                    <a16:creationId xmlns:a16="http://schemas.microsoft.com/office/drawing/2014/main" id="{35BD2FE3-1C69-3900-ADAF-C61B375375E8}"/>
                  </a:ext>
                </a:extLst>
              </p:cNvPr>
              <p:cNvSpPr/>
              <p:nvPr/>
            </p:nvSpPr>
            <p:spPr>
              <a:xfrm rot="16200000">
                <a:off x="-3794394" y="1125000"/>
                <a:ext cx="1296000" cy="1296000"/>
              </a:xfrm>
              <a:prstGeom prst="flowChartConnector">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100" dirty="0">
                  <a:latin typeface="Bahnschrift SemiBold" panose="020B0502040204020203" pitchFamily="34" charset="0"/>
                </a:endParaRPr>
              </a:p>
            </p:txBody>
          </p:sp>
          <p:pic>
            <p:nvPicPr>
              <p:cNvPr id="26" name="Picture 25">
                <a:extLst>
                  <a:ext uri="{FF2B5EF4-FFF2-40B4-BE49-F238E27FC236}">
                    <a16:creationId xmlns:a16="http://schemas.microsoft.com/office/drawing/2014/main" id="{02D24F4B-D39D-F323-8B80-1AE5047B88B3}"/>
                  </a:ext>
                </a:extLst>
              </p:cNvPr>
              <p:cNvPicPr>
                <a:picLocks noChangeAspect="1"/>
              </p:cNvPicPr>
              <p:nvPr/>
            </p:nvPicPr>
            <p:blipFill>
              <a:blip r:embed="rId6">
                <a:clrChange>
                  <a:clrFrom>
                    <a:srgbClr val="000000">
                      <a:alpha val="0"/>
                    </a:srgbClr>
                  </a:clrFrom>
                  <a:clrTo>
                    <a:srgbClr val="000000">
                      <a:alpha val="0"/>
                    </a:srgbClr>
                  </a:clrTo>
                </a:clrChange>
                <a:lum bright="70000" contrast="-70000"/>
                <a:extLst>
                  <a:ext uri="{BEBA8EAE-BF5A-486C-A8C5-ECC9F3942E4B}">
                    <a14:imgProps xmlns:a14="http://schemas.microsoft.com/office/drawing/2010/main">
                      <a14:imgLayer r:embed="rId7">
                        <a14:imgEffect>
                          <a14:colorTemperature colorTemp="5300"/>
                        </a14:imgEffect>
                      </a14:imgLayer>
                    </a14:imgProps>
                  </a:ext>
                  <a:ext uri="{28A0092B-C50C-407E-A947-70E740481C1C}">
                    <a14:useLocalDpi xmlns:a14="http://schemas.microsoft.com/office/drawing/2010/main" val="0"/>
                  </a:ext>
                </a:extLst>
              </a:blip>
              <a:srcRect/>
              <a:stretch/>
            </p:blipFill>
            <p:spPr>
              <a:xfrm rot="12926580">
                <a:off x="-3558292" y="1364209"/>
                <a:ext cx="817581" cy="817581"/>
              </a:xfrm>
              <a:prstGeom prst="rect">
                <a:avLst/>
              </a:prstGeom>
            </p:spPr>
          </p:pic>
        </p:grpSp>
      </p:grpSp>
      <p:sp>
        <p:nvSpPr>
          <p:cNvPr id="37" name="TextBox 36">
            <a:extLst>
              <a:ext uri="{FF2B5EF4-FFF2-40B4-BE49-F238E27FC236}">
                <a16:creationId xmlns:a16="http://schemas.microsoft.com/office/drawing/2014/main" id="{4578A1D3-A397-471C-513C-45CCAA3166AA}"/>
              </a:ext>
            </a:extLst>
          </p:cNvPr>
          <p:cNvSpPr txBox="1"/>
          <p:nvPr/>
        </p:nvSpPr>
        <p:spPr>
          <a:xfrm>
            <a:off x="770125" y="6194180"/>
            <a:ext cx="10962556" cy="646331"/>
          </a:xfrm>
          <a:prstGeom prst="rect">
            <a:avLst/>
          </a:prstGeom>
          <a:noFill/>
        </p:spPr>
        <p:txBody>
          <a:bodyPr wrap="square" rtlCol="0">
            <a:spAutoFit/>
          </a:bodyPr>
          <a:lstStyle/>
          <a:p>
            <a:r>
              <a:rPr lang="fr-FR" sz="3600" b="1" dirty="0">
                <a:latin typeface="Rockwell" panose="02060603020205020403" pitchFamily="18" charset="0"/>
              </a:rPr>
              <a:t>Variables d'environnement (gestion des secrets) </a:t>
            </a:r>
          </a:p>
        </p:txBody>
      </p:sp>
      <p:pic>
        <p:nvPicPr>
          <p:cNvPr id="38" name="Picture 37">
            <a:extLst>
              <a:ext uri="{FF2B5EF4-FFF2-40B4-BE49-F238E27FC236}">
                <a16:creationId xmlns:a16="http://schemas.microsoft.com/office/drawing/2014/main" id="{1FD02F33-4875-5E97-DC1C-52D61853D8E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303720" y="5916273"/>
            <a:ext cx="555812" cy="555812"/>
          </a:xfrm>
          <a:prstGeom prst="rect">
            <a:avLst/>
          </a:prstGeom>
        </p:spPr>
      </p:pic>
      <p:pic>
        <p:nvPicPr>
          <p:cNvPr id="2" name="Image 1">
            <a:extLst>
              <a:ext uri="{FF2B5EF4-FFF2-40B4-BE49-F238E27FC236}">
                <a16:creationId xmlns:a16="http://schemas.microsoft.com/office/drawing/2014/main" id="{594861F6-0D64-1FF5-8AFA-29E85F88DDC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3721" y="1703036"/>
            <a:ext cx="5037714" cy="2759236"/>
          </a:xfrm>
          <a:prstGeom prst="rect">
            <a:avLst/>
          </a:prstGeom>
        </p:spPr>
      </p:pic>
      <p:pic>
        <p:nvPicPr>
          <p:cNvPr id="6" name="Image 1">
            <a:extLst>
              <a:ext uri="{FF2B5EF4-FFF2-40B4-BE49-F238E27FC236}">
                <a16:creationId xmlns:a16="http://schemas.microsoft.com/office/drawing/2014/main" id="{02FE5D27-3320-BAED-C75B-31A8975D73A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428692" y="1703036"/>
            <a:ext cx="5459586" cy="2759236"/>
          </a:xfrm>
          <a:prstGeom prst="rect">
            <a:avLst/>
          </a:prstGeom>
        </p:spPr>
      </p:pic>
      <p:sp>
        <p:nvSpPr>
          <p:cNvPr id="9" name="Text 4">
            <a:extLst>
              <a:ext uri="{FF2B5EF4-FFF2-40B4-BE49-F238E27FC236}">
                <a16:creationId xmlns:a16="http://schemas.microsoft.com/office/drawing/2014/main" id="{F486423C-4466-EA1E-C036-A9797CDF4D7B}"/>
              </a:ext>
            </a:extLst>
          </p:cNvPr>
          <p:cNvSpPr/>
          <p:nvPr/>
        </p:nvSpPr>
        <p:spPr>
          <a:xfrm>
            <a:off x="1272685" y="4716571"/>
            <a:ext cx="2620415" cy="359002"/>
          </a:xfrm>
          <a:prstGeom prst="rect">
            <a:avLst/>
          </a:prstGeom>
          <a:noFill/>
          <a:ln/>
        </p:spPr>
        <p:txBody>
          <a:bodyPr wrap="square" lIns="0" tIns="0" rIns="0" bIns="0" rtlCol="0" anchor="t"/>
          <a:lstStyle/>
          <a:p>
            <a:pPr marL="0" indent="0" algn="ctr">
              <a:lnSpc>
                <a:spcPts val="2300"/>
              </a:lnSpc>
              <a:buNone/>
            </a:pPr>
            <a:r>
              <a:rPr lang="fr-FR" sz="1600" dirty="0">
                <a:latin typeface="Bahnschrift SemiBold" panose="020B0502040204020203" pitchFamily="34" charset="0"/>
                <a:ea typeface="Roboto" pitchFamily="34" charset="-122"/>
                <a:cs typeface="Roboto" pitchFamily="34" charset="-120"/>
              </a:rPr>
              <a:t>les fichiers de configuration</a:t>
            </a:r>
            <a:endParaRPr lang="en-US" sz="1600" dirty="0">
              <a:latin typeface="Bahnschrift SemiBold" panose="020B0502040204020203" pitchFamily="34" charset="0"/>
            </a:endParaRPr>
          </a:p>
        </p:txBody>
      </p:sp>
      <p:sp>
        <p:nvSpPr>
          <p:cNvPr id="11" name="Text 4">
            <a:extLst>
              <a:ext uri="{FF2B5EF4-FFF2-40B4-BE49-F238E27FC236}">
                <a16:creationId xmlns:a16="http://schemas.microsoft.com/office/drawing/2014/main" id="{1F15FAA0-AD32-E725-0BEE-3BDAAADBC6AD}"/>
              </a:ext>
            </a:extLst>
          </p:cNvPr>
          <p:cNvSpPr/>
          <p:nvPr/>
        </p:nvSpPr>
        <p:spPr>
          <a:xfrm>
            <a:off x="7848277" y="4716571"/>
            <a:ext cx="2620415" cy="359002"/>
          </a:xfrm>
          <a:prstGeom prst="rect">
            <a:avLst/>
          </a:prstGeom>
          <a:noFill/>
          <a:ln/>
        </p:spPr>
        <p:txBody>
          <a:bodyPr wrap="square" lIns="0" tIns="0" rIns="0" bIns="0" rtlCol="0" anchor="t"/>
          <a:lstStyle/>
          <a:p>
            <a:pPr marL="0" indent="0" algn="ctr">
              <a:lnSpc>
                <a:spcPts val="2300"/>
              </a:lnSpc>
              <a:buNone/>
            </a:pPr>
            <a:r>
              <a:rPr lang="fr-FR" sz="1600" dirty="0">
                <a:latin typeface="Bahnschrift SemiBold" panose="020B0502040204020203" pitchFamily="34" charset="0"/>
                <a:ea typeface="Roboto" pitchFamily="34" charset="-122"/>
                <a:cs typeface="Roboto" pitchFamily="34" charset="-120"/>
              </a:rPr>
              <a:t>Fichier créé : .env</a:t>
            </a:r>
            <a:endParaRPr lang="en-US" sz="1600" dirty="0">
              <a:latin typeface="Bahnschrift SemiBold" panose="020B0502040204020203" pitchFamily="34" charset="0"/>
            </a:endParaRPr>
          </a:p>
        </p:txBody>
      </p:sp>
      <p:sp>
        <p:nvSpPr>
          <p:cNvPr id="12" name="TextBox 11">
            <a:extLst>
              <a:ext uri="{FF2B5EF4-FFF2-40B4-BE49-F238E27FC236}">
                <a16:creationId xmlns:a16="http://schemas.microsoft.com/office/drawing/2014/main" id="{74B06E29-3728-6E97-9BF1-8B8F7B4B99F0}"/>
              </a:ext>
            </a:extLst>
          </p:cNvPr>
          <p:cNvSpPr txBox="1"/>
          <p:nvPr/>
        </p:nvSpPr>
        <p:spPr>
          <a:xfrm>
            <a:off x="4219688" y="-1110567"/>
            <a:ext cx="3752623" cy="830997"/>
          </a:xfrm>
          <a:prstGeom prst="rect">
            <a:avLst/>
          </a:prstGeom>
          <a:noFill/>
        </p:spPr>
        <p:txBody>
          <a:bodyPr wrap="square">
            <a:spAutoFit/>
          </a:bodyPr>
          <a:lstStyle/>
          <a:p>
            <a:r>
              <a:rPr lang="en-US" sz="4800" dirty="0">
                <a:latin typeface="Cooper Black" panose="0208090404030B020404" pitchFamily="18" charset="0"/>
              </a:rPr>
              <a:t>Conclusion </a:t>
            </a:r>
          </a:p>
        </p:txBody>
      </p:sp>
      <p:sp>
        <p:nvSpPr>
          <p:cNvPr id="13" name="TextBox 12">
            <a:extLst>
              <a:ext uri="{FF2B5EF4-FFF2-40B4-BE49-F238E27FC236}">
                <a16:creationId xmlns:a16="http://schemas.microsoft.com/office/drawing/2014/main" id="{1D88D379-E223-739A-F8F3-C3102D71BEDB}"/>
              </a:ext>
            </a:extLst>
          </p:cNvPr>
          <p:cNvSpPr txBox="1"/>
          <p:nvPr/>
        </p:nvSpPr>
        <p:spPr>
          <a:xfrm>
            <a:off x="2316653" y="8271968"/>
            <a:ext cx="8552734" cy="1323439"/>
          </a:xfrm>
          <a:prstGeom prst="rect">
            <a:avLst/>
          </a:prstGeom>
          <a:noFill/>
        </p:spPr>
        <p:txBody>
          <a:bodyPr wrap="square" rtlCol="0">
            <a:spAutoFit/>
          </a:bodyPr>
          <a:lstStyle/>
          <a:p>
            <a:pPr algn="ctr"/>
            <a:r>
              <a:rPr lang="fr-FR" sz="1600" dirty="0">
                <a:latin typeface="Bahnschrift SemiBold" panose="020B0502040204020203" pitchFamily="34" charset="0"/>
              </a:rPr>
              <a:t>En conclusion, ce projet de sécurisation du système Agadir Tsunami-</a:t>
            </a:r>
            <a:r>
              <a:rPr lang="fr-FR" sz="1600" dirty="0" err="1">
                <a:latin typeface="Bahnschrift SemiBold" panose="020B0502040204020203" pitchFamily="34" charset="0"/>
              </a:rPr>
              <a:t>Ready</a:t>
            </a:r>
            <a:r>
              <a:rPr lang="fr-FR" sz="1600" dirty="0">
                <a:latin typeface="Bahnschrift SemiBold" panose="020B0502040204020203" pitchFamily="34" charset="0"/>
              </a:rPr>
              <a:t> a permis de transformer une plateforme de gestion d'urgence en une infrastructure numérique résiliente et de confiance. Au-delà de l'implémentation technique, ce travail nous a confrontés aux réalités de la Confiance Numérique : protéger les données sensibles tout en garantissant la disponibilité d'une alerte critique.</a:t>
            </a:r>
            <a:endParaRPr lang="en-US" sz="1600" dirty="0">
              <a:latin typeface="Bahnschrift SemiBold" panose="020B0502040204020203" pitchFamily="34" charset="0"/>
            </a:endParaRPr>
          </a:p>
        </p:txBody>
      </p:sp>
      <p:pic>
        <p:nvPicPr>
          <p:cNvPr id="14" name="Picture 13" descr="A black background with a black square&#10;&#10;AI-generated content may be incorrect.">
            <a:extLst>
              <a:ext uri="{FF2B5EF4-FFF2-40B4-BE49-F238E27FC236}">
                <a16:creationId xmlns:a16="http://schemas.microsoft.com/office/drawing/2014/main" id="{9C9CA49F-7820-2B3F-DA0C-CC7AE3B27A2F}"/>
              </a:ext>
            </a:extLst>
          </p:cNvPr>
          <p:cNvPicPr>
            <a:picLocks noChangeAspect="1"/>
          </p:cNvPicPr>
          <p:nvPr/>
        </p:nvPicPr>
        <p:blipFill>
          <a:blip r:embed="rId11"/>
          <a:stretch>
            <a:fillRect/>
          </a:stretch>
        </p:blipFill>
        <p:spPr>
          <a:xfrm>
            <a:off x="2014431" y="7897826"/>
            <a:ext cx="604444" cy="604444"/>
          </a:xfrm>
          <a:prstGeom prst="rect">
            <a:avLst/>
          </a:prstGeom>
        </p:spPr>
      </p:pic>
    </p:spTree>
    <p:extLst>
      <p:ext uri="{BB962C8B-B14F-4D97-AF65-F5344CB8AC3E}">
        <p14:creationId xmlns:p14="http://schemas.microsoft.com/office/powerpoint/2010/main" val="3140711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C67F23-D46D-569A-D727-904CA485F391}"/>
              </a:ext>
            </a:extLst>
          </p:cNvPr>
          <p:cNvSpPr txBox="1"/>
          <p:nvPr/>
        </p:nvSpPr>
        <p:spPr>
          <a:xfrm>
            <a:off x="4219688" y="334185"/>
            <a:ext cx="3752623" cy="830997"/>
          </a:xfrm>
          <a:prstGeom prst="rect">
            <a:avLst/>
          </a:prstGeom>
          <a:noFill/>
        </p:spPr>
        <p:txBody>
          <a:bodyPr wrap="square">
            <a:spAutoFit/>
          </a:bodyPr>
          <a:lstStyle/>
          <a:p>
            <a:r>
              <a:rPr lang="en-US" sz="4800" dirty="0">
                <a:latin typeface="Cooper Black" panose="0208090404030B020404" pitchFamily="18" charset="0"/>
              </a:rPr>
              <a:t>Conclusion </a:t>
            </a:r>
          </a:p>
        </p:txBody>
      </p:sp>
      <p:sp>
        <p:nvSpPr>
          <p:cNvPr id="3" name="TextBox 2">
            <a:extLst>
              <a:ext uri="{FF2B5EF4-FFF2-40B4-BE49-F238E27FC236}">
                <a16:creationId xmlns:a16="http://schemas.microsoft.com/office/drawing/2014/main" id="{E23B2975-1595-BF00-3AD4-691D3F1116A1}"/>
              </a:ext>
            </a:extLst>
          </p:cNvPr>
          <p:cNvSpPr txBox="1"/>
          <p:nvPr/>
        </p:nvSpPr>
        <p:spPr>
          <a:xfrm>
            <a:off x="2316653" y="2767280"/>
            <a:ext cx="8552734" cy="1323439"/>
          </a:xfrm>
          <a:prstGeom prst="rect">
            <a:avLst/>
          </a:prstGeom>
          <a:noFill/>
        </p:spPr>
        <p:txBody>
          <a:bodyPr wrap="square" rtlCol="0">
            <a:spAutoFit/>
          </a:bodyPr>
          <a:lstStyle/>
          <a:p>
            <a:pPr algn="ctr"/>
            <a:r>
              <a:rPr lang="fr-FR" sz="1600" dirty="0">
                <a:latin typeface="Bahnschrift SemiBold" panose="020B0502040204020203" pitchFamily="34" charset="0"/>
              </a:rPr>
              <a:t>En conclusion, ce projet de sécurisation du système Agadir Tsunami-</a:t>
            </a:r>
            <a:r>
              <a:rPr lang="fr-FR" sz="1600" dirty="0" err="1">
                <a:latin typeface="Bahnschrift SemiBold" panose="020B0502040204020203" pitchFamily="34" charset="0"/>
              </a:rPr>
              <a:t>Ready</a:t>
            </a:r>
            <a:r>
              <a:rPr lang="fr-FR" sz="1600" dirty="0">
                <a:latin typeface="Bahnschrift SemiBold" panose="020B0502040204020203" pitchFamily="34" charset="0"/>
              </a:rPr>
              <a:t> a permis de transformer une plateforme de gestion d'urgence en une infrastructure numérique résiliente et de confiance. Au-delà de l'implémentation technique, ce travail nous a confrontés aux réalités de la Confiance Numérique : protéger les données sensibles tout en garantissant la disponibilité d'une alerte critique.</a:t>
            </a:r>
            <a:endParaRPr lang="en-US" sz="1600" dirty="0">
              <a:latin typeface="Bahnschrift SemiBold" panose="020B0502040204020203" pitchFamily="34" charset="0"/>
            </a:endParaRPr>
          </a:p>
        </p:txBody>
      </p:sp>
      <p:pic>
        <p:nvPicPr>
          <p:cNvPr id="5" name="Picture 4" descr="A black background with a black square&#10;&#10;AI-generated content may be incorrect.">
            <a:extLst>
              <a:ext uri="{FF2B5EF4-FFF2-40B4-BE49-F238E27FC236}">
                <a16:creationId xmlns:a16="http://schemas.microsoft.com/office/drawing/2014/main" id="{BF688DB1-1EF6-AEFB-50C8-C092BE935B67}"/>
              </a:ext>
            </a:extLst>
          </p:cNvPr>
          <p:cNvPicPr>
            <a:picLocks noChangeAspect="1"/>
          </p:cNvPicPr>
          <p:nvPr/>
        </p:nvPicPr>
        <p:blipFill>
          <a:blip r:embed="rId2"/>
          <a:stretch>
            <a:fillRect/>
          </a:stretch>
        </p:blipFill>
        <p:spPr>
          <a:xfrm>
            <a:off x="2014431" y="2393138"/>
            <a:ext cx="604444" cy="604444"/>
          </a:xfrm>
          <a:prstGeom prst="rect">
            <a:avLst/>
          </a:prstGeom>
        </p:spPr>
      </p:pic>
      <p:pic>
        <p:nvPicPr>
          <p:cNvPr id="4" name="Image 1">
            <a:extLst>
              <a:ext uri="{FF2B5EF4-FFF2-40B4-BE49-F238E27FC236}">
                <a16:creationId xmlns:a16="http://schemas.microsoft.com/office/drawing/2014/main" id="{60502843-32E5-018B-42D0-A0D846167F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5447" y="1703036"/>
            <a:ext cx="5037714" cy="2759236"/>
          </a:xfrm>
          <a:prstGeom prst="rect">
            <a:avLst/>
          </a:prstGeom>
        </p:spPr>
      </p:pic>
      <p:pic>
        <p:nvPicPr>
          <p:cNvPr id="7" name="Image 1">
            <a:extLst>
              <a:ext uri="{FF2B5EF4-FFF2-40B4-BE49-F238E27FC236}">
                <a16:creationId xmlns:a16="http://schemas.microsoft.com/office/drawing/2014/main" id="{F602499F-59A4-32C0-E87B-022554FB07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219380" y="1703036"/>
            <a:ext cx="5459586" cy="2759236"/>
          </a:xfrm>
          <a:prstGeom prst="rect">
            <a:avLst/>
          </a:prstGeom>
        </p:spPr>
      </p:pic>
      <p:sp>
        <p:nvSpPr>
          <p:cNvPr id="8" name="Text 4">
            <a:extLst>
              <a:ext uri="{FF2B5EF4-FFF2-40B4-BE49-F238E27FC236}">
                <a16:creationId xmlns:a16="http://schemas.microsoft.com/office/drawing/2014/main" id="{F8F797FD-7592-1C23-3C19-C7FD0FEAD4BF}"/>
              </a:ext>
            </a:extLst>
          </p:cNvPr>
          <p:cNvSpPr/>
          <p:nvPr/>
        </p:nvSpPr>
        <p:spPr>
          <a:xfrm>
            <a:off x="-5786483" y="4716571"/>
            <a:ext cx="2620415" cy="359002"/>
          </a:xfrm>
          <a:prstGeom prst="rect">
            <a:avLst/>
          </a:prstGeom>
          <a:noFill/>
          <a:ln/>
        </p:spPr>
        <p:txBody>
          <a:bodyPr wrap="square" lIns="0" tIns="0" rIns="0" bIns="0" rtlCol="0" anchor="t"/>
          <a:lstStyle/>
          <a:p>
            <a:pPr marL="0" indent="0" algn="ctr">
              <a:lnSpc>
                <a:spcPts val="2300"/>
              </a:lnSpc>
              <a:buNone/>
            </a:pPr>
            <a:r>
              <a:rPr lang="fr-FR" sz="1600" dirty="0">
                <a:latin typeface="Bahnschrift SemiBold" panose="020B0502040204020203" pitchFamily="34" charset="0"/>
                <a:ea typeface="Roboto" pitchFamily="34" charset="-122"/>
                <a:cs typeface="Roboto" pitchFamily="34" charset="-120"/>
              </a:rPr>
              <a:t>les fichiers de configuration</a:t>
            </a:r>
            <a:endParaRPr lang="en-US" sz="1600" dirty="0">
              <a:latin typeface="Bahnschrift SemiBold" panose="020B0502040204020203" pitchFamily="34" charset="0"/>
            </a:endParaRPr>
          </a:p>
        </p:txBody>
      </p:sp>
      <p:sp>
        <p:nvSpPr>
          <p:cNvPr id="9" name="Text 4">
            <a:extLst>
              <a:ext uri="{FF2B5EF4-FFF2-40B4-BE49-F238E27FC236}">
                <a16:creationId xmlns:a16="http://schemas.microsoft.com/office/drawing/2014/main" id="{21C2BF5D-6A26-7820-4267-E7EA827B0DCB}"/>
              </a:ext>
            </a:extLst>
          </p:cNvPr>
          <p:cNvSpPr/>
          <p:nvPr/>
        </p:nvSpPr>
        <p:spPr>
          <a:xfrm>
            <a:off x="15638965" y="4716571"/>
            <a:ext cx="2620415" cy="359002"/>
          </a:xfrm>
          <a:prstGeom prst="rect">
            <a:avLst/>
          </a:prstGeom>
          <a:noFill/>
          <a:ln/>
        </p:spPr>
        <p:txBody>
          <a:bodyPr wrap="square" lIns="0" tIns="0" rIns="0" bIns="0" rtlCol="0" anchor="t"/>
          <a:lstStyle/>
          <a:p>
            <a:pPr marL="0" indent="0" algn="ctr">
              <a:lnSpc>
                <a:spcPts val="2300"/>
              </a:lnSpc>
              <a:buNone/>
            </a:pPr>
            <a:r>
              <a:rPr lang="fr-FR" sz="1600" dirty="0">
                <a:latin typeface="Bahnschrift SemiBold" panose="020B0502040204020203" pitchFamily="34" charset="0"/>
                <a:ea typeface="Roboto" pitchFamily="34" charset="-122"/>
                <a:cs typeface="Roboto" pitchFamily="34" charset="-120"/>
              </a:rPr>
              <a:t>Fichier créé : .env</a:t>
            </a:r>
            <a:endParaRPr lang="en-US" sz="1600" dirty="0">
              <a:latin typeface="Bahnschrift SemiBold" panose="020B0502040204020203" pitchFamily="34" charset="0"/>
            </a:endParaRPr>
          </a:p>
        </p:txBody>
      </p:sp>
    </p:spTree>
    <p:extLst>
      <p:ext uri="{BB962C8B-B14F-4D97-AF65-F5344CB8AC3E}">
        <p14:creationId xmlns:p14="http://schemas.microsoft.com/office/powerpoint/2010/main" val="1131357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CF45DB-4071-7D00-C8E4-1EBCA5EB067E}"/>
              </a:ext>
            </a:extLst>
          </p:cNvPr>
          <p:cNvSpPr txBox="1"/>
          <p:nvPr/>
        </p:nvSpPr>
        <p:spPr>
          <a:xfrm>
            <a:off x="543338" y="2497976"/>
            <a:ext cx="11105322" cy="1862048"/>
          </a:xfrm>
          <a:prstGeom prst="rect">
            <a:avLst/>
          </a:prstGeom>
          <a:noFill/>
        </p:spPr>
        <p:txBody>
          <a:bodyPr wrap="square" rtlCol="0">
            <a:spAutoFit/>
          </a:bodyPr>
          <a:lstStyle/>
          <a:p>
            <a:r>
              <a:rPr lang="en-US" sz="11500" b="1" dirty="0">
                <a:latin typeface="Edwardian Script ITC" panose="030303020407070D0804" pitchFamily="66" charset="0"/>
              </a:rPr>
              <a:t>Merci pour votre attention</a:t>
            </a:r>
          </a:p>
        </p:txBody>
      </p:sp>
      <p:pic>
        <p:nvPicPr>
          <p:cNvPr id="4" name="Picture 3" descr="A black background with a black square&#10;&#10;AI-generated content may be incorrect.">
            <a:extLst>
              <a:ext uri="{FF2B5EF4-FFF2-40B4-BE49-F238E27FC236}">
                <a16:creationId xmlns:a16="http://schemas.microsoft.com/office/drawing/2014/main" id="{C7366D4A-4191-EA6A-60C0-A02ECFBF537C}"/>
              </a:ext>
            </a:extLst>
          </p:cNvPr>
          <p:cNvPicPr>
            <a:picLocks noChangeAspect="1"/>
          </p:cNvPicPr>
          <p:nvPr/>
        </p:nvPicPr>
        <p:blipFill>
          <a:blip r:embed="rId2"/>
          <a:stretch>
            <a:fillRect/>
          </a:stretch>
        </p:blipFill>
        <p:spPr>
          <a:xfrm>
            <a:off x="5604709" y="4360024"/>
            <a:ext cx="982579" cy="982579"/>
          </a:xfrm>
          <a:prstGeom prst="rect">
            <a:avLst/>
          </a:prstGeom>
        </p:spPr>
      </p:pic>
    </p:spTree>
    <p:extLst>
      <p:ext uri="{BB962C8B-B14F-4D97-AF65-F5344CB8AC3E}">
        <p14:creationId xmlns:p14="http://schemas.microsoft.com/office/powerpoint/2010/main" val="37077518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50000"/>
          </a:schemeClr>
        </a:solidFill>
      </a:spPr>
      <a:bodyPr rtlCol="0" anchor="ctr"/>
      <a:lstStyle>
        <a:defPPr algn="ctr">
          <a:defRPr>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1002</TotalTime>
  <Words>1753</Words>
  <Application>Microsoft Office PowerPoint</Application>
  <PresentationFormat>Grand écran</PresentationFormat>
  <Paragraphs>428</Paragraphs>
  <Slides>25</Slides>
  <Notes>10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25</vt:i4>
      </vt:variant>
    </vt:vector>
  </HeadingPairs>
  <TitlesOfParts>
    <vt:vector size="35" baseType="lpstr">
      <vt:lpstr>Aptos</vt:lpstr>
      <vt:lpstr>Arial</vt:lpstr>
      <vt:lpstr>Arial Rounded MT Bold</vt:lpstr>
      <vt:lpstr>Bahnschrift SemiBold</vt:lpstr>
      <vt:lpstr>Calibri</vt:lpstr>
      <vt:lpstr>Calibri Light</vt:lpstr>
      <vt:lpstr>Cooper Black</vt:lpstr>
      <vt:lpstr>Edwardian Script ITC</vt:lpstr>
      <vt:lpstr>Rockwell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mounssef rouidi</dc:creator>
  <cp:lastModifiedBy>Ikram MOURABIT</cp:lastModifiedBy>
  <cp:revision>17</cp:revision>
  <dcterms:created xsi:type="dcterms:W3CDTF">2025-12-06T13:01:26Z</dcterms:created>
  <dcterms:modified xsi:type="dcterms:W3CDTF">2026-04-17T21:40:00Z</dcterms:modified>
</cp:coreProperties>
</file>